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f1a13c2cd24bb3" /><Relationship Type="http://schemas.openxmlformats.org/officeDocument/2006/relationships/extended-properties" Target="/docProps/app.xml" Id="R605145c21feb4b01" /><Relationship Type="http://schemas.openxmlformats.org/officeDocument/2006/relationships/officeDocument" Target="/ppt/presentation.xml" Id="Re7f9c397a9bf45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96cc1a48b649a1"/>
  </p:sldMasterIdLst>
  <p:notesMasterIdLst>
    <p:notesMasterId xmlns:r="http://schemas.openxmlformats.org/officeDocument/2006/relationships" r:id="Ra1b30ae6c6ea4fbe"/>
  </p:notesMasterIdLst>
  <p:sldIdLst>
    <p:sldId xmlns:r="http://schemas.openxmlformats.org/officeDocument/2006/relationships" id="256" r:id="Ra7ea6e5a145f4662"/>
    <p:sldId xmlns:r="http://schemas.openxmlformats.org/officeDocument/2006/relationships" id="257" r:id="Ra634e71d629c42d0"/>
    <p:sldId xmlns:r="http://schemas.openxmlformats.org/officeDocument/2006/relationships" id="258" r:id="R082c174c2e5c4135"/>
    <p:sldId xmlns:r="http://schemas.openxmlformats.org/officeDocument/2006/relationships" id="259" r:id="Rac1eb87236334644"/>
    <p:sldId xmlns:r="http://schemas.openxmlformats.org/officeDocument/2006/relationships" id="260" r:id="Rff30a64136684202"/>
    <p:sldId xmlns:r="http://schemas.openxmlformats.org/officeDocument/2006/relationships" id="261" r:id="R3bd58726bdfd4df6"/>
    <p:sldId xmlns:r="http://schemas.openxmlformats.org/officeDocument/2006/relationships" id="262" r:id="R644cfa5883d04d9f"/>
    <p:sldId xmlns:r="http://schemas.openxmlformats.org/officeDocument/2006/relationships" id="263" r:id="Rd820e2911c5f4e40"/>
    <p:sldId xmlns:r="http://schemas.openxmlformats.org/officeDocument/2006/relationships" id="264" r:id="Rbb6ce0f91ea64ceb"/>
    <p:sldId xmlns:r="http://schemas.openxmlformats.org/officeDocument/2006/relationships" id="265" r:id="R4d80a79615fe413b"/>
    <p:sldId xmlns:r="http://schemas.openxmlformats.org/officeDocument/2006/relationships" id="266" r:id="R2c0c5b639a874c51"/>
    <p:sldId xmlns:r="http://schemas.openxmlformats.org/officeDocument/2006/relationships" id="267" r:id="R9234ceb5be224eb7"/>
    <p:sldId xmlns:r="http://schemas.openxmlformats.org/officeDocument/2006/relationships" id="268" r:id="Rb16caa86bdf4469c"/>
    <p:sldId xmlns:r="http://schemas.openxmlformats.org/officeDocument/2006/relationships" id="269" r:id="R554dd9ffd3414350"/>
    <p:sldId xmlns:r="http://schemas.openxmlformats.org/officeDocument/2006/relationships" id="270" r:id="R942f5b20de8b4d05"/>
    <p:sldId xmlns:r="http://schemas.openxmlformats.org/officeDocument/2006/relationships" id="271" r:id="R51e0d7d7dcff4df6"/>
    <p:sldId xmlns:r="http://schemas.openxmlformats.org/officeDocument/2006/relationships" id="272" r:id="Ra744f5d8d211406f"/>
    <p:sldId xmlns:r="http://schemas.openxmlformats.org/officeDocument/2006/relationships" id="273" r:id="R2037993efb5c47ec"/>
    <p:sldId xmlns:r="http://schemas.openxmlformats.org/officeDocument/2006/relationships" id="274" r:id="R27f84fcaa3f44e09"/>
    <p:sldId xmlns:r="http://schemas.openxmlformats.org/officeDocument/2006/relationships" id="275" r:id="R8d55f9b0a5bb403a"/>
    <p:sldId xmlns:r="http://schemas.openxmlformats.org/officeDocument/2006/relationships" id="276" r:id="Rc40eb5b4ccaf40ca"/>
    <p:sldId xmlns:r="http://schemas.openxmlformats.org/officeDocument/2006/relationships" id="277" r:id="R33781bbfc7df46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da5652fc9e4467" /><Relationship Type="http://schemas.openxmlformats.org/officeDocument/2006/relationships/slideMaster" Target="/ppt/slideMasters/slideMaster1.xml" Id="R4496cc1a48b649a1" /><Relationship Type="http://schemas.openxmlformats.org/officeDocument/2006/relationships/notesMaster" Target="/ppt/notesMasters/notesMaster1.xml" Id="Ra1b30ae6c6ea4fbe" /><Relationship Type="http://schemas.openxmlformats.org/officeDocument/2006/relationships/presProps" Target="/ppt/presProps.xml" Id="R44d818f5f8504cd4" /><Relationship Type="http://schemas.openxmlformats.org/officeDocument/2006/relationships/tableStyles" Target="/ppt/tableStyles.xml" Id="R4108eb1561804fd9" /><Relationship Type="http://schemas.openxmlformats.org/officeDocument/2006/relationships/slide" Target="/ppt/slides/slide1.xml" Id="Ra7ea6e5a145f4662" /><Relationship Type="http://schemas.openxmlformats.org/officeDocument/2006/relationships/slide" Target="/ppt/slides/slide2.xml" Id="Ra634e71d629c42d0" /><Relationship Type="http://schemas.openxmlformats.org/officeDocument/2006/relationships/slide" Target="/ppt/slides/slide3.xml" Id="R082c174c2e5c4135" /><Relationship Type="http://schemas.openxmlformats.org/officeDocument/2006/relationships/slide" Target="/ppt/slides/slide4.xml" Id="Rac1eb87236334644" /><Relationship Type="http://schemas.openxmlformats.org/officeDocument/2006/relationships/slide" Target="/ppt/slides/slide5.xml" Id="Rff30a64136684202" /><Relationship Type="http://schemas.openxmlformats.org/officeDocument/2006/relationships/slide" Target="/ppt/slides/slide6.xml" Id="R3bd58726bdfd4df6" /><Relationship Type="http://schemas.openxmlformats.org/officeDocument/2006/relationships/slide" Target="/ppt/slides/slide7.xml" Id="R644cfa5883d04d9f" /><Relationship Type="http://schemas.openxmlformats.org/officeDocument/2006/relationships/slide" Target="/ppt/slides/slide8.xml" Id="Rd820e2911c5f4e40" /><Relationship Type="http://schemas.openxmlformats.org/officeDocument/2006/relationships/slide" Target="/ppt/slides/slide9.xml" Id="Rbb6ce0f91ea64ceb" /><Relationship Type="http://schemas.openxmlformats.org/officeDocument/2006/relationships/slide" Target="/ppt/slides/slide10.xml" Id="R4d80a79615fe413b" /><Relationship Type="http://schemas.openxmlformats.org/officeDocument/2006/relationships/slide" Target="/ppt/slides/slide11.xml" Id="R2c0c5b639a874c51" /><Relationship Type="http://schemas.openxmlformats.org/officeDocument/2006/relationships/slide" Target="/ppt/slides/slide12.xml" Id="R9234ceb5be224eb7" /><Relationship Type="http://schemas.openxmlformats.org/officeDocument/2006/relationships/slide" Target="/ppt/slides/slide13.xml" Id="Rb16caa86bdf4469c" /><Relationship Type="http://schemas.openxmlformats.org/officeDocument/2006/relationships/slide" Target="/ppt/slides/slide14.xml" Id="R554dd9ffd3414350" /><Relationship Type="http://schemas.openxmlformats.org/officeDocument/2006/relationships/slide" Target="/ppt/slides/slide15.xml" Id="R942f5b20de8b4d05" /><Relationship Type="http://schemas.openxmlformats.org/officeDocument/2006/relationships/slide" Target="/ppt/slides/slide16.xml" Id="R51e0d7d7dcff4df6" /><Relationship Type="http://schemas.openxmlformats.org/officeDocument/2006/relationships/slide" Target="/ppt/slides/slide17.xml" Id="Ra744f5d8d211406f" /><Relationship Type="http://schemas.openxmlformats.org/officeDocument/2006/relationships/slide" Target="/ppt/slides/slide18.xml" Id="R2037993efb5c47ec" /><Relationship Type="http://schemas.openxmlformats.org/officeDocument/2006/relationships/slide" Target="/ppt/slides/slide19.xml" Id="R27f84fcaa3f44e09" /><Relationship Type="http://schemas.openxmlformats.org/officeDocument/2006/relationships/slide" Target="/ppt/slides/slide20.xml" Id="R8d55f9b0a5bb403a" /><Relationship Type="http://schemas.openxmlformats.org/officeDocument/2006/relationships/slide" Target="/ppt/slides/slide21.xml" Id="Rc40eb5b4ccaf40ca" /><Relationship Type="http://schemas.openxmlformats.org/officeDocument/2006/relationships/slide" Target="/ppt/slides/slide22.xml" Id="R33781bbfc7df46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48ff4d945f4c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fd7afac5014a5d" /><Relationship Type="http://schemas.openxmlformats.org/officeDocument/2006/relationships/notesMaster" Target="/ppt/notesMasters/notesMaster1.xml" Id="Ra0baae9ab2b140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1dbcd9362d4f2e" /><Relationship Type="http://schemas.openxmlformats.org/officeDocument/2006/relationships/notesMaster" Target="/ppt/notesMasters/notesMaster1.xml" Id="R8b4d636061cd49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97431c59e94e06" /><Relationship Type="http://schemas.openxmlformats.org/officeDocument/2006/relationships/notesMaster" Target="/ppt/notesMasters/notesMaster1.xml" Id="R4754bbb684304f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57558716a84cab" /><Relationship Type="http://schemas.openxmlformats.org/officeDocument/2006/relationships/notesMaster" Target="/ppt/notesMasters/notesMaster1.xml" Id="R0639c37a2fac4d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df30934afb489f" /><Relationship Type="http://schemas.openxmlformats.org/officeDocument/2006/relationships/notesMaster" Target="/ppt/notesMasters/notesMaster1.xml" Id="R8e693acb8ee24f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f89c4f73934f2c" /><Relationship Type="http://schemas.openxmlformats.org/officeDocument/2006/relationships/notesMaster" Target="/ppt/notesMasters/notesMaster1.xml" Id="R48804b68f1d943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cc88cbf65f4c63" /><Relationship Type="http://schemas.openxmlformats.org/officeDocument/2006/relationships/notesMaster" Target="/ppt/notesMasters/notesMaster1.xml" Id="R3829f691dc8441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1ed2ec89d8436d" /><Relationship Type="http://schemas.openxmlformats.org/officeDocument/2006/relationships/notesMaster" Target="/ppt/notesMasters/notesMaster1.xml" Id="Re4dd34fc7a1746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4339951c03475a" /><Relationship Type="http://schemas.openxmlformats.org/officeDocument/2006/relationships/notesMaster" Target="/ppt/notesMasters/notesMaster1.xml" Id="Rf68a60396a2e40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dee51e576774ea6" /><Relationship Type="http://schemas.openxmlformats.org/officeDocument/2006/relationships/notesMaster" Target="/ppt/notesMasters/notesMaster1.xml" Id="R0e3c3687a3c24c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46f61c0f7c4f0e" /><Relationship Type="http://schemas.openxmlformats.org/officeDocument/2006/relationships/notesMaster" Target="/ppt/notesMasters/notesMaster1.xml" Id="R69e23d3846f147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a0ed7b69424ac1" /><Relationship Type="http://schemas.openxmlformats.org/officeDocument/2006/relationships/notesMaster" Target="/ppt/notesMasters/notesMaster1.xml" Id="Rb819046a0b5b42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02982710a045c7" /><Relationship Type="http://schemas.openxmlformats.org/officeDocument/2006/relationships/notesMaster" Target="/ppt/notesMasters/notesMaster1.xml" Id="R33862e0da82042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b9186205d74e3b" /><Relationship Type="http://schemas.openxmlformats.org/officeDocument/2006/relationships/notesMaster" Target="/ppt/notesMasters/notesMaster1.xml" Id="Rdcea33e859204a5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dee3ca6e6e41ab" /><Relationship Type="http://schemas.openxmlformats.org/officeDocument/2006/relationships/notesMaster" Target="/ppt/notesMasters/notesMaster1.xml" Id="Redd2e21ee24344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379b9c4d284e79" /><Relationship Type="http://schemas.openxmlformats.org/officeDocument/2006/relationships/notesMaster" Target="/ppt/notesMasters/notesMaster1.xml" Id="Rb5a9a895cb8e45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b58ab85679147eb" /><Relationship Type="http://schemas.openxmlformats.org/officeDocument/2006/relationships/notesMaster" Target="/ppt/notesMasters/notesMaster1.xml" Id="Rcadd35476e2f4e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8e1ad78fce480d" /><Relationship Type="http://schemas.openxmlformats.org/officeDocument/2006/relationships/notesMaster" Target="/ppt/notesMasters/notesMaster1.xml" Id="R569b6343330f47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036f3177e8249f0" /><Relationship Type="http://schemas.openxmlformats.org/officeDocument/2006/relationships/notesMaster" Target="/ppt/notesMasters/notesMaster1.xml" Id="R916a212303864ee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08844142d74643" /><Relationship Type="http://schemas.openxmlformats.org/officeDocument/2006/relationships/notesMaster" Target="/ppt/notesMasters/notesMaster1.xml" Id="R1eeea61315304a8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5243f2d44704616" /><Relationship Type="http://schemas.openxmlformats.org/officeDocument/2006/relationships/notesMaster" Target="/ppt/notesMasters/notesMaster1.xml" Id="R546c43b0ab6847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9d5b23dc28d47b8" /><Relationship Type="http://schemas.openxmlformats.org/officeDocument/2006/relationships/notesMaster" Target="/ppt/notesMasters/notesMaster1.xml" Id="Read8bb773b7c44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角色模式目前限制为单本书、MiMo/MiniMax。截图展示真实界面的空项目配置，不代表已生成的成品或实验结果。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代码：web_ui.auto_split_role_script，v2_generation.generate_v2_for_book，core/audiobook_generator.py。全书索引分析未选章节需要界面知情勾选。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本页是自编教学示例，未调用真实语音 API。段间默认停顿 250ms，可由每段覆盖，最后一段不加尾部静音。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_reconcile_segments 用 NFKC 与源字符索引映射匹配原文；失败后有限重试、宽松对齐、旁白兜底。覆盖校验是规范化一致性，不能证明说话人或语气正确。V2 exact_segments 重新切源文本并保存 source_span。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代码：v2_generation.py、review.py、project_store.py。稳定实体 ID、原文区间与证据；人工合并实体、锁音色。existing_entity_id 仅作为候选，不能据此自动合并。项目按书籍指纹保存，不等同于系列跨卷实体链接已经完成。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选角目前按语言、性别等启发式分配与去重轮转，不是感知距离优化。pace_calibration.py 同文测时长，speed = 角色原始时长 / (旁白原始时长 / 旁白倍率)，限 0.25..4。MiMo 使用后处理 atempo；MiniMax 由服务端变速。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代码：role_script/audio_pipeline.py。ffprobe 探测实际容器、采样率、声道和时长；解码 PCM 后以首段参数为基准，MiMo atempo 后处理，按段插静音，最终仅编码一次、写标签。当前段缓存位于章节临时目录，非跨运行持久缓存。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依据 docs/role_quality.md 与 audio_quality.py。质量检测默认关闭。CER/WER 由可选本地 ASR 得到，只是可辨识度代理。MiMo failed 段最多再生成一次；too_fast 会降倍率；DeepSeek 只选受限提示补丁。MiniMax 仅检测。4.3 为可调工程起始阈值，非听感标准。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这些是当前系统的可辩护设计贡献。是否具有论文级新颖性、是否优于已有方法，仍需相关工作比较与实验，不宣称首创或已证实性能提升。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当前代码存在实现与测试，不代表已有学术数据集结果。路线图中“没有全局实体层”和“评测完全缺失”的描述已部分过时；当前有 V2 实体持久化与音频 QA，但仍缺大规模说话人归属与人耳评测。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图片为仓库 examples/audiobookshelf.png，展示下游媒体库应用，不代表一键入库已接线。教育伴读字幕、角色分轨与播客混音均为扩展设想。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llama: https://aclanthology.org/2025.naacl-short.62/</a:t>
            </a:r>
          </a:p>
          <a:p xmlns:a="http://schemas.openxmlformats.org/drawingml/2006/main">
            <a:r>
              <a:t>qwen: https://arxiv.org/abs/2601.15621</a:t>
            </a:r>
          </a:p>
          <a:p xmlns:a="http://schemas.openxmlformats.org/drawingml/2006/main">
            <a:r>
              <a:t>dialo: https://arxiv.org/abs/2510.08373</a:t>
            </a:r>
          </a:p>
          <a:p xmlns:a="http://schemas.openxmlformats.org/drawingml/2006/main">
            <a:r>
              <a:t>laci: https://arxiv.org/abs/2609.16989</a:t>
            </a:r>
          </a:p>
          <a:p xmlns:a="http://schemas.openxmlformats.org/drawingml/2006/main">
            <a:r>
              <a:t>检索截止 2026-10-12。NAACL 2025 为会议论文；其余以所引用 arXiv 预印本/技术报告版本介绍。不是论文全领域穷尽综述。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https://aclanthology.org/2025.naacl-short.62/</a:t>
            </a:r>
          </a:p>
          <a:p xmlns:a="http://schemas.openxmlformats.org/drawingml/2006/main">
            <a:r>
              <a:t>Michel et al., NAACL 2025，Table 1。两组分别为 PDNC1 和 PDNC2 的按小说平均归属准确率；Llama-3 8B 为 90.6 / 88.5，BookNLP+ 为 78.5 / 79.2。比较的是原论文设置，非中文、非本项目性能。论文另以记忆和污染检查审视结果。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https://arxiv.org/abs/2601.15621</a:t>
            </a:r>
          </a:p>
          <a:p xmlns:a="http://schemas.openxmlformats.org/drawingml/2006/main">
            <a:r>
              <a:t>Qwen3-TTS Technical Report，2026-01-22；图为 Fig.1 原图。报告支持 3 秒参考音频克隆、描述创建或控制音色、10 种语言。具体能力与模型变体有关，不代表任何变体都支持全部功能。项目现有 Qwen Provider 不等同于已接入 Qwen3-TTS 角色模式。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https://arxiv.org/abs/2510.08373</a:t>
            </a:r>
          </a:p>
          <a:p xmlns:a="http://schemas.openxmlformats.org/drawingml/2006/main">
            <a:r>
              <a:t>DialoSpeech，2025-10-09 arXiv 预印本，Fig.2。双轨架构结合 LLM 与 Chunked Flow Matching，支持中英、多轮对话与自然重叠。双说话人研究不等同于任意多角色长篇小说。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https://arxiv.org/abs/2609.16989</a:t>
            </a:r>
          </a:p>
          <a:p xmlns:a="http://schemas.openxmlformats.org/drawingml/2006/main">
            <a:r>
              <a:t>Wang et al., Taming Long-form Text-to-Speech，2026-09-15 arXiv v1。图 Fig.1。Table 2 对 Qwen3-TTS-0.6B 在 AppTek 数据 &gt;=1500 words、10 个随机种子、worst-of-N WER：35.2% 降为 3.4%。并非平均 WER、并非有声书或本项目实验。LACI 读取模型注意力，商业黑盒 API 不能直接复用。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研究定位为建议：在现成 NLP/TTS 能力之上，研究有原文约束、有证据、可审阅、可评测的中文长篇多角色编排。不能仅凭系统实现宣称超越前沿模型。相关来源：https://aclanthology.org/2025.naacl-short.62/</a:t>
            </a:r>
          </a:p>
          <a:p xmlns:a="http://schemas.openxmlformats.org/drawingml/2006/main">
            <a:r>
              <a:t>https://arxiv.org/abs/2601.15621</a:t>
            </a:r>
          </a:p>
          <a:p xmlns:a="http://schemas.openxmlformats.org/drawingml/2006/main">
            <a:r>
              <a:t>https://arxiv.org/abs/2510.08373</a:t>
            </a:r>
          </a:p>
          <a:p xmlns:a="http://schemas.openxmlformats.org/drawingml/2006/main">
            <a:r>
              <a:t>https://arxiv.org/abs/2609.16989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本页是实验设计，所有指标为待测，不是结果。评测先按书划分训练/测试或开发/测试，避免同书片段泄漏，报告置信区间。语速校准、QA feedback、实体层分别做消融。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为建议阶段顺序，不是承诺工期。持久缓存、M4B、字幕、角色分轨等沿用用户路线图规划，不表述为已经完成。角色参考音频使用需获得授权。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项目依据：audiobook_generator/role_script/ 与 ui/web_ui.py；截至 2026-10-12 的当前代码。路线图文档用于研究与落地建议，旧版状态以代码为准。</a:t>
            </a:r>
          </a:p>
          <a:p xmlns:a="http://schemas.openxmlformats.org/drawingml/2006/main">
            <a:r>
              <a:t>论文链接与各页备注均保留。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b3a4e0a694b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049720c9a24d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1faa2636447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f48cfe2ce0494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2e6a6cc70442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f7789333044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C7CAF8-46E8-4B95-A0FD-05BFC85A02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724C66F-10D2-43C7-8D76-AC4E995004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C4159F-2FA8-402F-A2CB-AFA490228F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EDC2B2-C595-413F-BF65-5B7E073ED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0B8F73A-8284-41FD-95F2-451909EAFE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4B6AD9-79D0-4F45-9A82-FF1B2D66D7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988E0C-9FE0-47BE-80BB-168E038305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6827479-E9FC-4495-93D5-4372640B99D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BFD109-AFA3-482F-B4E6-8AED7E6115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759D78-C3E5-4C52-97C7-EE07E10E94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25d91e16b64744" /><Relationship Type="http://schemas.openxmlformats.org/officeDocument/2006/relationships/slideLayout" Target="/ppt/slideLayouts/slideLayout1.xml" Id="R1b669008df5f4b89" /><Relationship Type="http://schemas.openxmlformats.org/officeDocument/2006/relationships/slideLayout" Target="/ppt/slideLayouts/slideLayout2.xml" Id="R0cc2c8c7fe7e4860" /><Relationship Type="http://schemas.openxmlformats.org/officeDocument/2006/relationships/slideLayout" Target="/ppt/slideLayouts/slideLayout3.xml" Id="R83c5c9ba0e9b4c7d" /><Relationship Type="http://schemas.openxmlformats.org/officeDocument/2006/relationships/slideLayout" Target="/ppt/slideLayouts/slideLayout4.xml" Id="Re26a2d673351437f" /><Relationship Type="http://schemas.openxmlformats.org/officeDocument/2006/relationships/slideLayout" Target="/ppt/slideLayouts/slideLayout5.xml" Id="Ra57c28927b9841ea" /><Relationship Type="http://schemas.openxmlformats.org/officeDocument/2006/relationships/slideLayout" Target="/ppt/slideLayouts/slideLayout6.xml" Id="R0a98ea93c03747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669008df5f4b89"/>
    <p:sldLayoutId xmlns:r="http://schemas.openxmlformats.org/officeDocument/2006/relationships" id="2147483650" r:id="R0cc2c8c7fe7e4860"/>
    <p:sldLayoutId xmlns:r="http://schemas.openxmlformats.org/officeDocument/2006/relationships" id="2147483651" r:id="R83c5c9ba0e9b4c7d"/>
    <p:sldLayoutId xmlns:r="http://schemas.openxmlformats.org/officeDocument/2006/relationships" id="2147483652" r:id="Re26a2d673351437f"/>
    <p:sldLayoutId xmlns:r="http://schemas.openxmlformats.org/officeDocument/2006/relationships" id="2147483653" r:id="Ra57c28927b9841ea"/>
    <p:sldLayoutId xmlns:r="http://schemas.openxmlformats.org/officeDocument/2006/relationships" id="2147483654" r:id="R0a98ea93c03747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4e552a2ecc44a8" /><Relationship Type="http://schemas.openxmlformats.org/officeDocument/2006/relationships/image" Target="/ppt/media/image.jpeg" Id="Rb990088d133f4abb" /><Relationship Type="http://schemas.openxmlformats.org/officeDocument/2006/relationships/notesSlide" Target="/ppt/notesSlides/notesSlide1.xml" Id="R6804c60442b049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ddf133bdc4f3c" /><Relationship Type="http://schemas.openxmlformats.org/officeDocument/2006/relationships/image" Target="/ppt/media/image.png" Id="Rbb352cc43aa14ea4" /><Relationship Type="http://schemas.openxmlformats.org/officeDocument/2006/relationships/notesSlide" Target="/ppt/notesSlides/notesSlide2.xml" Id="R7caeb14b48984e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7281d0a4a744c6" /><Relationship Type="http://schemas.openxmlformats.org/officeDocument/2006/relationships/image" Target="/ppt/media/image2.png" Id="Rd7f8c0b5fc6f4be8" /><Relationship Type="http://schemas.openxmlformats.org/officeDocument/2006/relationships/notesSlide" Target="/ppt/notesSlides/notesSlide3.xml" Id="R7a69fd19e12f4a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03ec42c88045d6" /><Relationship Type="http://schemas.openxmlformats.org/officeDocument/2006/relationships/notesSlide" Target="/ppt/notesSlides/notesSlide4.xml" Id="R884bb3daa7d748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e74261783470f" /><Relationship Type="http://schemas.openxmlformats.org/officeDocument/2006/relationships/notesSlide" Target="/ppt/notesSlides/notesSlide5.xml" Id="Rba327e13a35544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087ffec0664aff" /><Relationship Type="http://schemas.openxmlformats.org/officeDocument/2006/relationships/image" Target="/ppt/media/image3.png" Id="R7229395d184744b8" /><Relationship Type="http://schemas.openxmlformats.org/officeDocument/2006/relationships/notesSlide" Target="/ppt/notesSlides/notesSlide6.xml" Id="R9fee13b8cad843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64323ed60b4442" /><Relationship Type="http://schemas.openxmlformats.org/officeDocument/2006/relationships/image" Target="/ppt/media/image4.png" Id="R35d0d4b18ced452f" /><Relationship Type="http://schemas.openxmlformats.org/officeDocument/2006/relationships/notesSlide" Target="/ppt/notesSlides/notesSlide7.xml" Id="Rbc0242996b794b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9afaf97d3c4a38" /><Relationship Type="http://schemas.openxmlformats.org/officeDocument/2006/relationships/notesSlide" Target="/ppt/notesSlides/notesSlide8.xml" Id="Rca42627ccf124b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feb3a4478948c3" /><Relationship Type="http://schemas.openxmlformats.org/officeDocument/2006/relationships/image" Target="/ppt/media/image5.png" Id="R4aeb57a2b76741a4" /><Relationship Type="http://schemas.openxmlformats.org/officeDocument/2006/relationships/notesSlide" Target="/ppt/notesSlides/notesSlide9.xml" Id="Rdbfec854612b4c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a804d8da8e4127" /><Relationship Type="http://schemas.openxmlformats.org/officeDocument/2006/relationships/notesSlide" Target="/ppt/notesSlides/notesSlide10.xml" Id="Rea8e1ffbdc2a4c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2fdc969de04a1b" /><Relationship Type="http://schemas.openxmlformats.org/officeDocument/2006/relationships/notesSlide" Target="/ppt/notesSlides/notesSlide11.xml" Id="Rffb9798873e248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530fb1ec3243b4" /><Relationship Type="http://schemas.openxmlformats.org/officeDocument/2006/relationships/image" Target="/ppt/media/image6.png" Id="R79f109067f6e4e3e" /><Relationship Type="http://schemas.openxmlformats.org/officeDocument/2006/relationships/notesSlide" Target="/ppt/notesSlides/notesSlide12.xml" Id="R53895bfcea404f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79a9e3d7b24c93" /><Relationship Type="http://schemas.openxmlformats.org/officeDocument/2006/relationships/notesSlide" Target="/ppt/notesSlides/notesSlide13.xml" Id="R5bc2125d02ff4db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8db31144904c95" /><Relationship Type="http://schemas.openxmlformats.org/officeDocument/2006/relationships/chart" Target="/ppt/slides/charts/chart1.xml" Id="Rd449bb51d48b4454" /><Relationship Type="http://schemas.openxmlformats.org/officeDocument/2006/relationships/notesSlide" Target="/ppt/notesSlides/notesSlide14.xml" Id="Rcbaa0c32fd1d4c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19ad25ad7c44b6" /><Relationship Type="http://schemas.openxmlformats.org/officeDocument/2006/relationships/image" Target="/ppt/media/image7.png" Id="R6ffa58e06e1d43e5" /><Relationship Type="http://schemas.openxmlformats.org/officeDocument/2006/relationships/notesSlide" Target="/ppt/notesSlides/notesSlide15.xml" Id="Rae4fee21c7c84d5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43f99374343ae" /><Relationship Type="http://schemas.openxmlformats.org/officeDocument/2006/relationships/image" Target="/ppt/media/image8.png" Id="Rb2cfbe54c9e04206" /><Relationship Type="http://schemas.openxmlformats.org/officeDocument/2006/relationships/notesSlide" Target="/ppt/notesSlides/notesSlide16.xml" Id="R1876374cdbd641a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c7c7cc85a8400e" /><Relationship Type="http://schemas.openxmlformats.org/officeDocument/2006/relationships/image" Target="/ppt/media/image9.png" Id="R0d32d810763a4e14" /><Relationship Type="http://schemas.openxmlformats.org/officeDocument/2006/relationships/notesSlide" Target="/ppt/notesSlides/notesSlide17.xml" Id="Re36137f63c0d4e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ce15d0e05d4ee0" /><Relationship Type="http://schemas.openxmlformats.org/officeDocument/2006/relationships/notesSlide" Target="/ppt/notesSlides/notesSlide18.xml" Id="Rb6e6bea897bf460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e787fa046469e" /><Relationship Type="http://schemas.openxmlformats.org/officeDocument/2006/relationships/notesSlide" Target="/ppt/notesSlides/notesSlide19.xml" Id="Rd92ffaf39d064e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914c8933294b84" /><Relationship Type="http://schemas.openxmlformats.org/officeDocument/2006/relationships/notesSlide" Target="/ppt/notesSlides/notesSlide20.xml" Id="R605c02a907ab49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49da0d0f964bdd" /><Relationship Type="http://schemas.openxmlformats.org/officeDocument/2006/relationships/notesSlide" Target="/ppt/notesSlides/notesSlide21.xml" Id="R5b65a91788e14a7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fe36fe74140a1" /><Relationship Type="http://schemas.openxmlformats.org/officeDocument/2006/relationships/notesSlide" Target="/ppt/notesSlides/notesSlide22.xml" Id="R8cf0b24b1286458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BookNLP+</c:v>
          </c:tx>
          <c:spPr>
            <a:solidFill xmlns:a="http://schemas.openxmlformats.org/drawingml/2006/main">
              <a:srgbClr val="A5B6D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PDNC1</c:v>
                </c:pt>
                <c:pt idx="1">
                  <c:v>PDNC2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78.5</c:v>
                </c:pt>
                <c:pt idx="1">
                  <c:v>79.2</c:v>
                </c:pt>
              </c:numCache>
            </c:numRef>
          </c:val>
        </c:ser>
        <c:ser>
          <c:idx val="1"/>
          <c:order val="1"/>
          <c:tx>
            <c:v>Llama-3 8B</c:v>
          </c:tx>
          <c:spPr>
            <a:solidFill xmlns:a="http://schemas.openxmlformats.org/drawingml/2006/main">
              <a:srgbClr val="235CDD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PDNC1</c:v>
                </c:pt>
                <c:pt idx="1">
                  <c:v>PDNC2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90.6</c:v>
                </c:pt>
                <c:pt idx="1">
                  <c:v>88.5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PingFang SC"/>
              <a:ea typeface="PingFang SC"/>
              <a:cs typeface="PingFang SC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46CD7-B74B-4E47-B84A-08DF1C1A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49CE9-EF28-4F75-8EE0-3CD13C44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多角色有声书生成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2485A-5B8E-4E82-A635-A24E2AF9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A3244-3A20-45F7-9E3C-46177045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504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实现逻辑、创新点与研究方向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6207B-278C-4BDB-AE7E-FB44248D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667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让旁白和人物拥有各自的声音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D8008C-C307-4228-BD70-727D2B08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EPUB / DOC / DOCX</a:t>
            </a:r>
          </a:p>
          <a:p xmlns:a="http://schemas.openxmlformats.org/drawingml/2006/main">
            <a:pPr>
              <a:def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DeepSeek + MiMo / MiniMax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74B76-7773-4C5A-A6A6-9242ADA3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2026 年 10 月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2AE0DA-C82D-4619-A8E5-58C4663528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0088d133f4abb"/>
          <a:stretch xmlns:a="http://schemas.openxmlformats.org/drawingml/2006/main"/>
        </p:blipFill>
        <p:spPr>
          <a:xfrm xmlns:a="http://schemas.openxmlformats.org/drawingml/2006/main">
            <a:off x="5772150" y="2003412"/>
            <a:ext cx="5810250" cy="32702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181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4CB303-B47D-473D-9391-5DB2C738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77AA0-A42D-4B2A-B8D5-78E01246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我们已经做出了什么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A85034-B68E-4A31-ADB2-B8087EEE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0106D-4634-43E5-A750-F9B27A82D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52cc43aa14ea4"/>
          <a:stretch xmlns:a="http://schemas.openxmlformats.org/drawingml/2006/main"/>
        </p:blipFill>
        <p:spPr>
          <a:xfrm xmlns:a="http://schemas.openxmlformats.org/drawingml/2006/main">
            <a:off x="609600" y="1762588"/>
            <a:ext cx="5810250" cy="4399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D8859-4562-4193-9D7E-A295994D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859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自动准备角色剧本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211F2A-69DE-4CCF-9E86-CA0D0108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860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识别旁白与人物对白，形成可编辑分段。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4B032-CDF6-4B30-884D-2F485626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385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人工核对，再开始生成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F997A-3D26-42E5-B907-CADFD4C2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检查人物、音色和语速，确认后合成。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64BDA7-A470-46DB-8D99-A16DAAB3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910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每章输出一个完整音频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9291A-93E1-486B-8C35-E0B3BF4F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911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按原文顺序拼接，支持 mp3 / wav / flac。</a:t>
            </a:r>
          </a:p>
        </p:txBody>
      </p:sp>
    </p:spTree>
    <p:extLst>
      <p:ext uri="{BB962C8B-B14F-4D97-AF65-F5344CB8AC3E}">
        <p14:creationId xmlns:p14="http://schemas.microsoft.com/office/powerpoint/2010/main" val="2032447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C3A5B-1D36-4419-B045-D55B8F4B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1465D-5026-4AE0-86A1-82D33B8A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多角色生成的完整流程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CCD75-C1F5-4769-8B28-4CCC44D2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F66B9-64E5-494D-8673-CD3F69E12A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8c0b5fc6f4be8"/>
          <a:stretch xmlns:a="http://schemas.openxmlformats.org/drawingml/2006/main"/>
        </p:blipFill>
        <p:spPr>
          <a:xfrm xmlns:a="http://schemas.openxmlformats.org/drawingml/2006/main">
            <a:off x="6381750" y="1793363"/>
            <a:ext cx="5200650" cy="39380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C8B34-4EE4-4EA8-886C-901424A0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读书稿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22109-8861-4155-8D83-AEF2F86B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解析章节，绑定书籍指纹。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113F1-7663-4ECE-B6FA-492F83ED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建人物表、拆剧本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A8F7A-3434-454B-87D9-D6844077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DeepSeek 提议角色、语气与对白边界。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91A34-F254-417B-A232-FC3A01CA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03  对齐原文、人工确认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C2293-DD08-42C3-9E46-1BE95D3A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保留来源证据，调整人物与声音。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9B274-35AC-4385-830E-841579CE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分段合成、质检、合章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A319F-5CCF-4869-B91A-C76549FF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531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MiMo / MiniMax 逐段生成，拼成整章。</a:t>
            </a:r>
          </a:p>
        </p:txBody>
      </p:sp>
    </p:spTree>
    <p:extLst>
      <p:ext uri="{BB962C8B-B14F-4D97-AF65-F5344CB8AC3E}">
        <p14:creationId xmlns:p14="http://schemas.microsoft.com/office/powerpoint/2010/main" val="14065876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ECD05-009D-4736-98E1-19EB89849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7C653-60BD-4F0C-97E9-121A5922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一句对白如何变成多角色音频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CEC818-50C7-4E6E-991C-EF73155D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676BB-7C94-42F3-BEB0-278820AE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原文示例：小林推开门：“你来了？”小周答道：“我来了。”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55E74-6603-49C1-B873-9453F3B7B63B}"/>
              </a:ext>
            </a:extLst>
          </p:cNvPr>
          <p:cNvGraphicFramePr/>
          <p:nvPr/>
        </p:nvGraphicFramePr>
        <p:xfrm>
          <a:off xmlns:a="http://schemas.openxmlformats.org/drawingml/2006/main" x="609600" y="2743200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5350"/>
                <a:gridCol w="4095750"/>
                <a:gridCol w="1905000"/>
                <a:gridCol w="4076700"/>
              </a:tblGrid>
              <a:tr h="5562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顺序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朗读内容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谁来读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声音安排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小林推开门：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旁白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沉稳旁白音色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“你来了？”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小林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 A 音色，疑问语气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小周答道：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旁白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沿用旁白音色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“我来了。”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小周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角色 B 音色，平静语气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7B085-078A-4D48-9D49-DC011778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关键：人物与旁白可以切换，正文内容和先后顺序必须保持一致</a:t>
            </a:r>
          </a:p>
        </p:txBody>
      </p:sp>
    </p:spTree>
    <p:extLst>
      <p:ext uri="{BB962C8B-B14F-4D97-AF65-F5344CB8AC3E}">
        <p14:creationId xmlns:p14="http://schemas.microsoft.com/office/powerpoint/2010/main" val="18780739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60106-C111-4760-9C61-D1E0612D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9A616-ED31-430F-BB3A-72D501B5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模型负责理解，程序负责守住原文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4839D-89F2-42AD-BC36-7C0EC302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574A6-79D8-4EB9-90A4-79357BF1D78F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905250"/>
                <a:gridCol w="497205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环节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做什么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解决什么问题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DeepSeek 提议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提出角色、分段和语气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利用上下文判断谁在说话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本地对齐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将段落边界映射回原文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避免模型改字、漏句和调换顺序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覆盖校验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拼接分段与源章节比较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保证通过校验的文本完整对应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失败降级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重试、抢救，必要时用旁白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保持正文完整，暴露识别不确定性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71B4C-524F-4584-9800-7B9B262C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文本覆盖正确 ≠ 说话人一定正确，角色判断仍需要复核</a:t>
            </a:r>
          </a:p>
        </p:txBody>
      </p:sp>
    </p:spTree>
    <p:extLst>
      <p:ext uri="{BB962C8B-B14F-4D97-AF65-F5344CB8AC3E}">
        <p14:creationId xmlns:p14="http://schemas.microsoft.com/office/powerpoint/2010/main" val="6894300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E32E1-14CB-4740-87AB-39F3A6AE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ADDB0-59CD-4808-AB93-5C692BA2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同一人物在不同章节保持同一身份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8BE6D-5DC5-48CA-BBC3-CA56AAF4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B5262-D0FD-4FF9-A8F4-45DEBC04B6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9395d184744b8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AEF50-5372-4287-978C-2B10B313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09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建立全书人物索引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F5D45-F596-4257-956C-6435E6B4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9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用稳定人物 ID 关联各章角色。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EBF52-4281-44ED-A338-16423B21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别名先候选，再确认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9B03D-C88D-43FD-8232-31F932DA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同名与别名冲突交给人工判断。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A608B-FE1E-4B6B-AA7B-DF31CC5C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留下原文证据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A24DA-1C91-47E6-B134-DAE7AC3F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段落位置、归属状态、人物声音可追溯。</a:t>
            </a:r>
          </a:p>
        </p:txBody>
      </p:sp>
    </p:spTree>
    <p:extLst>
      <p:ext uri="{BB962C8B-B14F-4D97-AF65-F5344CB8AC3E}">
        <p14:creationId xmlns:p14="http://schemas.microsoft.com/office/powerpoint/2010/main" val="14632655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FB0D4-3939-4ECF-BAE4-1AF62B30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E6988-5BB6-41EC-ADF1-748CF51B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角色选声与语速校准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86E14-B9D5-43C9-BEBE-6D6CCCCC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B6A32-7C14-4EE6-9BF8-4DFD3D37FA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d0d4b18ced452f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AD095-A8CF-4368-98EA-6A309867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给人物分配不同声音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67792-7DB2-4E42-B0AA-05053B7C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按语言和人物信息，从音色目录中选声。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C61EC-573B-48BA-9AA9-7FC54DB2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62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用同一段文字比较快慢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C2EB8-EF5F-4416-AE9E-4BAEF6FF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以旁白时长为基准，回填角色倍率。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D7307C-E779-4AC6-B052-56C45F9B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正式合成前逐角色试听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63A23-13A9-420C-97FC-90419EAD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语气与停顿仍有波动，需要听感确认。</a:t>
            </a:r>
          </a:p>
        </p:txBody>
      </p:sp>
    </p:spTree>
    <p:extLst>
      <p:ext uri="{BB962C8B-B14F-4D97-AF65-F5344CB8AC3E}">
        <p14:creationId xmlns:p14="http://schemas.microsoft.com/office/powerpoint/2010/main" val="941807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FB02A-0BBD-4B4E-A27C-60790E50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1750C-60FD-4132-9D42-791988AB7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分段音频如何拼成完整章节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79D3C-33C6-4F5D-B539-2EDC0915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118C4-7FA8-4B5D-889E-25B26D6F12F0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810000"/>
                <a:gridCol w="5019675"/>
              </a:tblGrid>
              <a:tr h="67818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步骤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处理方式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用户能感受到的作用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 逐段合成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每段带自己的角色参数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人物换声时不串音色配置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 统一音频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探测格式，统一采样率与声道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不同片段可以稳定拼接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 顺序与停顿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按剧本顺序串联 PCM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不乱序，可调整段间间隔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818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 输出章节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最终编码一次，写章节标签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得到可播放的章节音频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C37F5-62F7-4305-A947-10B881EE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当前每章输出一个文件；分轨、单文件 M4B 与跨运行缓存属于后续方向</a:t>
            </a:r>
          </a:p>
        </p:txBody>
      </p:sp>
    </p:spTree>
    <p:extLst>
      <p:ext uri="{BB962C8B-B14F-4D97-AF65-F5344CB8AC3E}">
        <p14:creationId xmlns:p14="http://schemas.microsoft.com/office/powerpoint/2010/main" val="7842656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6452C-E334-4C00-A7A1-06301B42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01  实现逻辑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7EC89-ACCF-4476-A9DF-F9E165AD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生成后逐段检测，失败时有限重试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09B46-D640-4F99-8329-1B81BF09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E5F35-B2C4-48F7-AE27-4A2DA62B6E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b57a2b76741a4"/>
          <a:stretch xmlns:a="http://schemas.openxmlformats.org/drawingml/2006/main"/>
        </p:blipFill>
        <p:spPr>
          <a:xfrm xmlns:a="http://schemas.openxmlformats.org/drawingml/2006/main">
            <a:off x="716818" y="1762125"/>
            <a:ext cx="5786314" cy="4381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3531B-9A67-4642-9E94-7F23B36B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28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检测语速与音频异常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D901C-1812-4EB7-8E9F-26DD8A60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28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统计时长、汉字速率、削顶和静音。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4943A-BB71-4C31-8BF1-88B5D8BD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623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可选转写核对正文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B82D0-4344-4773-9ADA-51B27534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ASR 不可用，明确标记未完整评测。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C2712-5A5A-4AC1-BAAF-C45F77FF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9580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MiMo 最多再生成一次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D76F9-86E3-4E4A-80A2-4E29721C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9585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仍失败保留较好版本，报告给人工复核。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6525173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9141DC-794A-4E80-BAF1-B2A520A7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创新点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AED08-49AC-49A7-9112-391437BD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项目的创新点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9CF89-51BA-44C2-8D46-D87D60EB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37F2D-9723-47E2-AA4A-C7F235130C57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381500"/>
                <a:gridCol w="3733800"/>
              </a:tblGrid>
              <a:tr h="6858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设计贡献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直观解释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当前价值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原文约束的剧本生成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让模型做判断，让对齐器核对每段文字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减少剧本改写和漏句风险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带证据的人物与剧本表示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人物有固定身份，每段能找到出处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支撑跨章复用和人工修正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可编辑的声音编排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识别人、选声、合成彼此解耦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可换引擎、调参数和试听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受限音频反馈闭环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检测失败后，只在允许范围内修复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控制重试成本，保留失败证据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1A1E7-98ED-4CE8-B7E5-4D7F757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创新主张需要实验支撑；界面与多引擎接入主要体现系统集成价值</a:t>
            </a:r>
          </a:p>
        </p:txBody>
      </p:sp>
    </p:spTree>
    <p:extLst>
      <p:ext uri="{BB962C8B-B14F-4D97-AF65-F5344CB8AC3E}">
        <p14:creationId xmlns:p14="http://schemas.microsoft.com/office/powerpoint/2010/main" val="781546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D52DF-809C-4936-AB5C-BA8AF2D2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02  创新点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10542-25A1-4A93-95C2-148E1FFC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已实现能力与尚待验证的部分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EA467-D658-4180-8A8E-120EED1E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86028-3A64-4FE8-87B3-8054B29B3CB1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505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562600"/>
              </a:tblGrid>
              <a:tr h="584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已有代码实现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尚未解决或尚未验证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全书人物索引、人工别名合并、音色锁定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自动指代消解的准确率；跨卷一致性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本地对齐、文本覆盖校验、降级策略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说话人归属和语气的金标准评测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逐角色音色与语速配置、试听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基于人耳可区分度的最优选角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逐段音频指标、可选 ASR、有限重试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自然度 MOS、错判率与质量收益实验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MiMo / MiniMax 角色合成与合章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本地克隆引擎角色接入、重叠对白、分轨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955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1A45C-F8D3-4502-A58B-F1884A20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03  应用方向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6C3C7-C603-4B14-8423-F9A8A114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应用方向：先让长篇小说更容易听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40962-2327-4A55-A0A3-1B76D6B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3DFBB-324A-4B81-8C48-B52167D27F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109067f6e4e3e"/>
          <a:stretch xmlns:a="http://schemas.openxmlformats.org/drawingml/2006/main"/>
        </p:blipFill>
        <p:spPr>
          <a:xfrm xmlns:a="http://schemas.openxmlformats.org/drawingml/2006/main">
            <a:off x="1334198" y="1905000"/>
            <a:ext cx="4551555" cy="3790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8A7E2-78F9-49D5-85A5-675D454B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859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小说与出版社制作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1E1A2-9C5A-41E9-B91B-39FBC06E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860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旁白和人物分声，形成有声书初稿。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364BF-35AC-4BA1-B435-D57DBC72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教育与阅读辅助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B600D-91EA-48F5-82B9-B9034354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814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把课文对话变成听读材料；后续补字幕。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0B3F3-FB66-4957-9FDE-B860186B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453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有声剧与播客创作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B453C-D7A5-474B-A484-907E1E05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876800"/>
            <a:ext cx="4533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先产出角色对白；后续补分轨和混音。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EF51A-462B-4B91-B232-13EE729B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优先验证公版小说与授权内容，再扩展到伴读和专业后期工作流</a:t>
            </a:r>
          </a:p>
        </p:txBody>
      </p:sp>
    </p:spTree>
    <p:extLst>
      <p:ext uri="{BB962C8B-B14F-4D97-AF65-F5344CB8AC3E}">
        <p14:creationId xmlns:p14="http://schemas.microsoft.com/office/powerpoint/2010/main" val="112697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BFFAC-1E46-46F2-9DFD-2EC86048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75DE0-39B6-47E7-9D6A-BD96CF86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前沿研究正在解决哪些问题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C55D9-C672-4A5E-AFF6-7AC342CF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618222-789C-4E28-A7A3-C3C7F7895185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286250"/>
                <a:gridCol w="4352925"/>
              </a:tblGrid>
              <a:tr h="6762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研究问题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代表成果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与项目的关系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谁在说话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Llama-3 说话人归属，NAACL 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更强的角色判断与评测基线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声音如何可控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Qwen3-TTS，2026.01 技术报告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参考音频克隆与文字描述选声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对白如何自然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DialoSpeech，2025.10 预印本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话轮、重叠与双轨生成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长语音如何可靠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LACI，2026.09 预印本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检测漏读与异常，局部恢复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519ED-1EC0-4858-A8BF-53612835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研究成果介绍截至 2026-10-12；论文结果与本项目实测结果分别标注</a:t>
            </a:r>
          </a:p>
        </p:txBody>
      </p:sp>
    </p:spTree>
    <p:extLst>
      <p:ext uri="{BB962C8B-B14F-4D97-AF65-F5344CB8AC3E}">
        <p14:creationId xmlns:p14="http://schemas.microsoft.com/office/powerpoint/2010/main" val="8544064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FFC42-59B2-46E9-9538-56A7F8F6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6223D-CD17-46B9-A6DF-0EB9BF06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说话人识别：LLM 已能利用文学上下文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4E4CA-5BD0-4B32-9522-EF64C07E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B7D76E3-28F1-4CCA-A058-F5D954656BA1}"/>
              </a:ext>
            </a:extLst>
          </p:cNvPr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6334125" cy="3314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49bb51d48b445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735E5-F132-4B81-898B-9F882FF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133600"/>
            <a:ext cx="361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90.6%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9C09E-6D5C-4888-8BDD-DCE9DD6D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PDNC1 按小说平均准确率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92BA63-5A4D-4112-92EC-56E0C7E1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57625"/>
            <a:ext cx="3752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启示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用强模型判断人物，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仍需中文与跨书测试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43CC9-0752-433F-AB3C-2CBE81CC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Michel 等，NAACL 2025，Table 1；图中为论文结果，非本项目结果</a:t>
            </a:r>
          </a:p>
        </p:txBody>
      </p:sp>
    </p:spTree>
    <p:extLst>
      <p:ext uri="{BB962C8B-B14F-4D97-AF65-F5344CB8AC3E}">
        <p14:creationId xmlns:p14="http://schemas.microsoft.com/office/powerpoint/2010/main" val="17538049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54EA59-D0D7-4EDE-A7A9-77EFF65E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30FA4-BFA9-495D-AF96-05D0EC7D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可控音色：参考音频与文字描述选声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32D34-1BB1-4A96-B2AE-0C70F0E8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5EE84-E426-43D2-BE52-DFD55FE912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a58e06e1d43e5"/>
          <a:stretch xmlns:a="http://schemas.openxmlformats.org/drawingml/2006/main"/>
        </p:blipFill>
        <p:spPr>
          <a:xfrm xmlns:a="http://schemas.openxmlformats.org/drawingml/2006/main">
            <a:off x="609600" y="2260611"/>
            <a:ext cx="6191250" cy="297495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B8B9A-379F-40D2-A094-C9CC7571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9050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Qwen3-TTS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D7940-C9B2-4D8F-B0AF-30CD28BD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6700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短参考音频克隆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B05CFE-D892-467F-A2ED-65682C92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6705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用少量声音样本保持角色音色。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EB1BA-E210-46A7-AE76-F22BD1EE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7665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文字描述控制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4E519-C807-492A-955F-7246F8CE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7670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描述人设、声音风格和表现方式。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5999A-EEE7-4E10-8848-C0AEEB7F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86300"/>
            <a:ext cx="423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38F7D-04B2-458C-9BF8-84176797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086350"/>
            <a:ext cx="4238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每个人物绑定固定声音资料，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为本地角色克隆建立接口。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CC907-D846-40F1-86CE-4AE04B3C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Hu 等，Qwen3-TTS Technical Report，2026.01，Fig.1；尚未接入本项目角色链路</a:t>
            </a:r>
          </a:p>
        </p:txBody>
      </p:sp>
    </p:spTree>
    <p:extLst>
      <p:ext uri="{BB962C8B-B14F-4D97-AF65-F5344CB8AC3E}">
        <p14:creationId xmlns:p14="http://schemas.microsoft.com/office/powerpoint/2010/main" val="3387053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D2226-59B4-4BB9-871D-E6F84C36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66E5E-AC1D-41FE-B5BA-78F6C34A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自然对白：模型开始共同生成两个人的声音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57FFF-6981-4EFE-A1EB-C84D840E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3DD31-834B-4213-BD81-ACA6A45EC6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fbe54c9e04206"/>
          <a:stretch xmlns:a="http://schemas.openxmlformats.org/drawingml/2006/main"/>
        </p:blipFill>
        <p:spPr>
          <a:xfrm xmlns:a="http://schemas.openxmlformats.org/drawingml/2006/main">
            <a:off x="609600" y="2926782"/>
            <a:ext cx="6553200" cy="162356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BF1A1-1A2C-49EC-9B32-2722C9C4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000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DialoSpeech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8B9B2-E8F1-4061-B7A3-8E296884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95600"/>
            <a:ext cx="38766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同时考虑两人的互动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学习接话节奏和重叠发声</a:t>
            </a:r>
          </a:p>
          <a:p xmlns:a="http://schemas.openxmlformats.org/drawingml/2006/main">
            <a:pPr>
              <a:def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让对白更像真实交谈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B557E-C8A6-4123-8572-0B49FA8A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95825"/>
            <a:ext cx="3810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先学习停顿与话轮，</a:t>
            </a:r>
          </a:p>
          <a:p xmlns:a="http://schemas.openxmlformats.org/drawingml/2006/main">
            <a:pPr>
              <a:def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再探索双轨渲染。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624F20-E07A-490F-89A8-CCF08425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Xie 等，DialoSpeech，2025.10 预印本，Fig.2；当前项目仍为顺序分段合成</a:t>
            </a:r>
          </a:p>
        </p:txBody>
      </p:sp>
    </p:spTree>
    <p:extLst>
      <p:ext uri="{BB962C8B-B14F-4D97-AF65-F5344CB8AC3E}">
        <p14:creationId xmlns:p14="http://schemas.microsoft.com/office/powerpoint/2010/main" val="12327579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50E58-AEA6-49D5-8C7B-FA67558A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6A3DE-9437-4837-80D3-7B499EFF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长语音可靠性：检测异常后局部恢复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920CC-68CB-49DF-B221-29D9D1E7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51710-1E97-464A-A56D-2F6B59F378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2d810763a4e14"/>
          <a:stretch xmlns:a="http://schemas.openxmlformats.org/drawingml/2006/main"/>
        </p:blipFill>
        <p:spPr>
          <a:xfrm xmlns:a="http://schemas.openxmlformats.org/drawingml/2006/main">
            <a:off x="609600" y="2593664"/>
            <a:ext cx="6286500" cy="227074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2B067-3B98-4805-9BE1-96BF66D0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43125"/>
            <a:ext cx="4171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35.2%  降至  3.4%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B2CD8-0D29-4D79-B248-77FCFDB7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219450"/>
            <a:ext cx="41624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论文中长文本的最坏种子 WER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Qwen3-TTS-0.6B，10 个种子</a:t>
            </a:r>
          </a:p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输入至少 1500 个英文词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C5394-F785-4F70-837D-23265995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695825"/>
            <a:ext cx="4162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项目启示</a:t>
            </a:r>
          </a:p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除了测平均质量，</a:t>
            </a:r>
          </a:p>
          <a:p xmlns:a="http://schemas.openxmlformats.org/drawingml/2006/main">
            <a:pPr>
              <a:def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还应关注偶发漏读和音色漂移。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E4BBA-DED7-437F-91EE-7A0427AE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Wang 等，2026.09 预印本，Fig.1 / Table 2；局部恢复需要模型内部访问</a:t>
            </a:r>
          </a:p>
        </p:txBody>
      </p:sp>
    </p:spTree>
    <p:extLst>
      <p:ext uri="{BB962C8B-B14F-4D97-AF65-F5344CB8AC3E}">
        <p14:creationId xmlns:p14="http://schemas.microsoft.com/office/powerpoint/2010/main" val="17570164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6C5AA-C831-410E-B4A1-DC869DBD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04  前沿研究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724B9-438C-4C06-A0EB-C0A3DF30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本项目适合贡献在哪一层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CDEC7-B9AF-433D-85EB-D36654BD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31733-3864-4554-AB59-D8B7D83291E5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28625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研究层次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前沿工作的重点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本项目的切入点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文本理解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对白归属、指代消解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中文长篇原文约束与证据复核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语音模型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音色克隆、控制与自然对话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统一剧本表示和角色声音配置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长文可靠性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生成中检测、注意力约束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黑盒 API 下的逐段检测与受限重试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系统与评测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模型或任务基准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覆盖率、归属、听感和成本联合评测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16FEF-583F-4EE3-8DFE-8D14B5D1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潜在论文主线：原文约束的中文多角色剧本生成，加可复现的端到端评测</a:t>
            </a:r>
          </a:p>
        </p:txBody>
      </p:sp>
    </p:spTree>
    <p:extLst>
      <p:ext uri="{BB962C8B-B14F-4D97-AF65-F5344CB8AC3E}">
        <p14:creationId xmlns:p14="http://schemas.microsoft.com/office/powerpoint/2010/main" val="51655385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35EEB-4689-4BDD-98F6-B3750037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CB3D1-C28D-4F59-B731-4692DE1E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创新效果需要怎样的实验来证明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D66A09-4403-4AEF-A1F3-B06B8FDD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3F0FA-9CC9-4C3E-8F52-B9DB1822236C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4191000"/>
                <a:gridCol w="42481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要证明的效果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5C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比较方案</a:t>
                      </a:r>
                    </a:p>
                  </a:txBody>
                  <a:tcPr marL="91440" marR="91440" marT="45720" marB="45720">
                    <a:solidFill>
                      <a:srgbClr val="E9EFF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正文完整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覆盖率、改写率、对齐失败率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直接生成 JSON vs 本地对齐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人物判断正确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说话人 Accuracy / macro-F1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规则、单章 LLM、全书人物表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声音稳定且能区分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跨章一致性、听者角色混淆率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轮转选声 vs 距离优化选声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听感更好且成本受控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CER/WER、盲听偏好、重试与成本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3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无质检、只调速、受限反馈</a:t>
                      </a:r>
                    </a:p>
                  </a:txBody>
                  <a:tcPr marL="91440" marR="91440" marT="45720" marB="45720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4BA1E-5D1B-46E8-BBAF-A293F2CC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先做少量公版小说与人工金标准，再按书扩大样本；当前尚无性能提升数据</a:t>
            </a:r>
          </a:p>
        </p:txBody>
      </p:sp>
    </p:spTree>
    <p:extLst>
      <p:ext uri="{BB962C8B-B14F-4D97-AF65-F5344CB8AC3E}">
        <p14:creationId xmlns:p14="http://schemas.microsoft.com/office/powerpoint/2010/main" val="8560910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5B037-9033-48E9-AA4D-1DBD4F09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46B07-2571-4FB5-A51F-156B797C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落地路线：先补证据，再改善成品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B4CA9-66D5-4AAD-95D4-61A84004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F4669-F86C-43B7-9520-FD0C4D87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阶段一  建立小规模评测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27B72-02BE-48E1-BF5B-93F10F53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固定模型与配置，标注说话人，记录成本和失败类型。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2D6CF-6BDA-4EB1-A703-B69988ED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阶段二  稳定人物与中文读音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CFF78-2934-4E2D-B63D-906BAE3E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评估并改进别名、跨章复用，加入专名发音处理。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37CF2-C7D4-428B-AC4E-16009067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阶段三  减少重跑与整理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DD690-FC1B-439E-A1A3-DE429FA1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补跨运行缓存和增量重跑，打通 M4B 与章节标记。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2CEDA-42BD-4E9F-817C-C9A9E9E0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阶段四  扩展声音表现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7B4A8-A0A7-4324-878D-EE9D5D83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接入授权参考音频，研究选角、停顿、字幕与分轨。</a:t>
            </a:r>
          </a:p>
        </p:txBody>
      </p:sp>
    </p:spTree>
    <p:extLst>
      <p:ext uri="{BB962C8B-B14F-4D97-AF65-F5344CB8AC3E}">
        <p14:creationId xmlns:p14="http://schemas.microsoft.com/office/powerpoint/2010/main" val="95295876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823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098C9-37C4-4A30-B5CC-17C0769F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05 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25AEE-14C8-4CD6-AD7D-129B2559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下一阶段的交付目标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40B9E3-FFCA-48D2-B2AA-03A38838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EE27F-5751-4E81-B009-5C6C7447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一套可演示的多角色制作流程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69E9C-8015-4FDD-834B-CF8C2C40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已有：人物剧本、人工确认、分段合成与音频检测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3B716-DB46-4D9A-908F-4317723F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一份可解释、可复现的实验报告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40D7A-9CA4-42F2-B4CB-40902F36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B8CCFF"/>
                </a:solidFill>
                <a:latin typeface="PingFang SC"/>
                <a:ea typeface="PingFang SC"/>
                <a:cs typeface="PingFang SC"/>
              </a:rPr>
              <a:t>待补：说话人金标准、听感评测、消融和成本比较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FDA23-85F1-48C6-B35F-02D75FE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研究重点：中文长篇中，文字完整、人物稳定、声音可辨</a:t>
            </a:r>
          </a:p>
        </p:txBody>
      </p:sp>
    </p:spTree>
    <p:extLst>
      <p:ext uri="{BB962C8B-B14F-4D97-AF65-F5344CB8AC3E}">
        <p14:creationId xmlns:p14="http://schemas.microsoft.com/office/powerpoint/2010/main" val="18552334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D396F-183B-43C5-8213-BD88834E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附录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8BEAE-360F-459A-9403-AA1E02D5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参考资料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B57F6-A448-4146-A67F-52B28C5D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15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1FF95-5C20-41C5-BE01-7D44F1CD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项目资料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D9B4B-D594-4ED3-BDC5-8E365235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多角色有声书_创新点与落地路线图.docx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当前源码：role_script / core / ui；功能说明：multi_role_tts_mvp.md、role_quality.md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BE7C7-2175-4AE9-B93A-632ADCFE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235CDD"/>
                </a:solidFill>
                <a:latin typeface="PingFang SC"/>
                <a:ea typeface="PingFang SC"/>
                <a:cs typeface="PingFang SC"/>
              </a:rPr>
              <a:t>研究论文与报告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40CB1-DCE3-4D50-9F2B-6775BA96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9728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Michel 等，NAACL 2025：文学对白的说话人归属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aclanthology.org/2025.naacl-short.62/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Hu 等，2026：Qwen3-TTS Technical Report   arXiv:2601.15621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Xie 等，2025：DialoSpeech   arXiv:2510.08373</a:t>
            </a:r>
          </a:p>
          <a:p xmlns:a="http://schemas.openxmlformats.org/drawingml/2006/main">
            <a:pPr>
              <a:def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82335"/>
                </a:solidFill>
                <a:latin typeface="PingFang SC"/>
                <a:ea typeface="PingFang SC"/>
                <a:cs typeface="PingFang SC"/>
              </a:rPr>
              <a:t>Wang 等，2026：Taming Long-form Text-to-Speech   arXiv:2609.16989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59B9D-CF3B-4B40-88E4-2657E2B6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6647B"/>
                </a:solidFill>
                <a:latin typeface="PingFang SC"/>
                <a:ea typeface="PingFang SC"/>
                <a:cs typeface="PingFang SC"/>
              </a:rPr>
              <a:t>论文中的数字均标注实验条件；项目截图来自本机 WebUI 和仓库示例</a:t>
            </a:r>
          </a:p>
        </p:txBody>
      </p:sp>
    </p:spTree>
    <p:extLst>
      <p:ext uri="{BB962C8B-B14F-4D97-AF65-F5344CB8AC3E}">
        <p14:creationId xmlns:p14="http://schemas.microsoft.com/office/powerpoint/2010/main" val="1549966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2026-10-12T12:19:10.3130000Z</dcterms:created>
  <dcterms:modified xsi:type="dcterms:W3CDTF">2026-10-12T12:19:10.3130000Z</dcterms:modified>
</coreProperties>
</file>