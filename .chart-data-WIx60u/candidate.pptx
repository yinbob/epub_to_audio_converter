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1d40f7a2a4e05" /><Relationship Type="http://schemas.openxmlformats.org/officeDocument/2006/relationships/extended-properties" Target="/docProps/app.xml" Id="Rd5fe1a39f680494e" /><Relationship Type="http://schemas.openxmlformats.org/officeDocument/2006/relationships/officeDocument" Target="/ppt/presentation.xml" Id="R4bf5923923884b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3fe9ef3ae94244"/>
  </p:sldMasterIdLst>
  <p:notesMasterIdLst>
    <p:notesMasterId xmlns:r="http://schemas.openxmlformats.org/officeDocument/2006/relationships" r:id="R28441b96fc6447bc"/>
  </p:notesMasterIdLst>
  <p:sldIdLst>
    <p:sldId xmlns:r="http://schemas.openxmlformats.org/officeDocument/2006/relationships" id="256" r:id="Raa9b6932cf4d4018"/>
    <p:sldId xmlns:r="http://schemas.openxmlformats.org/officeDocument/2006/relationships" id="257" r:id="Rcbc228a1e70641c6"/>
    <p:sldId xmlns:r="http://schemas.openxmlformats.org/officeDocument/2006/relationships" id="258" r:id="R12c585f0a63145d0"/>
    <p:sldId xmlns:r="http://schemas.openxmlformats.org/officeDocument/2006/relationships" id="259" r:id="Raac185f9838847f1"/>
    <p:sldId xmlns:r="http://schemas.openxmlformats.org/officeDocument/2006/relationships" id="260" r:id="Rbfe4e3e380fe4356"/>
    <p:sldId xmlns:r="http://schemas.openxmlformats.org/officeDocument/2006/relationships" id="261" r:id="Ra3ed48f96925402e"/>
    <p:sldId xmlns:r="http://schemas.openxmlformats.org/officeDocument/2006/relationships" id="262" r:id="R50fc4a9c2433442d"/>
    <p:sldId xmlns:r="http://schemas.openxmlformats.org/officeDocument/2006/relationships" id="263" r:id="Rc357d3dc92374b29"/>
    <p:sldId xmlns:r="http://schemas.openxmlformats.org/officeDocument/2006/relationships" id="264" r:id="R0f27a2185b744056"/>
    <p:sldId xmlns:r="http://schemas.openxmlformats.org/officeDocument/2006/relationships" id="265" r:id="R1d2f079da1234a92"/>
    <p:sldId xmlns:r="http://schemas.openxmlformats.org/officeDocument/2006/relationships" id="266" r:id="R70eb227be3964715"/>
    <p:sldId xmlns:r="http://schemas.openxmlformats.org/officeDocument/2006/relationships" id="267" r:id="Rf9b4683040f34522"/>
    <p:sldId xmlns:r="http://schemas.openxmlformats.org/officeDocument/2006/relationships" id="268" r:id="Re1ded1c1c0f34632"/>
    <p:sldId xmlns:r="http://schemas.openxmlformats.org/officeDocument/2006/relationships" id="269" r:id="R12be9c3368414d6f"/>
    <p:sldId xmlns:r="http://schemas.openxmlformats.org/officeDocument/2006/relationships" id="270" r:id="Rd20f6501e1b74247"/>
    <p:sldId xmlns:r="http://schemas.openxmlformats.org/officeDocument/2006/relationships" id="271" r:id="R5fa33e7e8d3d453e"/>
    <p:sldId xmlns:r="http://schemas.openxmlformats.org/officeDocument/2006/relationships" id="272" r:id="R7f20df8579e04cff"/>
    <p:sldId xmlns:r="http://schemas.openxmlformats.org/officeDocument/2006/relationships" id="273" r:id="Raa2fbe6ddf684846"/>
    <p:sldId xmlns:r="http://schemas.openxmlformats.org/officeDocument/2006/relationships" id="274" r:id="R8f86225695f04127"/>
    <p:sldId xmlns:r="http://schemas.openxmlformats.org/officeDocument/2006/relationships" id="275" r:id="R84008ae311fe4879"/>
    <p:sldId xmlns:r="http://schemas.openxmlformats.org/officeDocument/2006/relationships" id="276" r:id="R8f56557299964e50"/>
    <p:sldId xmlns:r="http://schemas.openxmlformats.org/officeDocument/2006/relationships" id="277" r:id="Re37eff720df6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15faee67104c14" /><Relationship Type="http://schemas.openxmlformats.org/officeDocument/2006/relationships/slideMaster" Target="/ppt/slideMasters/slideMaster1.xml" Id="R533fe9ef3ae94244" /><Relationship Type="http://schemas.openxmlformats.org/officeDocument/2006/relationships/notesMaster" Target="/ppt/notesMasters/notesMaster1.xml" Id="R28441b96fc6447bc" /><Relationship Type="http://schemas.openxmlformats.org/officeDocument/2006/relationships/presProps" Target="/ppt/presProps.xml" Id="R099a00f31bb64809" /><Relationship Type="http://schemas.openxmlformats.org/officeDocument/2006/relationships/tableStyles" Target="/ppt/tableStyles.xml" Id="Rcb7d1b2e70b74f08" /><Relationship Type="http://schemas.openxmlformats.org/officeDocument/2006/relationships/slide" Target="/ppt/slides/slide1.xml" Id="Raa9b6932cf4d4018" /><Relationship Type="http://schemas.openxmlformats.org/officeDocument/2006/relationships/slide" Target="/ppt/slides/slide2.xml" Id="Rcbc228a1e70641c6" /><Relationship Type="http://schemas.openxmlformats.org/officeDocument/2006/relationships/slide" Target="/ppt/slides/slide3.xml" Id="R12c585f0a63145d0" /><Relationship Type="http://schemas.openxmlformats.org/officeDocument/2006/relationships/slide" Target="/ppt/slides/slide4.xml" Id="Raac185f9838847f1" /><Relationship Type="http://schemas.openxmlformats.org/officeDocument/2006/relationships/slide" Target="/ppt/slides/slide5.xml" Id="Rbfe4e3e380fe4356" /><Relationship Type="http://schemas.openxmlformats.org/officeDocument/2006/relationships/slide" Target="/ppt/slides/slide6.xml" Id="Ra3ed48f96925402e" /><Relationship Type="http://schemas.openxmlformats.org/officeDocument/2006/relationships/slide" Target="/ppt/slides/slide7.xml" Id="R50fc4a9c2433442d" /><Relationship Type="http://schemas.openxmlformats.org/officeDocument/2006/relationships/slide" Target="/ppt/slides/slide8.xml" Id="Rc357d3dc92374b29" /><Relationship Type="http://schemas.openxmlformats.org/officeDocument/2006/relationships/slide" Target="/ppt/slides/slide9.xml" Id="R0f27a2185b744056" /><Relationship Type="http://schemas.openxmlformats.org/officeDocument/2006/relationships/slide" Target="/ppt/slides/slide10.xml" Id="R1d2f079da1234a92" /><Relationship Type="http://schemas.openxmlformats.org/officeDocument/2006/relationships/slide" Target="/ppt/slides/slide11.xml" Id="R70eb227be3964715" /><Relationship Type="http://schemas.openxmlformats.org/officeDocument/2006/relationships/slide" Target="/ppt/slides/slide12.xml" Id="Rf9b4683040f34522" /><Relationship Type="http://schemas.openxmlformats.org/officeDocument/2006/relationships/slide" Target="/ppt/slides/slide13.xml" Id="Re1ded1c1c0f34632" /><Relationship Type="http://schemas.openxmlformats.org/officeDocument/2006/relationships/slide" Target="/ppt/slides/slide14.xml" Id="R12be9c3368414d6f" /><Relationship Type="http://schemas.openxmlformats.org/officeDocument/2006/relationships/slide" Target="/ppt/slides/slide15.xml" Id="Rd20f6501e1b74247" /><Relationship Type="http://schemas.openxmlformats.org/officeDocument/2006/relationships/slide" Target="/ppt/slides/slide16.xml" Id="R5fa33e7e8d3d453e" /><Relationship Type="http://schemas.openxmlformats.org/officeDocument/2006/relationships/slide" Target="/ppt/slides/slide17.xml" Id="R7f20df8579e04cff" /><Relationship Type="http://schemas.openxmlformats.org/officeDocument/2006/relationships/slide" Target="/ppt/slides/slide18.xml" Id="Raa2fbe6ddf684846" /><Relationship Type="http://schemas.openxmlformats.org/officeDocument/2006/relationships/slide" Target="/ppt/slides/slide19.xml" Id="R8f86225695f04127" /><Relationship Type="http://schemas.openxmlformats.org/officeDocument/2006/relationships/slide" Target="/ppt/slides/slide20.xml" Id="R84008ae311fe4879" /><Relationship Type="http://schemas.openxmlformats.org/officeDocument/2006/relationships/slide" Target="/ppt/slides/slide21.xml" Id="R8f56557299964e50" /><Relationship Type="http://schemas.openxmlformats.org/officeDocument/2006/relationships/slide" Target="/ppt/slides/slide22.xml" Id="Re37eff720df6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73c09540e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6935af1ad423c" /><Relationship Type="http://schemas.openxmlformats.org/officeDocument/2006/relationships/notesMaster" Target="/ppt/notesMasters/notesMaster1.xml" Id="Re3bd4de279274b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9c65648a85417c" /><Relationship Type="http://schemas.openxmlformats.org/officeDocument/2006/relationships/notesMaster" Target="/ppt/notesMasters/notesMaster1.xml" Id="R5b67df975b6d46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eb6e015e634b6d" /><Relationship Type="http://schemas.openxmlformats.org/officeDocument/2006/relationships/notesMaster" Target="/ppt/notesMasters/notesMaster1.xml" Id="R9b313cc3e0a3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ebf19e49d4372" /><Relationship Type="http://schemas.openxmlformats.org/officeDocument/2006/relationships/notesMaster" Target="/ppt/notesMasters/notesMaster1.xml" Id="R56b116a9212d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c9257ca444c8b" /><Relationship Type="http://schemas.openxmlformats.org/officeDocument/2006/relationships/notesMaster" Target="/ppt/notesMasters/notesMaster1.xml" Id="R9e8d13432b8a48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0e70f89fa44848" /><Relationship Type="http://schemas.openxmlformats.org/officeDocument/2006/relationships/notesMaster" Target="/ppt/notesMasters/notesMaster1.xml" Id="Rf7d3f0b062f7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0446d5301400d" /><Relationship Type="http://schemas.openxmlformats.org/officeDocument/2006/relationships/notesMaster" Target="/ppt/notesMasters/notesMaster1.xml" Id="R99d57564153e40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aaf275f55c4f2e" /><Relationship Type="http://schemas.openxmlformats.org/officeDocument/2006/relationships/notesMaster" Target="/ppt/notesMasters/notesMaster1.xml" Id="R27d1d26fb80042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c906f49c64cfd" /><Relationship Type="http://schemas.openxmlformats.org/officeDocument/2006/relationships/notesMaster" Target="/ppt/notesMasters/notesMaster1.xml" Id="Rc2532738b40049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1f7f4b9aca40c9" /><Relationship Type="http://schemas.openxmlformats.org/officeDocument/2006/relationships/notesMaster" Target="/ppt/notesMasters/notesMaster1.xml" Id="Rba18ed340b864c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5fd7e4ab7f4f7d" /><Relationship Type="http://schemas.openxmlformats.org/officeDocument/2006/relationships/notesMaster" Target="/ppt/notesMasters/notesMaster1.xml" Id="R4b734017239c47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6594b56c324af0" /><Relationship Type="http://schemas.openxmlformats.org/officeDocument/2006/relationships/notesMaster" Target="/ppt/notesMasters/notesMaster1.xml" Id="Rc31d70eacaeb4d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04e38213d54a26" /><Relationship Type="http://schemas.openxmlformats.org/officeDocument/2006/relationships/notesMaster" Target="/ppt/notesMasters/notesMaster1.xml" Id="Rf9c87637ec1d4d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c2896b866d4718" /><Relationship Type="http://schemas.openxmlformats.org/officeDocument/2006/relationships/notesMaster" Target="/ppt/notesMasters/notesMaster1.xml" Id="R6fd1f5799f5e4c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d9ff7b2f6d4051" /><Relationship Type="http://schemas.openxmlformats.org/officeDocument/2006/relationships/notesMaster" Target="/ppt/notesMasters/notesMaster1.xml" Id="R231ac79d51a446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aa0a77831243a5" /><Relationship Type="http://schemas.openxmlformats.org/officeDocument/2006/relationships/notesMaster" Target="/ppt/notesMasters/notesMaster1.xml" Id="Rc6e69008948c4d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a512f1d3424d35" /><Relationship Type="http://schemas.openxmlformats.org/officeDocument/2006/relationships/notesMaster" Target="/ppt/notesMasters/notesMaster1.xml" Id="R651a6e6c070447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363d20d90146db" /><Relationship Type="http://schemas.openxmlformats.org/officeDocument/2006/relationships/notesMaster" Target="/ppt/notesMasters/notesMaster1.xml" Id="R19ccbbf1793c4f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b0288d0f3c4497" /><Relationship Type="http://schemas.openxmlformats.org/officeDocument/2006/relationships/notesMaster" Target="/ppt/notesMasters/notesMaster1.xml" Id="Rd18a66f45b1749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9b58327ca64a0c" /><Relationship Type="http://schemas.openxmlformats.org/officeDocument/2006/relationships/notesMaster" Target="/ppt/notesMasters/notesMaster1.xml" Id="R46017a73f5be4b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b491761dd64b4b" /><Relationship Type="http://schemas.openxmlformats.org/officeDocument/2006/relationships/notesMaster" Target="/ppt/notesMasters/notesMaster1.xml" Id="R39fd7b12ea3343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2e23d94a334768" /><Relationship Type="http://schemas.openxmlformats.org/officeDocument/2006/relationships/notesMaster" Target="/ppt/notesMasters/notesMaster1.xml" Id="R3c1c4f237b87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角色模式目前限制为单本书、MiMo/MiniMax。截图展示真实界面的空项目配置，不代表已生成的成品或实验结果。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代码：web_ui.auto_split_role_script，v2_generation.generate_v2_for_book，core/audiobook_generator.py。全书索引分析未选章节需要界面知情勾选。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本页是自编教学示例，未调用真实语音 API。段间默认停顿 250ms，可由每段覆盖，最后一段不加尾部静音。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_reconcile_segments 用 NFKC 与源字符索引映射匹配原文；失败后有限重试、宽松对齐、旁白兜底。覆盖校验是规范化一致性，不能证明说话人或语气正确。V2 exact_segments 重新切源文本并保存 source_span。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代码：v2_generation.py、review.py、project_store.py。稳定实体 ID、原文区间与证据；人工合并实体、锁音色。existing_entity_id 仅作为候选，不能据此自动合并。项目按书籍指纹保存，不等同于系列跨卷实体链接已经完成。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选角目前按语言、性别等启发式分配与去重轮转，不是感知距离优化。pace_calibration.py 同文测时长，speed = 角色原始时长 / (旁白原始时长 / 旁白倍率)，限 0.25..4。MiMo 使用后处理 atempo；MiniMax 由服务端变速。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代码：role_script/audio_pipeline.py。ffprobe 探测实际容器、采样率、声道和时长；解码 PCM 后以首段参数为基准，MiMo atempo 后处理，按段插静音，最终仅编码一次、写标签。当前段缓存位于章节临时目录，非跨运行持久缓存。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依据 docs/role_quality.md 与 audio_quality.py。质量检测默认关闭。CER/WER 由可选本地 ASR 得到，只是可辨识度代理。MiMo failed 段最多再生成一次；too_fast 会降倍率；DeepSeek 只选受限提示补丁。MiniMax 仅检测。4.3 为可调工程起始阈值，非听感标准。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这些是当前系统的可辩护设计贡献。是否具有论文级新颖性、是否优于已有方法，仍需相关工作比较与实验，不宣称首创或已证实性能提升。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当前代码存在实现与测试，不代表已有学术数据集结果。路线图中“没有全局实体层”和“评测完全缺失”的描述已部分过时；当前有 V2 实体持久化与音频 QA，但仍缺大规模说话人归属与人耳评测。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图片为仓库 examples/audiobookshelf.png，展示下游媒体库应用，不代表一键入库已接线。教育伴读字幕、角色分轨与播客混音均为扩展设想。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llama: https://aclanthology.org/2025.naacl-short.62/</a:t>
            </a:r>
          </a:p>
          <a:p xmlns:a="http://schemas.openxmlformats.org/drawingml/2006/main">
            <a:r>
              <a:t>qwen: https://arxiv.org/abs/2601.15621</a:t>
            </a:r>
          </a:p>
          <a:p xmlns:a="http://schemas.openxmlformats.org/drawingml/2006/main">
            <a:r>
              <a:t>dialo: https://arxiv.org/abs/2510.08373</a:t>
            </a:r>
          </a:p>
          <a:p xmlns:a="http://schemas.openxmlformats.org/drawingml/2006/main">
            <a:r>
              <a:t>laci: https://arxiv.org/abs/2609.16989</a:t>
            </a:r>
          </a:p>
          <a:p xmlns:a="http://schemas.openxmlformats.org/drawingml/2006/main">
            <a:r>
              <a:t>检索截止 2026-10-12。NAACL 2025 为会议论文；其余以所引用 arXiv 预印本/技术报告版本介绍。不是论文全领域穷尽综述。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https://aclanthology.org/2025.naacl-short.62/</a:t>
            </a:r>
          </a:p>
          <a:p xmlns:a="http://schemas.openxmlformats.org/drawingml/2006/main">
            <a:r>
              <a:t>Michel et al., NAACL 2025，Table 1。两组分别为 PDNC1 和 PDNC2 的按小说平均归属准确率；Llama-3 8B 为 90.6 / 88.5，BookNLP+ 为 78.5 / 79.2。比较的是原论文设置，非中文、非本项目性能。论文另以记忆和污染检查审视结果。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Qwen3-TTS Technical Report，2026-01-22；图为 Fig.1 原图。报告支持 3 秒参考音频克隆、描述创建或控制音色、10 种语言。具体能力与模型变体有关，不代表任何变体都支持全部功能。项目现有 Qwen Provider 不等同于已接入 Qwen3-TTS 角色模式。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DialoSpeech，2025-10-09 arXiv 预印本，Fig.2。双轨架构结合 LLM 与 Chunked Flow Matching，支持中英、多轮对话与自然重叠。双说话人研究不等同于任意多角色长篇小说。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https://arxiv.org/abs/2609.16989</a:t>
            </a:r>
          </a:p>
          <a:p xmlns:a="http://schemas.openxmlformats.org/drawingml/2006/main">
            <a:r>
              <a:t>Wang et al., Taming Long-form Text-to-Speech，2026-09-15 arXiv v1。图 Fig.1。Table 2 对 Qwen3-TTS-0.6B 在 AppTek 数据 &gt;=1500 words、10 个随机种子、worst-of-N WER：35.2% 降为 3.4%。并非平均 WER、并非有声书或本项目实验。LACI 读取模型注意力，商业黑盒 API 不能直接复用。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研究定位为建议：在现成 NLP/TTS 能力之上，研究有原文约束、有证据、可审阅、可评测的中文长篇多角色编排。不能仅凭系统实现宣称超越前沿模型。相关来源：https://aclanthology.org/2025.naacl-short.62/</a:t>
            </a:r>
          </a:p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https://arxiv.org/abs/2609.16989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本页是实验设计，所有指标为待测，不是结果。评测先按书划分训练/测试或开发/测试，避免同书片段泄漏，报告置信区间。语速校准、QA feedback、实体层分别做消融。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为建议阶段顺序，不是承诺工期。持久缓存、M4B、字幕、角色分轨等沿用用户路线图规划，不表述为已经完成。角色参考音频使用需获得授权。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论文链接与各页备注均保留。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abe6e1eb645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1f88cf2b14c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d552bd0244f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8ee0155ed45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12fb7374641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10b685bb0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15F774-6C5F-4B9E-AFED-F65501420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612EC7-1736-4A92-B9CA-B9CD0E6380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3F7952-A5A7-4B6E-93CA-A3AF989167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50EAA4-79ED-43C0-94A7-27AC65BEB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E8A5C3-7606-4E13-A7B3-208D23BE9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E8DB0A-13F1-4F61-859D-2B16590D3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E3E21B-2D81-4F4D-9261-C1A8D6A33B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FA86C2-73CA-4A90-813E-930BB04FC2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BCD14-1518-4D15-9E96-93CE5EE1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19AD1A-B487-4411-86D9-E66E747F4F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20154b6427469d" /><Relationship Type="http://schemas.openxmlformats.org/officeDocument/2006/relationships/slideLayout" Target="/ppt/slideLayouts/slideLayout1.xml" Id="R89d62be25bd248d8" /><Relationship Type="http://schemas.openxmlformats.org/officeDocument/2006/relationships/slideLayout" Target="/ppt/slideLayouts/slideLayout2.xml" Id="Rdfe2d3111ad44937" /><Relationship Type="http://schemas.openxmlformats.org/officeDocument/2006/relationships/slideLayout" Target="/ppt/slideLayouts/slideLayout3.xml" Id="Rcf6283d8daa34fd3" /><Relationship Type="http://schemas.openxmlformats.org/officeDocument/2006/relationships/slideLayout" Target="/ppt/slideLayouts/slideLayout4.xml" Id="Rb33cd9f669574821" /><Relationship Type="http://schemas.openxmlformats.org/officeDocument/2006/relationships/slideLayout" Target="/ppt/slideLayouts/slideLayout5.xml" Id="Redff046101e04db6" /><Relationship Type="http://schemas.openxmlformats.org/officeDocument/2006/relationships/slideLayout" Target="/ppt/slideLayouts/slideLayout6.xml" Id="Rd667b60d4b18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d62be25bd248d8"/>
    <p:sldLayoutId xmlns:r="http://schemas.openxmlformats.org/officeDocument/2006/relationships" id="2147483650" r:id="Rdfe2d3111ad44937"/>
    <p:sldLayoutId xmlns:r="http://schemas.openxmlformats.org/officeDocument/2006/relationships" id="2147483651" r:id="Rcf6283d8daa34fd3"/>
    <p:sldLayoutId xmlns:r="http://schemas.openxmlformats.org/officeDocument/2006/relationships" id="2147483652" r:id="Rb33cd9f669574821"/>
    <p:sldLayoutId xmlns:r="http://schemas.openxmlformats.org/officeDocument/2006/relationships" id="2147483653" r:id="Redff046101e04db6"/>
    <p:sldLayoutId xmlns:r="http://schemas.openxmlformats.org/officeDocument/2006/relationships" id="2147483654" r:id="Rd667b60d4b18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992a3ae2a4324" /><Relationship Type="http://schemas.openxmlformats.org/officeDocument/2006/relationships/image" Target="/ppt/media/image.jpeg" Id="R131e8bb4517a41cd" /><Relationship Type="http://schemas.openxmlformats.org/officeDocument/2006/relationships/notesSlide" Target="/ppt/notesSlides/notesSlide1.xml" Id="Rd80c00fef16e4b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9719ff5c9452d" /><Relationship Type="http://schemas.openxmlformats.org/officeDocument/2006/relationships/image" Target="/ppt/media/image.png" Id="R6222f115988143c0" /><Relationship Type="http://schemas.openxmlformats.org/officeDocument/2006/relationships/notesSlide" Target="/ppt/notesSlides/notesSlide2.xml" Id="Rd52ee3928d0f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6e40467c742f3" /><Relationship Type="http://schemas.openxmlformats.org/officeDocument/2006/relationships/image" Target="/ppt/media/image2.png" Id="R7d2aa35ef3fd4e4e" /><Relationship Type="http://schemas.openxmlformats.org/officeDocument/2006/relationships/notesSlide" Target="/ppt/notesSlides/notesSlide3.xml" Id="R94c43bb9678e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f67cfc7724a45" /><Relationship Type="http://schemas.openxmlformats.org/officeDocument/2006/relationships/notesSlide" Target="/ppt/notesSlides/notesSlide4.xml" Id="R732457721f9e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be9a161c44016" /><Relationship Type="http://schemas.openxmlformats.org/officeDocument/2006/relationships/notesSlide" Target="/ppt/notesSlides/notesSlide5.xml" Id="R492c2db3e91848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46904333848e2" /><Relationship Type="http://schemas.openxmlformats.org/officeDocument/2006/relationships/image" Target="/ppt/media/image3.png" Id="R0c5852e6aae94639" /><Relationship Type="http://schemas.openxmlformats.org/officeDocument/2006/relationships/notesSlide" Target="/ppt/notesSlides/notesSlide6.xml" Id="Ra9778e3d56f24d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cc4dfcf2b4e19" /><Relationship Type="http://schemas.openxmlformats.org/officeDocument/2006/relationships/image" Target="/ppt/media/image4.png" Id="R46ef22dba04e4591" /><Relationship Type="http://schemas.openxmlformats.org/officeDocument/2006/relationships/notesSlide" Target="/ppt/notesSlides/notesSlide7.xml" Id="R2a703e540cf242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568ec74254598" /><Relationship Type="http://schemas.openxmlformats.org/officeDocument/2006/relationships/notesSlide" Target="/ppt/notesSlides/notesSlide8.xml" Id="R15adadf2fa7d4a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b0ee6c53447f7" /><Relationship Type="http://schemas.openxmlformats.org/officeDocument/2006/relationships/image" Target="/ppt/media/image5.png" Id="Re90a3f323e934661" /><Relationship Type="http://schemas.openxmlformats.org/officeDocument/2006/relationships/notesSlide" Target="/ppt/notesSlides/notesSlide9.xml" Id="R6bb36177619a4d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4c96ddc3d4768" /><Relationship Type="http://schemas.openxmlformats.org/officeDocument/2006/relationships/notesSlide" Target="/ppt/notesSlides/notesSlide10.xml" Id="R7063cf7004424d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2a8f23010414f" /><Relationship Type="http://schemas.openxmlformats.org/officeDocument/2006/relationships/notesSlide" Target="/ppt/notesSlides/notesSlide11.xml" Id="R178cb9ccbb8845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bd9bf18fc4bfb" /><Relationship Type="http://schemas.openxmlformats.org/officeDocument/2006/relationships/image" Target="/ppt/media/image6.png" Id="R5034a2e0eeda41f0" /><Relationship Type="http://schemas.openxmlformats.org/officeDocument/2006/relationships/notesSlide" Target="/ppt/notesSlides/notesSlide12.xml" Id="Ra50270de9e3141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4cad722804b56" /><Relationship Type="http://schemas.openxmlformats.org/officeDocument/2006/relationships/notesSlide" Target="/ppt/notesSlides/notesSlide13.xml" Id="R2147d8f58eac42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7eb0724624ea2" /><Relationship Type="http://schemas.openxmlformats.org/officeDocument/2006/relationships/chart" Target="/ppt/slides/charts/chart1.xml" Id="R87994642e5d7424e" /><Relationship Type="http://schemas.openxmlformats.org/officeDocument/2006/relationships/notesSlide" Target="/ppt/notesSlides/notesSlide14.xml" Id="R5d77756f40824b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31fa7a81c4654" /><Relationship Type="http://schemas.openxmlformats.org/officeDocument/2006/relationships/image" Target="/ppt/media/image7.png" Id="Rda0be438c63a4632" /><Relationship Type="http://schemas.openxmlformats.org/officeDocument/2006/relationships/notesSlide" Target="/ppt/notesSlides/notesSlide15.xml" Id="Rd1615cccba8c4a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62c91a0724e42" /><Relationship Type="http://schemas.openxmlformats.org/officeDocument/2006/relationships/image" Target="/ppt/media/image8.png" Id="R6afe624df0b54a97" /><Relationship Type="http://schemas.openxmlformats.org/officeDocument/2006/relationships/notesSlide" Target="/ppt/notesSlides/notesSlide16.xml" Id="R367543c2436144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4f70ce6c944e5" /><Relationship Type="http://schemas.openxmlformats.org/officeDocument/2006/relationships/image" Target="/ppt/media/image9.png" Id="Ra570ceb3791042d7" /><Relationship Type="http://schemas.openxmlformats.org/officeDocument/2006/relationships/notesSlide" Target="/ppt/notesSlides/notesSlide17.xml" Id="R2a5c4319f3e94c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8408b0f3f4fe0" /><Relationship Type="http://schemas.openxmlformats.org/officeDocument/2006/relationships/notesSlide" Target="/ppt/notesSlides/notesSlide18.xml" Id="R56c01cd67d134a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31953d62242bb" /><Relationship Type="http://schemas.openxmlformats.org/officeDocument/2006/relationships/notesSlide" Target="/ppt/notesSlides/notesSlide19.xml" Id="R66a11da6acc342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11d60ab0642f5" /><Relationship Type="http://schemas.openxmlformats.org/officeDocument/2006/relationships/notesSlide" Target="/ppt/notesSlides/notesSlide20.xml" Id="Rbbb20f6b24d246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77839d34644d8" /><Relationship Type="http://schemas.openxmlformats.org/officeDocument/2006/relationships/notesSlide" Target="/ppt/notesSlides/notesSlide21.xml" Id="R5c1396f226f044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0493cdfe248ed" /><Relationship Type="http://schemas.openxmlformats.org/officeDocument/2006/relationships/notesSlide" Target="/ppt/notesSlides/notesSlide22.xml" Id="R342ea3c6c74c40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BookNLP+</c:v>
          </c:tx>
          <c:spPr>
            <a:solidFill xmlns:a="http://schemas.openxmlformats.org/drawingml/2006/main">
              <a:srgbClr val="A5B6D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78.5</c:v>
                </c:pt>
                <c:pt idx="1">
                  <c:v>79.2</c:v>
                </c:pt>
              </c:numCache>
            </c:numRef>
          </c:val>
        </c:ser>
        <c:ser>
          <c:idx val="1"/>
          <c:order val="1"/>
          <c:tx>
            <c:v>Llama-3 8B</c:v>
          </c:tx>
          <c:spPr>
            <a:solidFill xmlns:a="http://schemas.openxmlformats.org/drawingml/2006/main">
              <a:srgbClr val="235CD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90.6</c:v>
                </c:pt>
                <c:pt idx="1">
                  <c:v>88.5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ingFang SC"/>
              <a:ea typeface="PingFang SC"/>
              <a:cs typeface="PingFang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9BAC6-1CF6-4FF8-8800-7BAC2871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251F5-9A0C-4CE0-B6AE-226D552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D4231-9ABC-4629-83EC-274E368A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018F5-0F10-4EC2-89AE-2A903AD5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实现逻辑、创新点与研究方向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0F0C4-29A0-4AE5-80D8-3A85AA1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让旁白和人物拥有各自的声音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76D25-30F8-45A4-84BD-26C0758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EPUB / DOC / DOCX</a:t>
            </a:r>
          </a:p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DeepSeek + MiMo / 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4F677-ADCF-4834-B830-F334D8FB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2026 年 10 月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2C7A0-22B3-4833-86EE-9A18110BC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e8bb4517a41cd"/>
          <a:stretch xmlns:a="http://schemas.openxmlformats.org/drawingml/2006/main"/>
        </p:blipFill>
        <p:spPr>
          <a:xfrm xmlns:a="http://schemas.openxmlformats.org/drawingml/2006/main">
            <a:off x="5772150" y="20034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59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84995-4D40-4E59-9F4C-BC606F0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0F995-1920-448D-923A-8CD71276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我们已经做出了什么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4DA03-25DE-4D7A-A2F7-C0A57C6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D922F-C73A-44F6-BEE8-F8137597C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2f115988143c0"/>
          <a:stretch xmlns:a="http://schemas.openxmlformats.org/drawingml/2006/main"/>
        </p:blipFill>
        <p:spPr>
          <a:xfrm xmlns:a="http://schemas.openxmlformats.org/drawingml/2006/main">
            <a:off x="609600" y="1762588"/>
            <a:ext cx="5810250" cy="439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2319D-A470-4521-B403-EC2341D0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自动准备角色剧本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E2232-DE41-48A7-B241-AE486A77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识别旁白与人物对白，形成可编辑分段。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3E570-B097-437B-A030-E4F85E7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人工核对，再开始生成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1B159-F814-443F-AE8F-90D388A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检查人物、音色和语速，确认后合成。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56115-5D9A-43F3-BC8C-37A0C44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每章输出一个完整音频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19EC6-7FB9-4657-A813-9E5894D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按原文顺序拼接，支持 mp3 / wav / flac。</a:t>
            </a:r>
          </a:p>
        </p:txBody>
      </p:sp>
    </p:spTree>
    <p:extLst>
      <p:ext uri="{BB962C8B-B14F-4D97-AF65-F5344CB8AC3E}">
        <p14:creationId xmlns:p14="http://schemas.microsoft.com/office/powerpoint/2010/main" val="1092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2B877-91A5-44C2-872B-8B103AF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7AB79-FF76-4953-B54C-068576F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多角色生成的完整流程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22F35-E564-47B1-B0C2-813C1C7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F8B9B-FC88-4A31-B3CA-10748D201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aa35ef3fd4e4e"/>
          <a:stretch xmlns:a="http://schemas.openxmlformats.org/drawingml/2006/main"/>
        </p:blipFill>
        <p:spPr>
          <a:xfrm xmlns:a="http://schemas.openxmlformats.org/drawingml/2006/main">
            <a:off x="6381750" y="1793363"/>
            <a:ext cx="5200650" cy="3938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277D-22FE-4BBF-95E7-A239C59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读书稿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62137-1CE6-4E53-B81A-FBECD99E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解析章节，绑定书籍指纹。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67E5-EB87-4672-A690-FF99388D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建人物表、拆剧本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9FBDC-307A-48B1-B118-7017C2E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DeepSeek 提议角色、语气与对白边界。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78D7E-9A99-4ABE-9486-24E09C8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对齐原文、人工确认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2397B-FC46-4657-8EA0-AA8D7765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保留来源证据，调整人物与声音。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EBED3-864B-4C17-9BFA-F812AB7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分段合成、质检、合章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8F64F-D7A2-4D1F-AB11-714885B3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MiMo / MiniMax 逐段生成，拼成整章。</a:t>
            </a:r>
          </a:p>
        </p:txBody>
      </p:sp>
    </p:spTree>
    <p:extLst>
      <p:ext uri="{BB962C8B-B14F-4D97-AF65-F5344CB8AC3E}">
        <p14:creationId xmlns:p14="http://schemas.microsoft.com/office/powerpoint/2010/main" val="1520253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F8014-C699-4CDD-B15D-74F86A9C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CCE0E-11B1-442D-85EC-6AB113EF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一句对白如何变成多角色音频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E3922-10BA-4339-B36B-5413109B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5AF5D-AE5C-40EB-9C8D-F04AF05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原文示例：小林推开门：“你来了？”小周答道：“我来了。”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42A21-CF1E-406E-B6B8-05E25F121DBA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4095750"/>
                <a:gridCol w="1905000"/>
                <a:gridCol w="4076700"/>
              </a:tblGrid>
              <a:tr h="5562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朗读内容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谁来读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声音安排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小林推开门：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沉稳旁白音色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“你来了？”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A 音色，疑问语气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小周答道：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“我来了。”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B 音色，平静语气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24AE8-E2CC-4D93-86AA-749C5264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关键：人物与旁白可以切换，正文内容和先后顺序必须保持一致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341718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0F1A1-34CA-4DA2-BF19-46900FE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07826-1B30-469A-BDEF-22C670B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模型负责理解，程序负责守住原文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076A8-3C5E-4FD7-BE28-CE872C1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33D72-1DD3-4401-98DB-596A09485F6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972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做什么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提议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提出角色、分段和语气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利用上下文判断谁在说话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将段落边界映射回原文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避免模型改字、漏句和调换顺序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拼接分段与源章节比较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保证通过校验的文本完整对应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失败降级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重试、抢救，必要时用旁白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保持正文完整，暴露识别不确定性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D6010-57B4-4EAF-9C17-5FFF1967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文本覆盖正确 ≠ 说话人一定正确，角色判断仍需要复核</a:t>
            </a:r>
          </a:p>
        </p:txBody>
      </p:sp>
    </p:spTree>
    <p:extLst>
      <p:ext uri="{BB962C8B-B14F-4D97-AF65-F5344CB8AC3E}">
        <p14:creationId xmlns:p14="http://schemas.microsoft.com/office/powerpoint/2010/main" val="1065461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FE2E-F5EA-4832-A32C-8C4D29B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9DA33-CBF6-42C5-A267-886A262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同一人物在不同章节保持同一身份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39CB7-2C8F-4692-B443-EA671C4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2D420-884F-4F2F-AF50-61372A8B0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852e6aae94639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4DCE8-8A28-44DB-AC7C-7811EFE0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建立全书人物索引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012E1-7D14-408D-A389-D16EF80D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用稳定人物 ID 关联各章角色。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65FBC-3FBF-4767-8400-67A91F3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别名先候选，再确认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EC559-0B75-4D5B-96B2-4A6DA9BA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同名与别名冲突交给人工判断。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60BB6-5395-4CB4-ABE9-B01913C9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留下原文证据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63848-F867-4EB7-81FB-3ED5BB1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段落位置、归属状态、人物声音可追溯。</a:t>
            </a:r>
          </a:p>
        </p:txBody>
      </p:sp>
    </p:spTree>
    <p:extLst>
      <p:ext uri="{BB962C8B-B14F-4D97-AF65-F5344CB8AC3E}">
        <p14:creationId xmlns:p14="http://schemas.microsoft.com/office/powerpoint/2010/main" val="625906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D1EF6-B62A-4E5B-891A-B7DFE84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B1251-8E4C-4896-B22A-A89733F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角色选声与语速校准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1D2E-52D5-442A-93B7-C24F8E6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87DE8-2BEC-4464-8C76-D2EDE261B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f22dba04e4591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F904A-17FD-4C71-B410-4B4DD7B7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给人物分配不同声音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B793-0476-43AB-BF36-33766A5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按语言和人物信息，从音色目录中选声。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BB56B-085C-46F5-AB5C-58FCFA3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用同一段文字比较快慢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4675B-3ACA-46EE-8439-A4C976E3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以旁白时长为基准，回填角色倍率。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4AF28-42E0-4948-A888-AE4F6C2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正式合成前逐角色试听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17894-1157-4D43-8968-1179A018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语气与停顿仍有波动，需要听感确认。</a:t>
            </a:r>
          </a:p>
        </p:txBody>
      </p:sp>
    </p:spTree>
    <p:extLst>
      <p:ext uri="{BB962C8B-B14F-4D97-AF65-F5344CB8AC3E}">
        <p14:creationId xmlns:p14="http://schemas.microsoft.com/office/powerpoint/2010/main" val="1289352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ACF9F-3F90-48CF-A7AC-0A78A33F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58B0-0EF5-44BA-AA60-64F5F21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分段音频如何拼成完整章节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16D9-F19A-4E3B-9ABA-BAE571CC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38532-C425-4414-9A4E-D6010FA7E85A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10000"/>
                <a:gridCol w="5019675"/>
              </a:tblGrid>
              <a:tr h="6781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用户能感受到的作用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逐段合成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每段带自己的角色参数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人物换声时不串音色配置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统一音频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探测格式，统一采样率与声道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不同片段可以稳定拼接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顺序与停顿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按剧本顺序串联 PCM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不乱序，可调整段间间隔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输出章节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最终编码一次，写章节标签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得到可播放的章节音频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A871E-FC21-4062-891E-2294AE40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当前每章输出一个文件；分轨、单文件 M4B 与跨运行缓存属于后续方向</a:t>
            </a:r>
          </a:p>
        </p:txBody>
      </p:sp>
    </p:spTree>
    <p:extLst>
      <p:ext uri="{BB962C8B-B14F-4D97-AF65-F5344CB8AC3E}">
        <p14:creationId xmlns:p14="http://schemas.microsoft.com/office/powerpoint/2010/main" val="2051131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92D2F-278F-4B84-90B4-FC23E31B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983A-071C-4C28-8469-D0E799C3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生成后逐段检测，失败时有限重试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9207-B6AD-48F4-952E-FCE31A03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C53CC-A589-41FD-8F8E-D63CD04F0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a3f323e934661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9CD04-F869-47F3-85E5-F9E1A80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检测语速与音频异常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115C3-C6D3-40DA-92AE-A9700081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统计时长、汉字速率、削顶和静音。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5F8E4-35AC-409C-B884-8E160F9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可选转写核对正文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65DFC-7E8C-41B7-A268-FE61E802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ASR 不可用，明确标记未完整评测。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4B553-C5F5-4AC5-84AB-8D8894D5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MiMo 最多再生成一次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31E9C-FBDC-461D-9B22-74191C3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仍失败保留较好版本，报告给人工复核。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70062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BFE59-BF6D-4334-8202-50034665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10B19-0028-4181-8A12-2068EE3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项目的创新点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5E578-DB08-4A1A-874D-B5A92536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91DD7-DAAB-45E2-8A8B-9F8953E4CC2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设计贡献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直观解释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当前价值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原文约束的剧本生成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让模型做判断，让对齐器核对每段文字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减少剧本改写和漏句风险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带证据的人物与剧本表示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人物有固定身份，每段能找到出处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支撑跨章复用和人工修正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可编辑的声音编排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识别人、选声、合成彼此解耦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可换引擎、调参数和试听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受限音频反馈闭环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检测失败后，只在允许范围内修复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控制重试成本，保留失败证据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DBB68-9B88-4EC2-B0DD-1C1AE56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创新主张需要实验支撑；界面与多引擎接入主要体现系统集成价值</a:t>
            </a:r>
          </a:p>
        </p:txBody>
      </p:sp>
    </p:spTree>
    <p:extLst>
      <p:ext uri="{BB962C8B-B14F-4D97-AF65-F5344CB8AC3E}">
        <p14:creationId xmlns:p14="http://schemas.microsoft.com/office/powerpoint/2010/main" val="1371614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ED415-0B48-4496-97E1-D4B0451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6E208-67AB-451D-8908-F854A219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已实现能力与尚待验证的部分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C2F31-CAEF-4B34-B491-8E231CD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62D3B-A378-4300-B031-0E915FF13CD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562600"/>
              </a:tblGrid>
              <a:tr h="584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已有代码实现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尚未解决或尚未验证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全书人物索引、人工别名合并、音色锁定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自动指代消解的准确率；跨卷一致性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本地对齐、文本覆盖校验、降级策略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说话人归属和语气的金标准评测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逐角色音色与语速配置、试听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基于人耳可区分度的最优选角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逐段音频指标、可选 ASR、有限重试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自然度 MOS、错判率与质量收益实验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/ MiniMax 角色合成与合章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本地克隆引擎角色接入、重叠对白、分轨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894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C01BC-DF6C-4501-84D6-FB3A9CFF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应用方向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484BC-D9F5-4F8F-B8AE-9A8F2BC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应用方向：先让长篇小说更容易听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58571-141E-46F7-BFCA-2DD19C0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C838F-F9C0-41C0-8405-B7F0AF5B0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4a2e0eeda41f0"/>
          <a:stretch xmlns:a="http://schemas.openxmlformats.org/drawingml/2006/main"/>
        </p:blipFill>
        <p:spPr>
          <a:xfrm xmlns:a="http://schemas.openxmlformats.org/drawingml/2006/main">
            <a:off x="1334198" y="1905000"/>
            <a:ext cx="4551555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0956F-1527-4E50-9A96-EBDD722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小说与出版社制作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34A93-48BF-44A6-B310-8DCEADF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旁白和人物分声，形成有声书初稿。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E15EB-4592-4BDC-B138-40681B6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教育与阅读辅助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C7E95-6A6D-4CCB-A2CB-3BCB083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把课文对话变成听读材料；后续补字幕。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EC32C-356B-4140-A675-092E0DBE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有声剧与播客创作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1BA63-6134-4FC5-B8D0-4C294B5B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先产出角色对白；后续补分轨和混音。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2AFE2-C81C-4743-97F8-CF8EE85E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优先验证公版小说与授权内容，再扩展到伴读和专业后期工作流</a:t>
            </a:r>
          </a:p>
        </p:txBody>
      </p:sp>
    </p:spTree>
    <p:extLst>
      <p:ext uri="{BB962C8B-B14F-4D97-AF65-F5344CB8AC3E}">
        <p14:creationId xmlns:p14="http://schemas.microsoft.com/office/powerpoint/2010/main" val="1888222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2312-2724-41E9-8A3B-962446BB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34B7C-A1B7-4380-890E-17F3383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前沿研究正在解决哪些问题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E1C11-3881-4DCC-BBF2-A59C3AA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28AC8-C15E-48AB-BF5D-609C0EE1470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代表成果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与项目的关系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 说话人归属，NAACL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更强的角色判断与评测基线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声音如何可控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Qwen3-TTS，2026.01 技术报告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参考音频克隆与文字描述选声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对白如何自然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DialoSpeech，2025.10 预印本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话轮、重叠与双轨生成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长语音如何可靠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LACI，2026.09 预印本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检测漏读与异常，局部恢复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CEFBC-9A86-4762-8ADC-8D09496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研究成果介绍截至 2026-10-12；论文结果与本项目实测结果分别标注</a:t>
            </a:r>
          </a:p>
        </p:txBody>
      </p:sp>
    </p:spTree>
    <p:extLst>
      <p:ext uri="{BB962C8B-B14F-4D97-AF65-F5344CB8AC3E}">
        <p14:creationId xmlns:p14="http://schemas.microsoft.com/office/powerpoint/2010/main" val="501445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E605E-7E2A-433B-855A-AD31A648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875E8-69A1-48A0-9AAD-F0806E4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说话人识别：LLM 已能利用文学上下文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53F62-0D7B-44DA-90AC-20C5634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46EE987-243D-4107-BCA9-DFD9E073D39D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3341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94642e5d742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89790-55CA-4808-967E-CCFF0ADA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90.6%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3F848-8181-4E04-8455-9B4EA7C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PDNC1 按小说平均准确率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92B9B-72C8-4327-85C7-07B469D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52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启示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用强模型判断人物，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仍需中文与跨书测试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D9BD0-A59B-4298-BD81-A724DFA2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Michel 等，NAACL 2025，Table 1；图中为论文结果，非本项目结果</a:t>
            </a:r>
          </a:p>
        </p:txBody>
      </p:sp>
    </p:spTree>
    <p:extLst>
      <p:ext uri="{BB962C8B-B14F-4D97-AF65-F5344CB8AC3E}">
        <p14:creationId xmlns:p14="http://schemas.microsoft.com/office/powerpoint/2010/main" val="2022208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E398A-89A0-459C-872B-691A1A5F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89EF1-5D1D-4336-849B-92B28E60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可控音色：参考音频与文字描述选声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6EC5-1B97-4728-818B-EC14F0DA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803C2-DF2A-4248-830A-AE7D10D2F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be438c63a4632"/>
          <a:stretch xmlns:a="http://schemas.openxmlformats.org/drawingml/2006/main"/>
        </p:blipFill>
        <p:spPr>
          <a:xfrm xmlns:a="http://schemas.openxmlformats.org/drawingml/2006/main">
            <a:off x="609600" y="2260611"/>
            <a:ext cx="6191250" cy="29749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555CE-01D6-473E-825B-1C8F6841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Qwen3-TTS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616CC-3507-4375-AD4D-53BCBCC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短参考音频克隆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CE8E-6E69-4E2D-906B-52AD4F7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670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用少量声音样本保持角色音色。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AB0D3-1E8D-4FB5-B90F-5EFFBE3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766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文字描述控制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7DDC5-293E-4644-A3BE-0127CFB3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描述人设、声音风格和表现方式。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003A2-C23D-4CA6-BCB2-B72B238B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FE8DE-BAAD-448A-823D-E5945DEA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每个人物绑定固定声音资料，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为本地角色克隆建立接口。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D6746-56D3-4949-894D-078B7B36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Hu 等，Qwen3-TTS Technical Report，2026.01，Fig.1；尚未接入本项目角色链路</a:t>
            </a:r>
          </a:p>
        </p:txBody>
      </p:sp>
    </p:spTree>
    <p:extLst>
      <p:ext uri="{BB962C8B-B14F-4D97-AF65-F5344CB8AC3E}">
        <p14:creationId xmlns:p14="http://schemas.microsoft.com/office/powerpoint/2010/main" val="795881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29317-3B13-4386-B91E-A944914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2921F-D964-4420-BA88-1B32CA4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自然对白：模型开始共同生成两个人的声音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4F667-6FA2-4EA1-AA0F-131D125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F4FD3-8BD8-4700-93C8-D6D1A3308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e624df0b54a97"/>
          <a:stretch xmlns:a="http://schemas.openxmlformats.org/drawingml/2006/main"/>
        </p:blipFill>
        <p:spPr>
          <a:xfrm xmlns:a="http://schemas.openxmlformats.org/drawingml/2006/main">
            <a:off x="609600" y="2926782"/>
            <a:ext cx="6553200" cy="16235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BA3CD-A592-4496-9D1A-E3F2C13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DialoSpeech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02C60-E844-4CF6-8145-3E42887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38766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同时考虑两人的互动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学习接话节奏和重叠发声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让对白更像真实交谈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5A48E-0912-4450-8FEA-CF86DE9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95825"/>
            <a:ext cx="3810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先学习停顿与话轮，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再探索双轨渲染。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A3F1E-E5EF-49EE-8839-310825A1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Xie 等，DialoSpeech，2025.10 预印本，Fig.2；当前项目仍为顺序分段合成</a:t>
            </a:r>
          </a:p>
        </p:txBody>
      </p:sp>
    </p:spTree>
    <p:extLst>
      <p:ext uri="{BB962C8B-B14F-4D97-AF65-F5344CB8AC3E}">
        <p14:creationId xmlns:p14="http://schemas.microsoft.com/office/powerpoint/2010/main" val="1701404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D180D-892D-42C2-8C2A-D460E898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87BA-E897-4CED-A6FC-10AC844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长语音可靠性：检测异常后局部恢复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B4BA6-BE11-4EED-9858-0390EA3E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FD8E0-EE74-4275-9984-18BC965D3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0ceb3791042d7"/>
          <a:stretch xmlns:a="http://schemas.openxmlformats.org/drawingml/2006/main"/>
        </p:blipFill>
        <p:spPr>
          <a:xfrm xmlns:a="http://schemas.openxmlformats.org/drawingml/2006/main">
            <a:off x="609600" y="2593664"/>
            <a:ext cx="6286500" cy="22707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2BA04-9ECD-4044-9A2A-28EBB64B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4171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35.2%  降至  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4A0DE-E593-4AD2-9BE6-6DB24F9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19450"/>
            <a:ext cx="41624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论文中长文本的最坏种子 WER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Qwen3-TTS-0.6B，10 个种子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输入至少 1500 个英文词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66C2D-0FE1-4FB0-A05D-100ACF33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95825"/>
            <a:ext cx="4162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除了测平均质量，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还应关注偶发漏读和音色漂移。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270E1-1DB2-41B7-9F33-CFE1998B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Wang 等，2026.09 预印本，Fig.1 / Table 2；局部恢复需要模型内部访问</a:t>
            </a:r>
          </a:p>
        </p:txBody>
      </p:sp>
    </p:spTree>
    <p:extLst>
      <p:ext uri="{BB962C8B-B14F-4D97-AF65-F5344CB8AC3E}">
        <p14:creationId xmlns:p14="http://schemas.microsoft.com/office/powerpoint/2010/main" val="6699419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90599-E121-4A75-9D16-8AE25A9C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485B2-01F1-46E2-96B1-D3666E0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本项目适合贡献在哪一层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DF27B-602C-41EE-A4BB-B9871CC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70A7D-0D97-4D25-AFC3-5795CFC08D8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研究层次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前沿工作的重点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本项目的切入点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对白归属、指代消解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中文长篇原文约束与证据复核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语音模型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音色克隆、控制与自然对话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统一剧本表示和角色声音配置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生成中检测、注意力约束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黑盒 API 下的逐段检测与受限重试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系统与评测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模型或任务基准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覆盖率、归属、听感和成本联合评测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6D22B-CFBC-4B0C-8634-18ED131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潜在论文主线：原文约束的中文多角色剧本生成，加可复现的端到端评测</a:t>
            </a:r>
          </a:p>
        </p:txBody>
      </p:sp>
    </p:spTree>
    <p:extLst>
      <p:ext uri="{BB962C8B-B14F-4D97-AF65-F5344CB8AC3E}">
        <p14:creationId xmlns:p14="http://schemas.microsoft.com/office/powerpoint/2010/main" val="258036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03D96-ABB9-49F4-A1CB-A56D065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A6AA-CE79-4CCB-8B27-0EF727BB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创新效果需要怎样的实验来证明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917C0-A34E-4629-996D-FA48CAFB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E832E-8530-4845-A21B-A112FBBFDC0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要证明的效果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比较方案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正文完整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覆盖率、改写率、对齐失败率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直接生成 JSON vs 本地对齐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人物判断正确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 Accuracy / macro-F1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规则、单章 LLM、全书人物表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声音稳定且能区分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跨章一致性、听者角色混淆率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轮转选声 vs 距离优化选声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听感更好且成本受控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CER/WER、盲听偏好、重试与成本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无质检、只调速、受限反馈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0FEA3-AA64-4DF3-ABAF-2CD0C46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先做少量公版小说与人工金标准，再按书扩大样本；当前尚无性能提升数据</a:t>
            </a:r>
          </a:p>
        </p:txBody>
      </p:sp>
    </p:spTree>
    <p:extLst>
      <p:ext uri="{BB962C8B-B14F-4D97-AF65-F5344CB8AC3E}">
        <p14:creationId xmlns:p14="http://schemas.microsoft.com/office/powerpoint/2010/main" val="440841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D8B64-1473-47A3-AFE1-0A35A15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51BBF-5A2F-42F8-A1B8-FB53248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落地路线：先补证据，再改善成品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7A533-747F-4010-AF84-628FD41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E69C1-0EC2-421B-93B3-065992D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阶段一  建立小规模评测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7FB92-00DB-46F5-8868-B712B77D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固定模型与配置，标注说话人，记录成本和失败类型。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049DD-2B81-4C6A-B03F-7A4CA087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阶段二  稳定人物与中文读音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95DFA-AE05-4B33-8A95-10F906A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评估并改进别名、跨章复用，加入专名发音处理。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E32E6-28E7-43B1-B655-B381EB22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阶段三  减少重跑与整理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B5A96-3A8B-4638-9190-32A1069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补跨运行缓存和增量重跑，打通 M4B 与章节标记。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DCFAD-90BB-411A-A2D8-22897F0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阶段四  扩展声音表现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C7405-71D1-4B5A-B606-39008DB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接入授权参考音频，研究选角、停顿、字幕与分轨。</a:t>
            </a:r>
          </a:p>
        </p:txBody>
      </p:sp>
    </p:spTree>
    <p:extLst>
      <p:ext uri="{BB962C8B-B14F-4D97-AF65-F5344CB8AC3E}">
        <p14:creationId xmlns:p14="http://schemas.microsoft.com/office/powerpoint/2010/main" val="19240229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EF4EB-D9C3-4D80-85BB-B0C626B1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44B75-12F5-4C8F-BB6D-CF1A3CF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下一阶段的交付目标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F45C4-7857-4BB1-882A-5F3D6873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4F740-FBBD-4376-9A4F-7F53CAD7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一套可演示的多角色制作流程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A118-D944-47D9-9951-05723B2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已有：人物剧本、人工确认、分段合成与音频检测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8B1B3-2CD9-4193-BA69-41FED2F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一份可解释、可复现的实验报告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6A32E-A003-4EB1-AF89-6EE2CCF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待补：说话人金标准、听感评测、消融和成本比较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FB35C-5C20-445E-B281-CB8B677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研究重点：中文长篇中，文字完整、人物稳定、声音可辨</a:t>
            </a:r>
          </a:p>
        </p:txBody>
      </p:sp>
    </p:spTree>
    <p:extLst>
      <p:ext uri="{BB962C8B-B14F-4D97-AF65-F5344CB8AC3E}">
        <p14:creationId xmlns:p14="http://schemas.microsoft.com/office/powerpoint/2010/main" val="3223237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7A2FA-7ED2-4A31-ADA8-DED56BA3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E91C3-1BF3-4E8C-802E-BB89C70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FD7DB-A27E-49D0-9672-A102B47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6C73E-D5DC-4FBC-B8C4-8D7CEA20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DF05-8D70-4769-9F77-C9D90FE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多角色有声书_创新点与落地路线图.docx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当前源码：role_script / core / ui；功能说明：multi_role_tts_mvp.md、role_quality.md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A973-FE6D-4D49-AE2D-4F440D97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研究论文与报告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73455-9854-4733-BCC1-118AF3D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Michel 等，NAACL 2025：文学对白的说话人归属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aclanthology.org/2025.naacl-short.62/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Hu 等，2026：Qwen3-TTS Technical Report   arXiv:2601.15621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Xie 等，2025：DialoSpeech   arXiv:2510.08373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Wang 等，2026：Taming Long-form Text-to-Speech   arXiv:2609.16989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2D81-BDBF-40A1-93C9-AAC70807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论文中的数字均标注实验条件；项目截图来自本机 WebUI 和仓库示例</a:t>
            </a:r>
          </a:p>
        </p:txBody>
      </p:sp>
    </p:spTree>
    <p:extLst>
      <p:ext uri="{BB962C8B-B14F-4D97-AF65-F5344CB8AC3E}">
        <p14:creationId xmlns:p14="http://schemas.microsoft.com/office/powerpoint/2010/main" val="287705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2026-10-12T12:21:38.3510000Z</dcterms:created>
  <dcterms:modified xsi:type="dcterms:W3CDTF">2026-10-12T12:21:38.3510000Z</dcterms:modified>
</coreProperties>
</file>