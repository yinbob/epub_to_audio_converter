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00d24c4b9445d9" /><Relationship Type="http://schemas.openxmlformats.org/officeDocument/2006/relationships/extended-properties" Target="/docProps/app.xml" Id="Rb26d3fa79ad746c2" /><Relationship Type="http://schemas.openxmlformats.org/officeDocument/2006/relationships/officeDocument" Target="/ppt/presentation.xml" Id="R6dfeea75dda54a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e8bf86fcd4ac8"/>
  </p:sldMasterIdLst>
  <p:notesMasterIdLst>
    <p:notesMasterId xmlns:r="http://schemas.openxmlformats.org/officeDocument/2006/relationships" r:id="R4b411251d12245b9"/>
  </p:notesMasterIdLst>
  <p:sldIdLst>
    <p:sldId xmlns:r="http://schemas.openxmlformats.org/officeDocument/2006/relationships" id="256" r:id="R2ddd21fa30794c65"/>
    <p:sldId xmlns:r="http://schemas.openxmlformats.org/officeDocument/2006/relationships" id="257" r:id="Rb0277dd0e61e420f"/>
    <p:sldId xmlns:r="http://schemas.openxmlformats.org/officeDocument/2006/relationships" id="258" r:id="Rfb2749685fa44c82"/>
    <p:sldId xmlns:r="http://schemas.openxmlformats.org/officeDocument/2006/relationships" id="259" r:id="Ref2aaebacaa84533"/>
    <p:sldId xmlns:r="http://schemas.openxmlformats.org/officeDocument/2006/relationships" id="260" r:id="R99094043427d4a0f"/>
    <p:sldId xmlns:r="http://schemas.openxmlformats.org/officeDocument/2006/relationships" id="261" r:id="Rea7bb5a6ff0245d5"/>
    <p:sldId xmlns:r="http://schemas.openxmlformats.org/officeDocument/2006/relationships" id="262" r:id="R7567fffe34874004"/>
    <p:sldId xmlns:r="http://schemas.openxmlformats.org/officeDocument/2006/relationships" id="263" r:id="R64c3fa84bd0c4203"/>
    <p:sldId xmlns:r="http://schemas.openxmlformats.org/officeDocument/2006/relationships" id="264" r:id="R0dd79ae9c209452e"/>
    <p:sldId xmlns:r="http://schemas.openxmlformats.org/officeDocument/2006/relationships" id="265" r:id="Rad8309b66cb944c6"/>
    <p:sldId xmlns:r="http://schemas.openxmlformats.org/officeDocument/2006/relationships" id="266" r:id="Ra9a3cd819e4d4a48"/>
    <p:sldId xmlns:r="http://schemas.openxmlformats.org/officeDocument/2006/relationships" id="267" r:id="R88300a7afa154863"/>
    <p:sldId xmlns:r="http://schemas.openxmlformats.org/officeDocument/2006/relationships" id="268" r:id="Rad050a72697440a3"/>
    <p:sldId xmlns:r="http://schemas.openxmlformats.org/officeDocument/2006/relationships" id="269" r:id="Ra2480b176b9041a2"/>
    <p:sldId xmlns:r="http://schemas.openxmlformats.org/officeDocument/2006/relationships" id="270" r:id="R0d540b230e244264"/>
    <p:sldId xmlns:r="http://schemas.openxmlformats.org/officeDocument/2006/relationships" id="271" r:id="Re87071a6113c4f19"/>
    <p:sldId xmlns:r="http://schemas.openxmlformats.org/officeDocument/2006/relationships" id="272" r:id="R27fe1321bac14e9f"/>
    <p:sldId xmlns:r="http://schemas.openxmlformats.org/officeDocument/2006/relationships" id="273" r:id="R91e944833b8a4105"/>
    <p:sldId xmlns:r="http://schemas.openxmlformats.org/officeDocument/2006/relationships" id="274" r:id="Ra6f271063406441c"/>
    <p:sldId xmlns:r="http://schemas.openxmlformats.org/officeDocument/2006/relationships" id="275" r:id="R517d528253c7491f"/>
    <p:sldId xmlns:r="http://schemas.openxmlformats.org/officeDocument/2006/relationships" id="276" r:id="Rfd8a6ec5d30c4096"/>
    <p:sldId xmlns:r="http://schemas.openxmlformats.org/officeDocument/2006/relationships" id="277" r:id="R308a2279268045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31adcbf4fd45fa" /><Relationship Type="http://schemas.openxmlformats.org/officeDocument/2006/relationships/slideMaster" Target="/ppt/slideMasters/slideMaster1.xml" Id="Rbd3e8bf86fcd4ac8" /><Relationship Type="http://schemas.openxmlformats.org/officeDocument/2006/relationships/notesMaster" Target="/ppt/notesMasters/notesMaster1.xml" Id="R4b411251d12245b9" /><Relationship Type="http://schemas.openxmlformats.org/officeDocument/2006/relationships/presProps" Target="/ppt/presProps.xml" Id="R6a193927b9d94185" /><Relationship Type="http://schemas.openxmlformats.org/officeDocument/2006/relationships/tableStyles" Target="/ppt/tableStyles.xml" Id="R32e2bb3c502e417e" /><Relationship Type="http://schemas.openxmlformats.org/officeDocument/2006/relationships/slide" Target="/ppt/slides/slide1.xml" Id="R2ddd21fa30794c65" /><Relationship Type="http://schemas.openxmlformats.org/officeDocument/2006/relationships/slide" Target="/ppt/slides/slide2.xml" Id="Rb0277dd0e61e420f" /><Relationship Type="http://schemas.openxmlformats.org/officeDocument/2006/relationships/slide" Target="/ppt/slides/slide3.xml" Id="Rfb2749685fa44c82" /><Relationship Type="http://schemas.openxmlformats.org/officeDocument/2006/relationships/slide" Target="/ppt/slides/slide4.xml" Id="Ref2aaebacaa84533" /><Relationship Type="http://schemas.openxmlformats.org/officeDocument/2006/relationships/slide" Target="/ppt/slides/slide5.xml" Id="R99094043427d4a0f" /><Relationship Type="http://schemas.openxmlformats.org/officeDocument/2006/relationships/slide" Target="/ppt/slides/slide6.xml" Id="Rea7bb5a6ff0245d5" /><Relationship Type="http://schemas.openxmlformats.org/officeDocument/2006/relationships/slide" Target="/ppt/slides/slide7.xml" Id="R7567fffe34874004" /><Relationship Type="http://schemas.openxmlformats.org/officeDocument/2006/relationships/slide" Target="/ppt/slides/slide8.xml" Id="R64c3fa84bd0c4203" /><Relationship Type="http://schemas.openxmlformats.org/officeDocument/2006/relationships/slide" Target="/ppt/slides/slide9.xml" Id="R0dd79ae9c209452e" /><Relationship Type="http://schemas.openxmlformats.org/officeDocument/2006/relationships/slide" Target="/ppt/slides/slide10.xml" Id="Rad8309b66cb944c6" /><Relationship Type="http://schemas.openxmlformats.org/officeDocument/2006/relationships/slide" Target="/ppt/slides/slide11.xml" Id="Ra9a3cd819e4d4a48" /><Relationship Type="http://schemas.openxmlformats.org/officeDocument/2006/relationships/slide" Target="/ppt/slides/slide12.xml" Id="R88300a7afa154863" /><Relationship Type="http://schemas.openxmlformats.org/officeDocument/2006/relationships/slide" Target="/ppt/slides/slide13.xml" Id="Rad050a72697440a3" /><Relationship Type="http://schemas.openxmlformats.org/officeDocument/2006/relationships/slide" Target="/ppt/slides/slide14.xml" Id="Ra2480b176b9041a2" /><Relationship Type="http://schemas.openxmlformats.org/officeDocument/2006/relationships/slide" Target="/ppt/slides/slide15.xml" Id="R0d540b230e244264" /><Relationship Type="http://schemas.openxmlformats.org/officeDocument/2006/relationships/slide" Target="/ppt/slides/slide16.xml" Id="Re87071a6113c4f19" /><Relationship Type="http://schemas.openxmlformats.org/officeDocument/2006/relationships/slide" Target="/ppt/slides/slide17.xml" Id="R27fe1321bac14e9f" /><Relationship Type="http://schemas.openxmlformats.org/officeDocument/2006/relationships/slide" Target="/ppt/slides/slide18.xml" Id="R91e944833b8a4105" /><Relationship Type="http://schemas.openxmlformats.org/officeDocument/2006/relationships/slide" Target="/ppt/slides/slide19.xml" Id="Ra6f271063406441c" /><Relationship Type="http://schemas.openxmlformats.org/officeDocument/2006/relationships/slide" Target="/ppt/slides/slide20.xml" Id="R517d528253c7491f" /><Relationship Type="http://schemas.openxmlformats.org/officeDocument/2006/relationships/slide" Target="/ppt/slides/slide21.xml" Id="Rfd8a6ec5d30c4096" /><Relationship Type="http://schemas.openxmlformats.org/officeDocument/2006/relationships/slide" Target="/ppt/slides/slide22.xml" Id="R308a2279268045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359fb9ecf74d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1f8b84864d43be" /><Relationship Type="http://schemas.openxmlformats.org/officeDocument/2006/relationships/notesMaster" Target="/ppt/notesMasters/notesMaster1.xml" Id="R4faeaac3d9db40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34d11da4c64122" /><Relationship Type="http://schemas.openxmlformats.org/officeDocument/2006/relationships/notesMaster" Target="/ppt/notesMasters/notesMaster1.xml" Id="R8265b0ee8d354d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f636c5f8e2498c" /><Relationship Type="http://schemas.openxmlformats.org/officeDocument/2006/relationships/notesMaster" Target="/ppt/notesMasters/notesMaster1.xml" Id="Rac669c27153843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9d5541718d4af9" /><Relationship Type="http://schemas.openxmlformats.org/officeDocument/2006/relationships/notesMaster" Target="/ppt/notesMasters/notesMaster1.xml" Id="R5f441824e70645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925bd632834b48" /><Relationship Type="http://schemas.openxmlformats.org/officeDocument/2006/relationships/notesMaster" Target="/ppt/notesMasters/notesMaster1.xml" Id="R536e9f9a11b34d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f5177aee044121" /><Relationship Type="http://schemas.openxmlformats.org/officeDocument/2006/relationships/notesMaster" Target="/ppt/notesMasters/notesMaster1.xml" Id="R45b9cc9674d642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aeacc6915b4e8f" /><Relationship Type="http://schemas.openxmlformats.org/officeDocument/2006/relationships/notesMaster" Target="/ppt/notesMasters/notesMaster1.xml" Id="Rc531dfc0ff6843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2ad4e21cd34864" /><Relationship Type="http://schemas.openxmlformats.org/officeDocument/2006/relationships/notesMaster" Target="/ppt/notesMasters/notesMaster1.xml" Id="R7d5d7aea7a0a46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c8fdf4a1bd4a85" /><Relationship Type="http://schemas.openxmlformats.org/officeDocument/2006/relationships/notesMaster" Target="/ppt/notesMasters/notesMaster1.xml" Id="R7d2a2e271eae4d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19da659e4543b3" /><Relationship Type="http://schemas.openxmlformats.org/officeDocument/2006/relationships/notesMaster" Target="/ppt/notesMasters/notesMaster1.xml" Id="R945b1645d78d45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23f54822bc4747" /><Relationship Type="http://schemas.openxmlformats.org/officeDocument/2006/relationships/notesMaster" Target="/ppt/notesMasters/notesMaster1.xml" Id="R620f7ad1ee6e4f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62e61f77e04b47" /><Relationship Type="http://schemas.openxmlformats.org/officeDocument/2006/relationships/notesMaster" Target="/ppt/notesMasters/notesMaster1.xml" Id="R4f3e92252d224c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e4a8860c774d20" /><Relationship Type="http://schemas.openxmlformats.org/officeDocument/2006/relationships/notesMaster" Target="/ppt/notesMasters/notesMaster1.xml" Id="Rcbd3602f572349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f51cf9b6e2417a" /><Relationship Type="http://schemas.openxmlformats.org/officeDocument/2006/relationships/notesMaster" Target="/ppt/notesMasters/notesMaster1.xml" Id="Rd97def7ba36e48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bb4c1e29c24b2d" /><Relationship Type="http://schemas.openxmlformats.org/officeDocument/2006/relationships/notesMaster" Target="/ppt/notesMasters/notesMaster1.xml" Id="R2f3223a04a584c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f02ba775d54a1d" /><Relationship Type="http://schemas.openxmlformats.org/officeDocument/2006/relationships/notesMaster" Target="/ppt/notesMasters/notesMaster1.xml" Id="R86af831e4f1745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4d981a83d04825" /><Relationship Type="http://schemas.openxmlformats.org/officeDocument/2006/relationships/notesMaster" Target="/ppt/notesMasters/notesMaster1.xml" Id="Ra8828f4064f34e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dc67b39f204956" /><Relationship Type="http://schemas.openxmlformats.org/officeDocument/2006/relationships/notesMaster" Target="/ppt/notesMasters/notesMaster1.xml" Id="Rfca1d3328a9048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99f6e5dfca4e06" /><Relationship Type="http://schemas.openxmlformats.org/officeDocument/2006/relationships/notesMaster" Target="/ppt/notesMasters/notesMaster1.xml" Id="R02119d6e241140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87e550f2be4dfd" /><Relationship Type="http://schemas.openxmlformats.org/officeDocument/2006/relationships/notesMaster" Target="/ppt/notesMasters/notesMaster1.xml" Id="R0b661a0e44c540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1fb7dd45de4799" /><Relationship Type="http://schemas.openxmlformats.org/officeDocument/2006/relationships/notesMaster" Target="/ppt/notesMasters/notesMaster1.xml" Id="R73ea7c27392142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3ea6160c3447aa" /><Relationship Type="http://schemas.openxmlformats.org/officeDocument/2006/relationships/notesMaster" Target="/ppt/notesMasters/notesMaster1.xml" Id="Rdd3af607c5854d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角色模式目前限制为单本书、MiMo/MiniMax。截图展示真实界面的空项目配置，不代表已生成的成品或实验结果。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代码：web_ui.auto_split_role_script，v2_generation.generate_v2_for_book，core/audiobook_generator.py。全书索引分析未选章节需要界面知情勾选。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本页是自编教学示例，未调用真实语音 API。段间默认停顿 250ms，可由每段覆盖，最后一段不加尾部静音。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_reconcile_segments 用 NFKC 与源字符索引映射匹配原文；失败后有限重试、宽松对齐、旁白兜底。覆盖校验是规范化一致性，不能证明说话人或语气正确。V2 exact_segments 重新切源文本并保存 source_span。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代码：v2_generation.py、review.py、project_store.py。稳定实体 ID、原文区间与证据；人工合并实体、锁音色。existing_entity_id 仅作为候选，不能据此自动合并。项目按书籍指纹保存，不等同于系列跨卷实体链接已经完成。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选角目前按语言、性别等启发式分配与去重轮转，不是感知距离优化。pace_calibration.py 同文测时长，speed = 角色原始时长 / (旁白原始时长 / 旁白倍率)，限 0.25..4。MiMo 使用后处理 atempo；MiniMax 由服务端变速。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代码：role_script/audio_pipeline.py。ffprobe 探测实际容器、采样率、声道和时长；解码 PCM 后以首段参数为基准，MiMo atempo 后处理，按段插静音，最终仅编码一次、写标签。当前段缓存位于章节临时目录，非跨运行持久缓存。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依据 docs/role_quality.md 与 audio_quality.py。质量检测默认关闭。CER/WER 由可选本地 ASR 得到，只是可辨识度代理。MiMo failed 段最多再生成一次；too_fast 会降倍率；DeepSeek 只选受限提示补丁。MiniMax 仅检测。4.3 为可调工程起始阈值，非听感标准。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这些是当前系统的可辩护设计贡献。是否具有论文级新颖性、是否优于已有方法，仍需相关工作比较与实验，不宣称首创或已证实性能提升。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当前代码存在实现与测试，不代表已有学术数据集结果。路线图中“没有全局实体层”和“评测完全缺失”的描述已部分过时；当前有 V2 实体持久化与音频 QA，但仍缺大规模说话人归属与人耳评测。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图片为仓库 examples/audiobookshelf.png，展示下游媒体库应用，不代表一键入库已接线。教育伴读字幕、角色分轨与播客混音均为扩展设想。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llama: https://aclanthology.org/2025.naacl-short.62/</a:t>
            </a:r>
          </a:p>
          <a:p xmlns:a="http://schemas.openxmlformats.org/drawingml/2006/main">
            <a:r>
              <a:t>qwen: https://arxiv.org/abs/2601.15621</a:t>
            </a:r>
          </a:p>
          <a:p xmlns:a="http://schemas.openxmlformats.org/drawingml/2006/main">
            <a:r>
              <a:t>dialo: https://arxiv.org/abs/2510.08373</a:t>
            </a:r>
          </a:p>
          <a:p xmlns:a="http://schemas.openxmlformats.org/drawingml/2006/main">
            <a:r>
              <a:t>laci: https://arxiv.org/abs/2609.16989</a:t>
            </a:r>
          </a:p>
          <a:p xmlns:a="http://schemas.openxmlformats.org/drawingml/2006/main">
            <a:r>
              <a:t>检索截止 2026-10-12。NAACL 2025 为会议论文；其余以所引用 arXiv 预印本/技术报告版本介绍。不是论文全领域穷尽综述。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https://aclanthology.org/2025.naacl-short.62/</a:t>
            </a:r>
          </a:p>
          <a:p xmlns:a="http://schemas.openxmlformats.org/drawingml/2006/main">
            <a:r>
              <a:t>Michel et al., NAACL 2025，Table 1。两组分别为 PDNC1 和 PDNC2 的按小说平均归属准确率；Llama-3 8B 为 90.6 / 88.5，BookNLP+ 为 78.5 / 79.2。比较的是原论文设置，非中文、非本项目性能。论文另以记忆和污染检查审视结果。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Qwen3-TTS Technical Report，2026-01-22；图为 Fig.1 原图。报告支持 3 秒参考音频克隆、描述创建或控制音色、10 种语言。具体能力与模型变体有关，不代表任何变体都支持全部功能。项目现有 Qwen Provider 不等同于已接入 Qwen3-TTS 角色模式。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DialoSpeech，2025-10-09 arXiv 预印本，Fig.2。双轨架构结合 LLM 与 Chunked Flow Matching，支持中英、多轮对话与自然重叠。双说话人研究不等同于任意多角色长篇小说。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https://arxiv.org/abs/2609.16989</a:t>
            </a:r>
          </a:p>
          <a:p xmlns:a="http://schemas.openxmlformats.org/drawingml/2006/main">
            <a:r>
              <a:t>Wang et al., Taming Long-form Text-to-Speech，2026-09-15 arXiv v1。图 Fig.1。Table 2 对 Qwen3-TTS-0.6B 在 AppTek 数据 &gt;=1500 words、10 个随机种子、worst-of-N WER：35.2% 降为 3.4%。并非平均 WER、并非有声书或本项目实验。LACI 读取模型注意力，商业黑盒 API 不能直接复用。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研究定位为建议：在现成 NLP/TTS 能力之上，研究有原文约束、有证据、可审阅、可评测的中文长篇多角色编排。不能仅凭系统实现宣称超越前沿模型。相关来源：https://aclanthology.org/2025.naacl-short.62/</a:t>
            </a:r>
          </a:p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https://arxiv.org/abs/2609.16989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本页是实验设计，所有指标为待测，不是结果。评测先按书划分训练/测试或开发/测试，避免同书片段泄漏，报告置信区间。语速校准、QA feedback、实体层分别做消融。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为建议阶段顺序，不是承诺工期。持久缓存、M4B、字幕、角色分轨等沿用用户路线图规划，不表述为已经完成。角色参考音频使用需获得授权。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论文链接与各页备注均保留。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4502d5f504b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6d593d80f41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732f2addb49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4fc56783f42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8be7c8f8c41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97dee6420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B8AE6C-A8E0-4345-97C1-75217885E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C3484E-F94C-4295-B219-272683D344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770D91-C0D0-4AE2-908C-54D562738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0AD46F-3628-4D1A-9C97-1E99BEFE0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9D004C-EE39-4121-A7EF-36293DFA30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BB953B-CE12-4A21-ACC9-77C37EDFB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C4FCD4-2740-4B4C-A185-2307DBB30E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39FA54-0C42-4195-BAFE-D93DE7B248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D9BF1A-0914-41D5-A286-F280530DA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3EB6B8-4043-4822-8829-53B4C46DB1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d87e34bf764c59" /><Relationship Type="http://schemas.openxmlformats.org/officeDocument/2006/relationships/slideLayout" Target="/ppt/slideLayouts/slideLayout1.xml" Id="R1c282927b1214c03" /><Relationship Type="http://schemas.openxmlformats.org/officeDocument/2006/relationships/slideLayout" Target="/ppt/slideLayouts/slideLayout2.xml" Id="R0435e495042449bc" /><Relationship Type="http://schemas.openxmlformats.org/officeDocument/2006/relationships/slideLayout" Target="/ppt/slideLayouts/slideLayout3.xml" Id="Rdcf3ae7072864181" /><Relationship Type="http://schemas.openxmlformats.org/officeDocument/2006/relationships/slideLayout" Target="/ppt/slideLayouts/slideLayout4.xml" Id="Reea86aa0a25d49ae" /><Relationship Type="http://schemas.openxmlformats.org/officeDocument/2006/relationships/slideLayout" Target="/ppt/slideLayouts/slideLayout5.xml" Id="R5da21c93a2f847af" /><Relationship Type="http://schemas.openxmlformats.org/officeDocument/2006/relationships/slideLayout" Target="/ppt/slideLayouts/slideLayout6.xml" Id="R7d458eba890e4d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282927b1214c03"/>
    <p:sldLayoutId xmlns:r="http://schemas.openxmlformats.org/officeDocument/2006/relationships" id="2147483650" r:id="R0435e495042449bc"/>
    <p:sldLayoutId xmlns:r="http://schemas.openxmlformats.org/officeDocument/2006/relationships" id="2147483651" r:id="Rdcf3ae7072864181"/>
    <p:sldLayoutId xmlns:r="http://schemas.openxmlformats.org/officeDocument/2006/relationships" id="2147483652" r:id="Reea86aa0a25d49ae"/>
    <p:sldLayoutId xmlns:r="http://schemas.openxmlformats.org/officeDocument/2006/relationships" id="2147483653" r:id="R5da21c93a2f847af"/>
    <p:sldLayoutId xmlns:r="http://schemas.openxmlformats.org/officeDocument/2006/relationships" id="2147483654" r:id="R7d458eba890e4d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45c2c360a491e" /><Relationship Type="http://schemas.openxmlformats.org/officeDocument/2006/relationships/image" Target="/ppt/media/image.jpeg" Id="R1ab8718cf6e24384" /><Relationship Type="http://schemas.openxmlformats.org/officeDocument/2006/relationships/notesSlide" Target="/ppt/notesSlides/notesSlide1.xml" Id="R017b2fdd7b724b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bcd188c774ffa" /><Relationship Type="http://schemas.openxmlformats.org/officeDocument/2006/relationships/image" Target="/ppt/media/image.png" Id="R790ba3d093ad4a04" /><Relationship Type="http://schemas.openxmlformats.org/officeDocument/2006/relationships/notesSlide" Target="/ppt/notesSlides/notesSlide2.xml" Id="R415f282d624a4e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9ace8e6dd4e66" /><Relationship Type="http://schemas.openxmlformats.org/officeDocument/2006/relationships/image" Target="/ppt/media/image2.png" Id="R7a2c727a37e340c0" /><Relationship Type="http://schemas.openxmlformats.org/officeDocument/2006/relationships/notesSlide" Target="/ppt/notesSlides/notesSlide3.xml" Id="R100ea13e869f4f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17f490ab848fd" /><Relationship Type="http://schemas.openxmlformats.org/officeDocument/2006/relationships/notesSlide" Target="/ppt/notesSlides/notesSlide4.xml" Id="Rcdceebad70cd49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5b785099b4bdf" /><Relationship Type="http://schemas.openxmlformats.org/officeDocument/2006/relationships/notesSlide" Target="/ppt/notesSlides/notesSlide5.xml" Id="R8690db7d4e2e4d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004c1691b4704" /><Relationship Type="http://schemas.openxmlformats.org/officeDocument/2006/relationships/image" Target="/ppt/media/image3.png" Id="R1e42403327d14bf1" /><Relationship Type="http://schemas.openxmlformats.org/officeDocument/2006/relationships/notesSlide" Target="/ppt/notesSlides/notesSlide6.xml" Id="Re8552e8d35db4e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a5a68c4964ef0" /><Relationship Type="http://schemas.openxmlformats.org/officeDocument/2006/relationships/image" Target="/ppt/media/image4.png" Id="Rd8d0770b7f9c47c5" /><Relationship Type="http://schemas.openxmlformats.org/officeDocument/2006/relationships/notesSlide" Target="/ppt/notesSlides/notesSlide7.xml" Id="R41ef3b9fc45a41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d2568145347c1" /><Relationship Type="http://schemas.openxmlformats.org/officeDocument/2006/relationships/notesSlide" Target="/ppt/notesSlides/notesSlide8.xml" Id="Rdaf4bdc7804349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a8bc9728a45b8" /><Relationship Type="http://schemas.openxmlformats.org/officeDocument/2006/relationships/image" Target="/ppt/media/image5.png" Id="R729e3a83beb84a3a" /><Relationship Type="http://schemas.openxmlformats.org/officeDocument/2006/relationships/notesSlide" Target="/ppt/notesSlides/notesSlide9.xml" Id="R236097a2134c4d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3be5fc0e14ed8" /><Relationship Type="http://schemas.openxmlformats.org/officeDocument/2006/relationships/notesSlide" Target="/ppt/notesSlides/notesSlide10.xml" Id="R733fa9e4855148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35fd13f174a06" /><Relationship Type="http://schemas.openxmlformats.org/officeDocument/2006/relationships/notesSlide" Target="/ppt/notesSlides/notesSlide11.xml" Id="R06ab8db3de9544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40089b4ac433c" /><Relationship Type="http://schemas.openxmlformats.org/officeDocument/2006/relationships/image" Target="/ppt/media/image6.png" Id="R038e4e2c7ab34782" /><Relationship Type="http://schemas.openxmlformats.org/officeDocument/2006/relationships/notesSlide" Target="/ppt/notesSlides/notesSlide12.xml" Id="R0ad4d583f2214a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78082ce33402a" /><Relationship Type="http://schemas.openxmlformats.org/officeDocument/2006/relationships/notesSlide" Target="/ppt/notesSlides/notesSlide13.xml" Id="Rc552d76585c546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5c20407c2a44ed" /><Relationship Type="http://schemas.openxmlformats.org/officeDocument/2006/relationships/chart" Target="/ppt/slides/charts/chart1.xml" Id="R54770694e8db49ce" /><Relationship Type="http://schemas.openxmlformats.org/officeDocument/2006/relationships/notesSlide" Target="/ppt/notesSlides/notesSlide14.xml" Id="R517e50ccf62147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766b84f4343e4" /><Relationship Type="http://schemas.openxmlformats.org/officeDocument/2006/relationships/image" Target="/ppt/media/image7.png" Id="R098edb6ae73e463c" /><Relationship Type="http://schemas.openxmlformats.org/officeDocument/2006/relationships/notesSlide" Target="/ppt/notesSlides/notesSlide15.xml" Id="Rda4bfc711b8246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aff6e9d8e4cf8" /><Relationship Type="http://schemas.openxmlformats.org/officeDocument/2006/relationships/image" Target="/ppt/media/image8.png" Id="R4a15aa0234ab4e0d" /><Relationship Type="http://schemas.openxmlformats.org/officeDocument/2006/relationships/notesSlide" Target="/ppt/notesSlides/notesSlide16.xml" Id="R7aef33dee7f34d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0014ecdfc429c" /><Relationship Type="http://schemas.openxmlformats.org/officeDocument/2006/relationships/image" Target="/ppt/media/image9.png" Id="Ra2ae0295a9ef4e43" /><Relationship Type="http://schemas.openxmlformats.org/officeDocument/2006/relationships/notesSlide" Target="/ppt/notesSlides/notesSlide17.xml" Id="R62c792aa88e748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a8eb67ed949b4" /><Relationship Type="http://schemas.openxmlformats.org/officeDocument/2006/relationships/notesSlide" Target="/ppt/notesSlides/notesSlide18.xml" Id="R484d296c073b41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091df558e84795" /><Relationship Type="http://schemas.openxmlformats.org/officeDocument/2006/relationships/notesSlide" Target="/ppt/notesSlides/notesSlide19.xml" Id="R3b8ef2bc044c44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f54b2eb564bbe" /><Relationship Type="http://schemas.openxmlformats.org/officeDocument/2006/relationships/notesSlide" Target="/ppt/notesSlides/notesSlide20.xml" Id="R946789ab80144f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01e2f4daf4e66" /><Relationship Type="http://schemas.openxmlformats.org/officeDocument/2006/relationships/notesSlide" Target="/ppt/notesSlides/notesSlide21.xml" Id="R6fa565d679f041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9e376d8a14710" /><Relationship Type="http://schemas.openxmlformats.org/officeDocument/2006/relationships/notesSlide" Target="/ppt/notesSlides/notesSlide22.xml" Id="R2abe38aafba044d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BookNLP+</c:v>
          </c:tx>
          <c:spPr>
            <a:solidFill xmlns:a="http://schemas.openxmlformats.org/drawingml/2006/main">
              <a:srgbClr val="A5B6D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PDNC1</c:v>
                </c:pt>
                <c:pt idx="1">
                  <c:v>PDNC2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78.5</c:v>
                </c:pt>
                <c:pt idx="1">
                  <c:v>79.2</c:v>
                </c:pt>
              </c:numCache>
            </c:numRef>
          </c:val>
        </c:ser>
        <c:ser>
          <c:idx val="1"/>
          <c:order val="1"/>
          <c:tx>
            <c:v>Llama-3 8B</c:v>
          </c:tx>
          <c:spPr>
            <a:solidFill xmlns:a="http://schemas.openxmlformats.org/drawingml/2006/main">
              <a:srgbClr val="235CDD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PDNC1</c:v>
                </c:pt>
                <c:pt idx="1">
                  <c:v>PDNC2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90.6</c:v>
                </c:pt>
                <c:pt idx="1">
                  <c:v>88.5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ingFang SC"/>
              <a:ea typeface="PingFang SC"/>
              <a:cs typeface="PingFang SC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678BB-EE9B-4F87-B114-AD90F0D4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8D866-741C-417B-8834-63B74BBF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154E-7CD4-4825-AF37-0C632E53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35E1D-1831-461E-9447-D4E87232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实现逻辑、创新点与研究方向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91629-C383-4718-8528-84625216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让旁白和人物拥有各自的声音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640B2-EE92-4178-B425-912C4FD3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EPUB / DOC / DOCX</a:t>
            </a:r>
          </a:p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DeepSeek + MiMo / MiniMax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DBD61-2A0C-4C74-94CD-534F6196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2026 年 10 月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B81D8-AD84-4B28-8A89-B49D0A74F2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8718cf6e24384"/>
          <a:stretch xmlns:a="http://schemas.openxmlformats.org/drawingml/2006/main"/>
        </p:blipFill>
        <p:spPr>
          <a:xfrm xmlns:a="http://schemas.openxmlformats.org/drawingml/2006/main">
            <a:off x="5772150" y="2003412"/>
            <a:ext cx="5810250" cy="327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62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F1C7E-6920-4F3C-B5D6-915AE5EB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1B1A4-CEBF-40C5-B279-B6FBC8BF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我们已经做出了什么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FAB16-C62A-4B15-9C64-CE11288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B9635-CD06-4A43-B9AE-A8FDF021A8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ba3d093ad4a04"/>
          <a:stretch xmlns:a="http://schemas.openxmlformats.org/drawingml/2006/main"/>
        </p:blipFill>
        <p:spPr>
          <a:xfrm xmlns:a="http://schemas.openxmlformats.org/drawingml/2006/main">
            <a:off x="609600" y="1762588"/>
            <a:ext cx="5810250" cy="439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EB90B-6256-45D8-BE94-851D34ED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85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自动准备角色剧本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19BEF-289F-4BE7-BD3C-C7FD647F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识别旁白与人物对白，形成可编辑分段。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1E9FE-8B99-49DC-9C32-0005B8B9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38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人工核对，再开始生成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5214A-11A7-42FD-8C6D-6239B7CC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检查人物、音色和语速，确认后合成。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85A23-250C-43B2-A2DC-DFE95036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每章输出一个完整音频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3F84B-1C04-4883-BA62-BA2F59D0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按原文顺序拼接，支持 mp3 / wav / flac。</a:t>
            </a:r>
          </a:p>
        </p:txBody>
      </p:sp>
    </p:spTree>
    <p:extLst>
      <p:ext uri="{BB962C8B-B14F-4D97-AF65-F5344CB8AC3E}">
        <p14:creationId xmlns:p14="http://schemas.microsoft.com/office/powerpoint/2010/main" val="701121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EB100-C40F-4BAF-A115-B539E5A6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EA46C-6DFA-4A8C-B607-D422C88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多角色生成的完整流程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4B115-8C2C-4B85-B722-BFC92501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7B389-8053-4269-A7FB-17FF6FDDF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c727a37e340c0"/>
          <a:stretch xmlns:a="http://schemas.openxmlformats.org/drawingml/2006/main"/>
        </p:blipFill>
        <p:spPr>
          <a:xfrm xmlns:a="http://schemas.openxmlformats.org/drawingml/2006/main">
            <a:off x="6381750" y="1793363"/>
            <a:ext cx="5200650" cy="3938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FF817-7E3A-4CE8-8757-DF4306C5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读书稿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B8246-6559-4A79-BE60-DC6599E9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解析章节，绑定书籍指纹。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D546D-E648-4796-81C8-B12A0A0F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建人物表、拆剧本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B16B5-61D8-4F92-9AA1-1E6C0831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DeepSeek 提议角色、语气与对白边界。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6AE98-57DE-4C9B-91FA-1CEC64B1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对齐原文、人工确认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26879-A800-4812-B6EE-E3BD2EB5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保留来源证据，调整人物与声音。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0AE9A-0BDF-4518-8629-B653537D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分段合成、质检、合章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0D98E-020C-4600-931F-0213922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MiMo / MiniMax 逐段生成，拼成整章。</a:t>
            </a:r>
          </a:p>
        </p:txBody>
      </p:sp>
    </p:spTree>
    <p:extLst>
      <p:ext uri="{BB962C8B-B14F-4D97-AF65-F5344CB8AC3E}">
        <p14:creationId xmlns:p14="http://schemas.microsoft.com/office/powerpoint/2010/main" val="1743404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E0795-82FC-44C7-B25B-0863C99A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CEA53-49A0-4F55-BC2C-8A08E4CA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一句对白如何变成多角色音频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87DF7-E4DB-420F-A7AF-F4051D80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DF3B0-82E6-4F20-BEB7-9AB66F2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原文示例：小林推开门：“你来了？”小周答道：“我来了。”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4FA09-4CB8-4CEF-95D5-642085AAB58D}"/>
              </a:ext>
            </a:extLst>
          </p:cNvPr>
          <p:cNvGraphicFramePr/>
          <p:nvPr/>
        </p:nvGraphicFramePr>
        <p:xfrm>
          <a:off xmlns:a="http://schemas.openxmlformats.org/drawingml/2006/main" x="609600" y="2743200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4095750"/>
                <a:gridCol w="1905000"/>
                <a:gridCol w="4076700"/>
              </a:tblGrid>
              <a:tr h="5562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顺序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朗读内容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谁来读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声音安排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小林推开门：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沉稳旁白音色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“你来了？”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A 音色，疑问语气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小周答道：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“我来了。”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B 音色，平静语气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36714-AA5A-4464-A24D-782A7430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关键：人物与旁白可以切换，正文内容和先后顺序必须保持一致</a:t>
            </a:r>
          </a:p>
        </p:txBody>
      </p:sp>
    </p:spTree>
    <p:extLst>
      <p:ext uri="{BB962C8B-B14F-4D97-AF65-F5344CB8AC3E}">
        <p14:creationId xmlns:p14="http://schemas.microsoft.com/office/powerpoint/2010/main" val="20706443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E9C8D-06F0-4A22-82B5-F31C734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41BBC-6E7F-4DFF-B968-083EFC9D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模型负责理解，程序负责守住原文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0CAA8-91B3-408E-A87B-562D225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265DF-F4FB-4626-AEF4-224D7F87AFF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905250"/>
                <a:gridCol w="49720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做什么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解决什么问题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 提议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提出角色、分段和语气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利用上下文判断谁在说话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将段落边界映射回原文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避免模型改字、漏句和调换顺序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覆盖校验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拼接分段与源章节比较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保证通过校验的文本完整对应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失败降级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重试、抢救，必要时用旁白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保持正文完整，暴露识别不确定性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44A76-8433-4353-9355-0D2AA1C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文本覆盖正确 ≠ 说话人一定正确，角色判断仍需要复核</a:t>
            </a:r>
          </a:p>
        </p:txBody>
      </p:sp>
    </p:spTree>
    <p:extLst>
      <p:ext uri="{BB962C8B-B14F-4D97-AF65-F5344CB8AC3E}">
        <p14:creationId xmlns:p14="http://schemas.microsoft.com/office/powerpoint/2010/main" val="375974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A71B8-B3D9-4A9B-91C7-9DFADACE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F7260-6D0E-4407-913E-0DCC3B9D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同一人物在不同章节保持同一身份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EF489-2A6D-4095-B1BC-C624CAE1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9E214-E932-479E-A34D-EC2D4DC56A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2403327d14bf1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FC94C-834B-43DF-BF9B-91F8A780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建立全书人物索引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5DF9E-F876-4CEC-AB53-0127AA24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用稳定人物 ID 关联各章角色。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D39A8-4134-445C-9C57-38651DC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别名先候选，再确认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406D0-51F3-4CCC-9061-F0408C89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同名与别名冲突交给人工判断。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E04C4-0708-4124-BB80-09719711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留下原文证据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C9D61-A1C0-4239-8DB1-33CB80D4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段落位置、归属状态、人物声音可追溯。</a:t>
            </a:r>
          </a:p>
        </p:txBody>
      </p:sp>
    </p:spTree>
    <p:extLst>
      <p:ext uri="{BB962C8B-B14F-4D97-AF65-F5344CB8AC3E}">
        <p14:creationId xmlns:p14="http://schemas.microsoft.com/office/powerpoint/2010/main" val="999693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D44FB-F698-4AE4-B0C7-9A7EB00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72E77-E6D3-45BF-9120-4EFF1AD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角色选声与语速校准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CE03A-EC25-4F3F-A279-BEBB2540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65CA5-3817-4B0A-850B-78B8F0A78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0770b7f9c47c5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FDD06-880A-44A5-92C0-C5AD7A9E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给人物分配不同声音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C8C33-8F9E-4367-816E-437F6FFA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按语言和人物信息，从音色目录中选声。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AE9E4-AB2F-4E5D-94D4-7873CE87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用同一段文字比较快慢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E4819-1D7D-4D3D-8333-3EEB764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以旁白时长为基准，回填角色倍率。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6586C-0954-47B0-A129-3F388EC4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正式合成前逐角色试听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3B85B-AC70-4FA4-AF7C-75A2A8C5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语气与停顿仍有波动，需要听感确认。</a:t>
            </a:r>
          </a:p>
        </p:txBody>
      </p:sp>
    </p:spTree>
    <p:extLst>
      <p:ext uri="{BB962C8B-B14F-4D97-AF65-F5344CB8AC3E}">
        <p14:creationId xmlns:p14="http://schemas.microsoft.com/office/powerpoint/2010/main" val="913827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45070-644A-450E-AF5C-D8FC420F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7BF87-DD68-4046-A62D-D4C439C2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分段音频如何拼成完整章节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0BFDF-6150-4BEC-B0DA-9B87B9F5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6DE5E-3F8F-4208-AF98-AE6497672236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10000"/>
                <a:gridCol w="5019675"/>
              </a:tblGrid>
              <a:tr h="6781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用户能感受到的作用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 逐段合成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每段带自己的角色参数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人物换声时不串音色配置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 统一音频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探测格式，统一采样率与声道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不同片段可以稳定拼接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 顺序与停顿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按剧本顺序串联 PCM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不乱序，可调整段间间隔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 输出章节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最终编码一次，写章节标签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得到可播放的章节音频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BD885-7E13-4E40-8DC4-B2ED422A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当前每章输出一个文件；分轨、单文件 M4B 与跨运行缓存属于后续方向</a:t>
            </a:r>
          </a:p>
        </p:txBody>
      </p:sp>
    </p:spTree>
    <p:extLst>
      <p:ext uri="{BB962C8B-B14F-4D97-AF65-F5344CB8AC3E}">
        <p14:creationId xmlns:p14="http://schemas.microsoft.com/office/powerpoint/2010/main" val="1116207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E9B5E-D5EA-40FE-81EE-AF91573F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4C0FC-DECA-4826-B2F1-E44F2445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生成后逐段检测，失败时有限重试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43F26-1BF2-44BB-902D-99A07CB9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B09CF-4294-45A2-9727-9D576D3F53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e3a83beb84a3a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A4D51-9866-4593-AAA5-5535A008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检测语速与音频异常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DF324-C70D-4943-AB33-51B108B1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统计时长、汉字速率、削顶和静音。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10548-C644-4C47-90D2-F53C1B42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可选转写核对正文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DE48A-6622-447D-9315-5B6708C0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ASR 不可用，明确标记未完整评测。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5B709-79FD-4FA4-B5FC-D65DF5A1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MiMo 最多再生成一次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F8FD7-8925-4D74-AD26-EBF05F59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仍失败保留较好版本，报告给人工复核。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954681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4EB5B-4358-41C9-932C-FE7C988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CBECC-D0D5-4A89-8A48-4DF113E3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项目的创新点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2F6E3-4BAC-4143-9018-F8188D0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577E1-FE18-4586-8120-D69F77F4993B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81500"/>
                <a:gridCol w="37338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设计贡献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直观解释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当前价值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原文约束的剧本生成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让模型做判断，让对齐器核对每段文字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减少剧本改写和漏句风险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带证据的人物与剧本表示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人物有固定身份，每段能找到出处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支撑跨章复用和人工修正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可编辑的声音编排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识别人、选声、合成彼此解耦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可换引擎、调参数和试听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受限音频反馈闭环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检测失败后，只在允许范围内修复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控制重试成本，保留失败证据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BB577-60EC-4A43-90CB-339F251F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创新主张需要实验支撑；界面与多引擎接入主要体现系统集成价值</a:t>
            </a:r>
          </a:p>
        </p:txBody>
      </p:sp>
    </p:spTree>
    <p:extLst>
      <p:ext uri="{BB962C8B-B14F-4D97-AF65-F5344CB8AC3E}">
        <p14:creationId xmlns:p14="http://schemas.microsoft.com/office/powerpoint/2010/main" val="1281593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280E1-9361-449C-AF4E-82C16048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58F17-35EA-4675-845A-61208717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已实现能力与尚待验证的部分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7DEB0-7E7C-476D-BA27-85A22D2E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C761F-0847-4897-91D3-3DD64F34A192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562600"/>
              </a:tblGrid>
              <a:tr h="584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已有代码实现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尚未解决或尚未验证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全书人物索引、人工别名合并、音色锁定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自动指代消解的准确率；跨卷一致性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本地对齐、文本覆盖校验、降级策略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说话人归属和语气的金标准评测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逐角色音色与语速配置、试听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基于人耳可区分度的最优选角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逐段音频指标、可选 ASR、有限重试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自然度 MOS、错判率与质量收益实验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MiMo / MiniMax 角色合成与合章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本地克隆引擎角色接入、重叠对白、分轨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9277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B1FAB-7880-419E-BE4F-19C2B257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应用方向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156CE-2916-4AF8-8E5B-E8D9FC3E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应用方向：先让长篇小说更容易听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62656-1D90-443F-A53F-5238757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EF10E-52AD-49DB-9B63-06CFDB77B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e4e2c7ab34782"/>
          <a:stretch xmlns:a="http://schemas.openxmlformats.org/drawingml/2006/main"/>
        </p:blipFill>
        <p:spPr>
          <a:xfrm xmlns:a="http://schemas.openxmlformats.org/drawingml/2006/main">
            <a:off x="1334198" y="1905000"/>
            <a:ext cx="4551555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3C939-EE3B-40BE-AEB1-22707704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小说与出版社制作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C154E-E40A-48A3-A8A0-E9805593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旁白和人物分声，形成有声书初稿。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B8E71-F623-46EA-AA84-05007012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教育与阅读辅助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0F2D4-2685-49EE-8769-6B8D41A3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把课文对话变成听读材料；后续补字幕。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55451-4E0E-4C3C-89CC-0A712F3C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有声剧与播客创作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9EEA1-CDE7-436F-B546-8626D9A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先产出角色对白；后续补分轨和混音。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55E7D-BC5F-42FA-B4F3-C2FA9E8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优先验证公版小说与授权内容，再扩展到伴读和专业后期工作流</a:t>
            </a:r>
          </a:p>
        </p:txBody>
      </p:sp>
    </p:spTree>
    <p:extLst>
      <p:ext uri="{BB962C8B-B14F-4D97-AF65-F5344CB8AC3E}">
        <p14:creationId xmlns:p14="http://schemas.microsoft.com/office/powerpoint/2010/main" val="2431259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2CD38-ACC5-48FF-94F7-8363F7F3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F00D1-1DE6-4E2E-B4B9-6D6120AE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前沿研究正在解决哪些问题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5DFBB-AE1C-4434-82BB-8E17D14E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D3392-BAA1-4CA9-B44C-70FABC3CE1C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286250"/>
                <a:gridCol w="4352925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代表成果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与项目的关系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Llama-3 说话人归属，NAACL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更强的角色判断与评测基线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声音如何可控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Qwen3-TTS，2026.01 技术报告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参考音频克隆与文字描述选声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对白如何自然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DialoSpeech，2025.10 预印本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话轮、重叠与双轨生成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长语音如何可靠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LACI，2026.09 预印本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检测漏读与异常，局部恢复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46E39-2C78-4CBF-A58D-B9AF1A2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研究成果介绍截至 2026-10-12；论文结果与本项目实测结果分别标注</a:t>
            </a:r>
          </a:p>
        </p:txBody>
      </p:sp>
    </p:spTree>
    <p:extLst>
      <p:ext uri="{BB962C8B-B14F-4D97-AF65-F5344CB8AC3E}">
        <p14:creationId xmlns:p14="http://schemas.microsoft.com/office/powerpoint/2010/main" val="17071353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1063E-7AA6-4E6C-BA33-2EA2DC9C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34923-F002-48D9-84DD-90AB98F7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说话人识别：LLM 已能利用文学上下文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45066-1EE8-470A-8260-0941F30F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265855C-7E28-4A79-AABC-76CFE67ADEDE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633412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770694e8db49c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45631-86E9-4534-8014-65329067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90.6%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62001-8E4A-4886-BF95-26AD4ED2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PDNC1 按小说平均准确率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3DBCF-7738-475E-A65C-7403BD63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752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启示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用强模型判断人物，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仍需中文与跨书测试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FA911-67B5-4A20-8FD2-F8F317E7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Michel 等，NAACL 2025，Table 1；图中为论文结果，非本项目结果</a:t>
            </a:r>
          </a:p>
        </p:txBody>
      </p:sp>
    </p:spTree>
    <p:extLst>
      <p:ext uri="{BB962C8B-B14F-4D97-AF65-F5344CB8AC3E}">
        <p14:creationId xmlns:p14="http://schemas.microsoft.com/office/powerpoint/2010/main" val="8604522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AFB38-96FB-4473-AA0F-8748D4C3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4B788-7B74-4F42-9A7E-EF8C33F0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可控音色：参考音频与文字描述选声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831E7-6DA7-4967-9253-8D962028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6F47C-ED45-4A85-A444-54B06746A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edb6ae73e463c"/>
          <a:stretch xmlns:a="http://schemas.openxmlformats.org/drawingml/2006/main"/>
        </p:blipFill>
        <p:spPr>
          <a:xfrm xmlns:a="http://schemas.openxmlformats.org/drawingml/2006/main">
            <a:off x="609600" y="2260611"/>
            <a:ext cx="6191250" cy="297495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3CFA5-2540-4662-87DE-808F687D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05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Qwen3-TTS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98C57-F07B-4BC0-A13F-CB3D53C7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短参考音频克隆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AE92A-6DC0-435A-A0D7-FE8DC6C3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670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用少量声音样本保持角色音色。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7D23B-C683-44EA-96DE-EF49E94D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766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文字描述控制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E325A-FC03-492E-96DC-A09916FE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7670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描述人设、声音风格和表现方式。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EC9F0-0A6A-4FFF-95E6-0031830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863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1AD26-B02B-4B76-B5FA-E685E34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863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每个人物绑定固定声音资料，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为本地角色克隆建立接口。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55F7D-BB81-4812-A451-4752579E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Hu 等，Qwen3-TTS Technical Report，2026.01，Fig.1；尚未接入本项目角色链路</a:t>
            </a:r>
          </a:p>
        </p:txBody>
      </p:sp>
    </p:spTree>
    <p:extLst>
      <p:ext uri="{BB962C8B-B14F-4D97-AF65-F5344CB8AC3E}">
        <p14:creationId xmlns:p14="http://schemas.microsoft.com/office/powerpoint/2010/main" val="18924741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0CF9B-34DB-4B35-95A9-5B89563C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69E22-BF52-43EA-9EBF-2EF8329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自然对白：模型开始共同生成两个人的声音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85986-ED97-47E0-AA40-C3A131B7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43A55-DD23-4E51-83A8-EB23EA8ADB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5aa0234ab4e0d"/>
          <a:stretch xmlns:a="http://schemas.openxmlformats.org/drawingml/2006/main"/>
        </p:blipFill>
        <p:spPr>
          <a:xfrm xmlns:a="http://schemas.openxmlformats.org/drawingml/2006/main">
            <a:off x="609600" y="2926782"/>
            <a:ext cx="6553200" cy="16235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682E5-7921-4D7A-BDFB-9D0A51A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DialoSpeech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974F0-282F-4083-96D7-00990A5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38766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同时考虑两人的互动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学习接话节奏和重叠发声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让对白更像真实交谈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0CD49-3314-430F-AE92-ED94A78E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95825"/>
            <a:ext cx="3810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先学习停顿与话轮，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再探索双轨渲染。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827A2-F7AA-4BA5-9A96-A08CBC6A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Xie 等，DialoSpeech，2025.10 预印本，Fig.2；当前项目仍为顺序分段合成</a:t>
            </a:r>
          </a:p>
        </p:txBody>
      </p:sp>
    </p:spTree>
    <p:extLst>
      <p:ext uri="{BB962C8B-B14F-4D97-AF65-F5344CB8AC3E}">
        <p14:creationId xmlns:p14="http://schemas.microsoft.com/office/powerpoint/2010/main" val="15185481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D31E5-6EB1-4E83-AEEB-4AACBF60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B200A-40BF-4947-AC71-FE099E7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长语音可靠性：检测异常后局部恢复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F60D4-3B35-41C9-80F7-A6CCACEF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53653-8BC5-4DF9-9363-8548FC17A5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e0295a9ef4e43"/>
          <a:stretch xmlns:a="http://schemas.openxmlformats.org/drawingml/2006/main"/>
        </p:blipFill>
        <p:spPr>
          <a:xfrm xmlns:a="http://schemas.openxmlformats.org/drawingml/2006/main">
            <a:off x="609600" y="2593664"/>
            <a:ext cx="6286500" cy="22707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AFB0F-A987-4ACF-B396-CED2103F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43125"/>
            <a:ext cx="4171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35.2%  降至  3.4%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1ED68-31D0-43BB-8DD9-0109861E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19450"/>
            <a:ext cx="41624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论文中长文本的最坏种子 WER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Qwen3-TTS-0.6B，10 个种子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输入至少 1500 个英文词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457A3-EB05-4BE5-BF46-79562C1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695825"/>
            <a:ext cx="4162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除了测平均质量，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还应关注偶发漏读和音色漂移。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F9086-72D3-4A28-A27B-73E9C196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Wang 等，2026.09 预印本，Fig.1 / Table 2；局部恢复需要模型内部访问</a:t>
            </a:r>
          </a:p>
        </p:txBody>
      </p:sp>
    </p:spTree>
    <p:extLst>
      <p:ext uri="{BB962C8B-B14F-4D97-AF65-F5344CB8AC3E}">
        <p14:creationId xmlns:p14="http://schemas.microsoft.com/office/powerpoint/2010/main" val="5861080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6640F-9F94-44B4-B44D-28DFF9DB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182FE-D5F5-4AA5-A4B7-274727FC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本项目适合贡献在哪一层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6B212-2299-42F4-AC0D-CB2A3A81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0CB80-177B-4779-A90F-87FD0CFAAF87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研究层次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前沿工作的重点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本项目的切入点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文本理解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对白归属、指代消解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中文长篇原文约束与证据复核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语音模型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音色克隆、控制与自然对话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统一剧本表示和角色声音配置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长文可靠性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生成中检测、注意力约束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黑盒 API 下的逐段检测与受限重试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系统与评测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模型或任务基准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覆盖率、归属、听感和成本联合评测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589F8-CB2D-482A-A397-48C42F38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潜在论文主线：原文约束的中文多角色剧本生成，加可复现的端到端评测</a:t>
            </a:r>
          </a:p>
        </p:txBody>
      </p:sp>
    </p:spTree>
    <p:extLst>
      <p:ext uri="{BB962C8B-B14F-4D97-AF65-F5344CB8AC3E}">
        <p14:creationId xmlns:p14="http://schemas.microsoft.com/office/powerpoint/2010/main" val="16729124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9A218-71C1-4310-9DD6-5D10B1B3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CD404-09D8-4294-B446-3036AD90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创新效果需要怎样的实验来证明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5814E-DA5C-42EE-8FFC-DBA68FA3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03650-44D9-495F-AB76-9DFC2D4DD09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4191000"/>
                <a:gridCol w="42481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要证明的效果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比较方案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正文完整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覆盖率、改写率、对齐失败率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直接生成 JSON vs 本地对齐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人物判断正确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 Accuracy / macro-F1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规则、单章 LLM、全书人物表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声音稳定且能区分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跨章一致性、听者角色混淆率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轮转选声 vs 距离优化选声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听感更好且成本受控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CER/WER、盲听偏好、重试与成本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无质检、只调速、受限反馈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16C79-42AF-4D60-A180-D3C44EA0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先做少量公版小说与人工金标准，再按书扩大样本；当前尚无性能提升数据</a:t>
            </a:r>
          </a:p>
        </p:txBody>
      </p:sp>
    </p:spTree>
    <p:extLst>
      <p:ext uri="{BB962C8B-B14F-4D97-AF65-F5344CB8AC3E}">
        <p14:creationId xmlns:p14="http://schemas.microsoft.com/office/powerpoint/2010/main" val="16502244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A545B-5678-4EEE-B435-7C7123B9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C0FB3-DDB3-47A4-8578-D11E4EAF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落地路线：先补证据，再改善成品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A0AB8-D202-4D86-8559-22020557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3F7F5-59C8-48DF-A1B2-04C1AD2E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阶段一  建立小规模评测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0E20B-5129-4685-9DFF-A3D86EE6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固定模型与配置，标注说话人，记录成本和失败类型。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9C8CB-5F91-4BB4-8B43-0D98D09B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阶段二  稳定人物与中文读音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312D2-9DA6-4623-9289-740E380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评估并改进别名、跨章复用，加入专名发音处理。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D0ED5-544E-4B0E-901C-D7A63B5C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阶段三  减少重跑与整理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7CE82-C7BE-45E5-8388-48B79127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补跨运行缓存和增量重跑，打通 M4B 与章节标记。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C57A6-3FC0-4631-B3D7-0CD00F1C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阶段四  扩展声音表现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1C466-23DF-4457-A06D-5DE6C81E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接入授权参考音频，研究选角、停顿、字幕与分轨。</a:t>
            </a:r>
          </a:p>
        </p:txBody>
      </p:sp>
    </p:spTree>
    <p:extLst>
      <p:ext uri="{BB962C8B-B14F-4D97-AF65-F5344CB8AC3E}">
        <p14:creationId xmlns:p14="http://schemas.microsoft.com/office/powerpoint/2010/main" val="5436693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8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9CFF7-4283-4E2D-BD39-DE0D71C5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F51A4-3F77-45CA-A27E-BAC94204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下一阶段的交付目标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A57FC-8625-46C9-875B-C73EC137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5D4C7-A1CF-4B14-A5E4-A316963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一套可演示的多角色制作流程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8A5B9-C5AA-413A-976F-02996A60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已有：人物剧本、人工确认、分段合成与音频检测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8F0D0-D1B7-4320-B6DD-235FE46C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一份可解释、可复现的实验报告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D9BD1-3613-45EA-A672-B3B2CCFB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待补：说话人金标准、听感评测、消融和成本比较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8E5B2-E375-4B1D-8CCE-B78639FC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研究重点：中文长篇中，文字完整、人物稳定、声音可辨</a:t>
            </a:r>
          </a:p>
        </p:txBody>
      </p:sp>
    </p:spTree>
    <p:extLst>
      <p:ext uri="{BB962C8B-B14F-4D97-AF65-F5344CB8AC3E}">
        <p14:creationId xmlns:p14="http://schemas.microsoft.com/office/powerpoint/2010/main" val="21069300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9374F-F951-4ECF-B9B9-29293AE0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BF5FE-BBD4-4808-9804-AEC9934F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参考资料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0BB5A-FDB3-48B4-ABD2-02B87469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FDBEA-EE05-4233-A904-CBDD780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B8958-8063-46C5-A78E-7A42D603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多角色有声书_创新点与落地路线图.docx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当前源码：role_script / core / ui；功能说明：multi_role_tts_mvp.md、role_quality.md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B0C3D-1A61-4DA3-959B-3E166219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研究论文与报告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51148-8B37-41FA-978E-70B20036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Michel 等，NAACL 2025：文学对白的说话人归属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aclanthology.org/2025.naacl-short.62/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Hu 等，2026：Qwen3-TTS Technical Report   arXiv:2601.15621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Xie 等，2025：DialoSpeech   arXiv:2510.08373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Wang 等，2026：Taming Long-form Text-to-Speech   arXiv:2609.16989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A68FB-1B8B-405A-AE64-A0D617CB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论文中的数字均标注实验条件；项目截图来自本机 WebUI 和仓库示例</a:t>
            </a:r>
          </a:p>
        </p:txBody>
      </p:sp>
    </p:spTree>
    <p:extLst>
      <p:ext uri="{BB962C8B-B14F-4D97-AF65-F5344CB8AC3E}">
        <p14:creationId xmlns:p14="http://schemas.microsoft.com/office/powerpoint/2010/main" val="286965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2026-10-12T12:19:34.2290000Z</dcterms:created>
  <dcterms:modified xsi:type="dcterms:W3CDTF">2026-10-12T12:19:34.2290000Z</dcterms:modified>
</coreProperties>
</file>