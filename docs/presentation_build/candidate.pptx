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1a3ce6c8d043da" /><Relationship Type="http://schemas.openxmlformats.org/officeDocument/2006/relationships/extended-properties" Target="/docProps/app.xml" Id="R4fd572b5265341f3" /><Relationship Type="http://schemas.openxmlformats.org/officeDocument/2006/relationships/officeDocument" Target="/ppt/presentation.xml" Id="Rbcfdfa0fc94646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cfc7412c34484a"/>
  </p:sldMasterIdLst>
  <p:notesMasterIdLst>
    <p:notesMasterId xmlns:r="http://schemas.openxmlformats.org/officeDocument/2006/relationships" r:id="R9b3bea94426841f5"/>
  </p:notesMasterIdLst>
  <p:sldIdLst>
    <p:sldId xmlns:r="http://schemas.openxmlformats.org/officeDocument/2006/relationships" id="256" r:id="Rd12f6073a8864030"/>
    <p:sldId xmlns:r="http://schemas.openxmlformats.org/officeDocument/2006/relationships" id="257" r:id="Rbcc347316b0a41e7"/>
    <p:sldId xmlns:r="http://schemas.openxmlformats.org/officeDocument/2006/relationships" id="258" r:id="Rb4c2ac04cbcb448e"/>
    <p:sldId xmlns:r="http://schemas.openxmlformats.org/officeDocument/2006/relationships" id="259" r:id="R2b3e754d04c3477c"/>
    <p:sldId xmlns:r="http://schemas.openxmlformats.org/officeDocument/2006/relationships" id="260" r:id="R45c6ee0926b043aa"/>
    <p:sldId xmlns:r="http://schemas.openxmlformats.org/officeDocument/2006/relationships" id="261" r:id="R08e7969723ce4af6"/>
    <p:sldId xmlns:r="http://schemas.openxmlformats.org/officeDocument/2006/relationships" id="262" r:id="R000184d9f0714cf6"/>
    <p:sldId xmlns:r="http://schemas.openxmlformats.org/officeDocument/2006/relationships" id="263" r:id="R47f0ee7cd9964e19"/>
    <p:sldId xmlns:r="http://schemas.openxmlformats.org/officeDocument/2006/relationships" id="264" r:id="R7817a7c8044b4bf4"/>
    <p:sldId xmlns:r="http://schemas.openxmlformats.org/officeDocument/2006/relationships" id="265" r:id="Ra050fd37a1d2494d"/>
    <p:sldId xmlns:r="http://schemas.openxmlformats.org/officeDocument/2006/relationships" id="266" r:id="R7f4dda3a31be4edd"/>
    <p:sldId xmlns:r="http://schemas.openxmlformats.org/officeDocument/2006/relationships" id="267" r:id="Rb71f0d665e2442cc"/>
    <p:sldId xmlns:r="http://schemas.openxmlformats.org/officeDocument/2006/relationships" id="268" r:id="R0ba2f12aeb52461e"/>
    <p:sldId xmlns:r="http://schemas.openxmlformats.org/officeDocument/2006/relationships" id="269" r:id="Rfd0b2c35fde44ece"/>
    <p:sldId xmlns:r="http://schemas.openxmlformats.org/officeDocument/2006/relationships" id="270" r:id="R57822c27866c460f"/>
    <p:sldId xmlns:r="http://schemas.openxmlformats.org/officeDocument/2006/relationships" id="271" r:id="Rcd618b39af9140a0"/>
    <p:sldId xmlns:r="http://schemas.openxmlformats.org/officeDocument/2006/relationships" id="272" r:id="R77d39ba851d14e1b"/>
    <p:sldId xmlns:r="http://schemas.openxmlformats.org/officeDocument/2006/relationships" id="273" r:id="Rab584b0ebeaa4636"/>
    <p:sldId xmlns:r="http://schemas.openxmlformats.org/officeDocument/2006/relationships" id="274" r:id="R97aeafe9d49840ca"/>
    <p:sldId xmlns:r="http://schemas.openxmlformats.org/officeDocument/2006/relationships" id="275" r:id="R15191d906bad42da"/>
    <p:sldId xmlns:r="http://schemas.openxmlformats.org/officeDocument/2006/relationships" id="276" r:id="Rf2f61b494ffb4329"/>
    <p:sldId xmlns:r="http://schemas.openxmlformats.org/officeDocument/2006/relationships" id="277" r:id="R87b19248e02942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e3c56ac1924ee6" /><Relationship Type="http://schemas.openxmlformats.org/officeDocument/2006/relationships/slideMaster" Target="/ppt/slideMasters/slideMaster1.xml" Id="Re6cfc7412c34484a" /><Relationship Type="http://schemas.openxmlformats.org/officeDocument/2006/relationships/notesMaster" Target="/ppt/notesMasters/notesMaster1.xml" Id="R9b3bea94426841f5" /><Relationship Type="http://schemas.openxmlformats.org/officeDocument/2006/relationships/presProps" Target="/ppt/presProps.xml" Id="Ra013944dba964fbc" /><Relationship Type="http://schemas.openxmlformats.org/officeDocument/2006/relationships/tableStyles" Target="/ppt/tableStyles.xml" Id="R2c5a4340f3114fdc" /><Relationship Type="http://schemas.openxmlformats.org/officeDocument/2006/relationships/slide" Target="/ppt/slides/slide1.xml" Id="Rd12f6073a8864030" /><Relationship Type="http://schemas.openxmlformats.org/officeDocument/2006/relationships/slide" Target="/ppt/slides/slide2.xml" Id="Rbcc347316b0a41e7" /><Relationship Type="http://schemas.openxmlformats.org/officeDocument/2006/relationships/slide" Target="/ppt/slides/slide3.xml" Id="Rb4c2ac04cbcb448e" /><Relationship Type="http://schemas.openxmlformats.org/officeDocument/2006/relationships/slide" Target="/ppt/slides/slide4.xml" Id="R2b3e754d04c3477c" /><Relationship Type="http://schemas.openxmlformats.org/officeDocument/2006/relationships/slide" Target="/ppt/slides/slide5.xml" Id="R45c6ee0926b043aa" /><Relationship Type="http://schemas.openxmlformats.org/officeDocument/2006/relationships/slide" Target="/ppt/slides/slide6.xml" Id="R08e7969723ce4af6" /><Relationship Type="http://schemas.openxmlformats.org/officeDocument/2006/relationships/slide" Target="/ppt/slides/slide7.xml" Id="R000184d9f0714cf6" /><Relationship Type="http://schemas.openxmlformats.org/officeDocument/2006/relationships/slide" Target="/ppt/slides/slide8.xml" Id="R47f0ee7cd9964e19" /><Relationship Type="http://schemas.openxmlformats.org/officeDocument/2006/relationships/slide" Target="/ppt/slides/slide9.xml" Id="R7817a7c8044b4bf4" /><Relationship Type="http://schemas.openxmlformats.org/officeDocument/2006/relationships/slide" Target="/ppt/slides/slide10.xml" Id="Ra050fd37a1d2494d" /><Relationship Type="http://schemas.openxmlformats.org/officeDocument/2006/relationships/slide" Target="/ppt/slides/slide11.xml" Id="R7f4dda3a31be4edd" /><Relationship Type="http://schemas.openxmlformats.org/officeDocument/2006/relationships/slide" Target="/ppt/slides/slide12.xml" Id="Rb71f0d665e2442cc" /><Relationship Type="http://schemas.openxmlformats.org/officeDocument/2006/relationships/slide" Target="/ppt/slides/slide13.xml" Id="R0ba2f12aeb52461e" /><Relationship Type="http://schemas.openxmlformats.org/officeDocument/2006/relationships/slide" Target="/ppt/slides/slide14.xml" Id="Rfd0b2c35fde44ece" /><Relationship Type="http://schemas.openxmlformats.org/officeDocument/2006/relationships/slide" Target="/ppt/slides/slide15.xml" Id="R57822c27866c460f" /><Relationship Type="http://schemas.openxmlformats.org/officeDocument/2006/relationships/slide" Target="/ppt/slides/slide16.xml" Id="Rcd618b39af9140a0" /><Relationship Type="http://schemas.openxmlformats.org/officeDocument/2006/relationships/slide" Target="/ppt/slides/slide17.xml" Id="R77d39ba851d14e1b" /><Relationship Type="http://schemas.openxmlformats.org/officeDocument/2006/relationships/slide" Target="/ppt/slides/slide18.xml" Id="Rab584b0ebeaa4636" /><Relationship Type="http://schemas.openxmlformats.org/officeDocument/2006/relationships/slide" Target="/ppt/slides/slide19.xml" Id="R97aeafe9d49840ca" /><Relationship Type="http://schemas.openxmlformats.org/officeDocument/2006/relationships/slide" Target="/ppt/slides/slide20.xml" Id="R15191d906bad42da" /><Relationship Type="http://schemas.openxmlformats.org/officeDocument/2006/relationships/slide" Target="/ppt/slides/slide21.xml" Id="Rf2f61b494ffb4329" /><Relationship Type="http://schemas.openxmlformats.org/officeDocument/2006/relationships/slide" Target="/ppt/slides/slide22.xml" Id="R87b19248e02942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2d56410de74d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8c7d1f095549c2" /><Relationship Type="http://schemas.openxmlformats.org/officeDocument/2006/relationships/notesMaster" Target="/ppt/notesMasters/notesMaster1.xml" Id="R154f07a8558d4e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c2d3d59d6d4293" /><Relationship Type="http://schemas.openxmlformats.org/officeDocument/2006/relationships/notesMaster" Target="/ppt/notesMasters/notesMaster1.xml" Id="R873f5e1bc24947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aed84f7cce4355" /><Relationship Type="http://schemas.openxmlformats.org/officeDocument/2006/relationships/notesMaster" Target="/ppt/notesMasters/notesMaster1.xml" Id="R8f89e1c1e54b42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8bce9e5cbb41ef" /><Relationship Type="http://schemas.openxmlformats.org/officeDocument/2006/relationships/notesMaster" Target="/ppt/notesMasters/notesMaster1.xml" Id="R2895f60f72114c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321855eab14a9d" /><Relationship Type="http://schemas.openxmlformats.org/officeDocument/2006/relationships/notesMaster" Target="/ppt/notesMasters/notesMaster1.xml" Id="R57b1d3ef9104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e1094ffcd84913" /><Relationship Type="http://schemas.openxmlformats.org/officeDocument/2006/relationships/notesMaster" Target="/ppt/notesMasters/notesMaster1.xml" Id="R791e45ec503a49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32ff2fb7544752" /><Relationship Type="http://schemas.openxmlformats.org/officeDocument/2006/relationships/notesMaster" Target="/ppt/notesMasters/notesMaster1.xml" Id="Ra64e35f7abc340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762aa5e85b48a6" /><Relationship Type="http://schemas.openxmlformats.org/officeDocument/2006/relationships/notesMaster" Target="/ppt/notesMasters/notesMaster1.xml" Id="R8e577f3721e84b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13c75accfa4f33" /><Relationship Type="http://schemas.openxmlformats.org/officeDocument/2006/relationships/notesMaster" Target="/ppt/notesMasters/notesMaster1.xml" Id="Re9cf14e1ca2d43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0fb5fcfd73486c" /><Relationship Type="http://schemas.openxmlformats.org/officeDocument/2006/relationships/notesMaster" Target="/ppt/notesMasters/notesMaster1.xml" Id="R4c19e03c7f7b49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8e41d0cb294f76" /><Relationship Type="http://schemas.openxmlformats.org/officeDocument/2006/relationships/notesMaster" Target="/ppt/notesMasters/notesMaster1.xml" Id="Rbd8d19aa512842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dfe01ce07a47ad" /><Relationship Type="http://schemas.openxmlformats.org/officeDocument/2006/relationships/notesMaster" Target="/ppt/notesMasters/notesMaster1.xml" Id="R30cf84c17a7b40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3cac5eca824250" /><Relationship Type="http://schemas.openxmlformats.org/officeDocument/2006/relationships/notesMaster" Target="/ppt/notesMasters/notesMaster1.xml" Id="R07892eec2e3146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7e5b6c85af4c2f" /><Relationship Type="http://schemas.openxmlformats.org/officeDocument/2006/relationships/notesMaster" Target="/ppt/notesMasters/notesMaster1.xml" Id="R93ba4f3da5ba4d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3b1101095214a88" /><Relationship Type="http://schemas.openxmlformats.org/officeDocument/2006/relationships/notesMaster" Target="/ppt/notesMasters/notesMaster1.xml" Id="R3f9af259bfe540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69c71ac56b477d" /><Relationship Type="http://schemas.openxmlformats.org/officeDocument/2006/relationships/notesMaster" Target="/ppt/notesMasters/notesMaster1.xml" Id="R69fc32be69b941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2a140b63d34d0e" /><Relationship Type="http://schemas.openxmlformats.org/officeDocument/2006/relationships/notesMaster" Target="/ppt/notesMasters/notesMaster1.xml" Id="R9efc582fba5244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f5e1c96a8040a4" /><Relationship Type="http://schemas.openxmlformats.org/officeDocument/2006/relationships/notesMaster" Target="/ppt/notesMasters/notesMaster1.xml" Id="R0f4006e0ef3b47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ca624a96ac4f43" /><Relationship Type="http://schemas.openxmlformats.org/officeDocument/2006/relationships/notesMaster" Target="/ppt/notesMasters/notesMaster1.xml" Id="R5af9d13a0c4346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49a00905e84577" /><Relationship Type="http://schemas.openxmlformats.org/officeDocument/2006/relationships/notesMaster" Target="/ppt/notesMasters/notesMaster1.xml" Id="R5ade536b814c454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54d71e2ba39419d" /><Relationship Type="http://schemas.openxmlformats.org/officeDocument/2006/relationships/notesMaster" Target="/ppt/notesMasters/notesMaster1.xml" Id="Refae0d4fffc147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1583bc9cc94e31" /><Relationship Type="http://schemas.openxmlformats.org/officeDocument/2006/relationships/notesMaster" Target="/ppt/notesMasters/notesMaster1.xml" Id="Rf694c25b58fe4d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角色模式目前限制为单本书、MiMo/MiniMax。截图展示真实界面的空项目配置，不代表已生成的成品或实验结果。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代码：web_ui.auto_split_role_script，v2_generation.generate_v2_for_book，core/audiobook_generator.py。全书索引分析未选章节需要界面知情勾选。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本页是自编教学示例，未调用真实语音 API。段间默认停顿 250ms，可由每段覆盖，最后一段不加尾部静音。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_reconcile_segments 用 NFKC 与源字符索引映射匹配原文；失败后有限重试、宽松对齐、旁白兜底。覆盖校验是规范化一致性，不能证明说话人或语气正确。V2 exact_segments 重新切源文本并保存 source_span。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代码：v2_generation.py、review.py、project_store.py。稳定实体 ID、原文区间与证据；人工合并实体、锁音色。existing_entity_id 仅作为候选，不能据此自动合并。项目按书籍指纹保存，不等同于系列跨卷实体链接已经完成。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选角目前按语言、性别等启发式分配与去重轮转，不是感知距离优化。pace_calibration.py 同文测时长，speed = 角色原始时长 / (旁白原始时长 / 旁白倍率)，限 0.25..4。MiMo 使用后处理 atempo；MiniMax 由服务端变速。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代码：role_script/audio_pipeline.py。ffprobe 探测实际容器、采样率、声道和时长；解码 PCM 后以首段参数为基准，MiMo atempo 后处理，按段插静音，最终仅编码一次、写标签。当前段缓存位于章节临时目录，非跨运行持久缓存。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依据 docs/role_quality.md 与 audio_quality.py。质量检测默认关闭。CER/WER 由可选本地 ASR 得到，只是可辨识度代理。MiMo failed 段最多再生成一次；too_fast 会降倍率；DeepSeek 只选受限提示补丁。MiniMax 仅检测。4.3 为可调工程起始阈值，非听感标准。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这些是当前系统的可辩护设计贡献。是否具有论文级新颖性、是否优于已有方法，仍需相关工作比较与实验，不宣称首创或已证实性能提升。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当前代码存在实现与测试，不代表已有学术数据集结果。路线图中“没有全局实体层”和“评测完全缺失”的描述已部分过时；当前有 V2 实体持久化与音频 QA，但仍缺大规模说话人归属与人耳评测。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图片为仓库 examples/audiobookshelf.png，展示下游媒体库应用，不代表一键入库已接线。教育伴读字幕、角色分轨与播客混音均为扩展设想。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llama: https://aclanthology.org/2025.naacl-short.62/</a:t>
            </a:r>
          </a:p>
          <a:p xmlns:a="http://schemas.openxmlformats.org/drawingml/2006/main">
            <a:r>
              <a:t>qwen: https://arxiv.org/abs/2601.15621</a:t>
            </a:r>
          </a:p>
          <a:p xmlns:a="http://schemas.openxmlformats.org/drawingml/2006/main">
            <a:r>
              <a:t>dialo: https://arxiv.org/abs/2510.08373</a:t>
            </a:r>
          </a:p>
          <a:p xmlns:a="http://schemas.openxmlformats.org/drawingml/2006/main">
            <a:r>
              <a:t>laci: https://arxiv.org/abs/2609.16989</a:t>
            </a:r>
          </a:p>
          <a:p xmlns:a="http://schemas.openxmlformats.org/drawingml/2006/main">
            <a:r>
              <a:t>检索截止 2026-10-12。NAACL 2025 为会议论文；其余以所引用 arXiv 预印本/技术报告版本介绍。不是论文全领域穷尽综述。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https://aclanthology.org/2025.naacl-short.62/</a:t>
            </a:r>
          </a:p>
          <a:p xmlns:a="http://schemas.openxmlformats.org/drawingml/2006/main">
            <a:r>
              <a:t>Michel et al., NAACL 2025，Table 1。两组分别为 PDNC1 和 PDNC2 的按小说平均归属准确率；Llama-3 8B 为 90.6 / 88.5，BookNLP+ 为 78.5 / 79.2。比较的是原论文设置，非中文、非本项目性能。论文另以记忆和污染检查审视结果。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Qwen3-TTS Technical Report，2026-01-22；图为 Fig.1 原图。报告支持 3 秒参考音频克隆、描述创建或控制音色、10 种语言。具体能力与模型变体有关，不代表任何变体都支持全部功能。项目现有 Qwen Provider 不等同于已接入 Qwen3-TTS 角色模式。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DialoSpeech，2025-10-09 arXiv 预印本，Fig.2。双轨架构结合 LLM 与 Chunked Flow Matching，支持中英、多轮对话与自然重叠。双说话人研究不等同于任意多角色长篇小说。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https://arxiv.org/abs/2609.16989</a:t>
            </a:r>
          </a:p>
          <a:p xmlns:a="http://schemas.openxmlformats.org/drawingml/2006/main">
            <a:r>
              <a:t>Wang et al., Taming Long-form Text-to-Speech，2026-09-15 arXiv v1。图 Fig.1。Table 2 对 Qwen3-TTS-0.6B 在 AppTek 数据 &gt;=1500 words、10 个随机种子、worst-of-N WER：35.2% 降为 3.4%。并非平均 WER、并非有声书或本项目实验。LACI 读取模型注意力，商业黑盒 API 不能直接复用。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研究定位为建议：在现成 NLP/TTS 能力之上，研究有原文约束、有证据、可审阅、可评测的中文长篇多角色编排。不能仅凭系统实现宣称超越前沿模型。相关来源：https://aclanthology.org/2025.naacl-short.62/</a:t>
            </a:r>
          </a:p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https://arxiv.org/abs/2609.16989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本页是实验设计，所有指标为待测，不是结果。评测先按书划分训练/测试或开发/测试，避免同书片段泄漏，报告置信区间。语速校准、QA feedback、实体层分别做消融。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为建议阶段顺序，不是承诺工期。持久缓存、M4B、字幕、角色分轨等沿用用户路线图规划，不表述为已经完成。角色参考音频使用需获得授权。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论文链接与各页备注均保留。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c8730450e4f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3931a6b1b4f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b9ddd98f24f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c47ea70734f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9538e878e4f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f64a0968744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6726C4-4054-46F3-863A-E4254B258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AB5EDA-0010-4BD2-83B5-EAA5330867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BBB178-8FC2-427E-B7D0-C09DC05FFF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F647DD-3F83-4AD3-B7C8-E2C53C976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4E8D25-8163-4DC5-ACD4-5EBEAD5271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51EF6C5-8A30-4C64-B882-498F0E636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312276-0DB1-497E-B498-F1D97F6135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BE386E-69FE-4AB5-B351-88CB0F76F7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D8AF79-9EA2-4351-8CF7-5F4782FF9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4CCDFD-F34A-4ACF-AB19-3DBE8534BB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320aa7286e4cea" /><Relationship Type="http://schemas.openxmlformats.org/officeDocument/2006/relationships/slideLayout" Target="/ppt/slideLayouts/slideLayout1.xml" Id="R2eaaefc8a0c14e08" /><Relationship Type="http://schemas.openxmlformats.org/officeDocument/2006/relationships/slideLayout" Target="/ppt/slideLayouts/slideLayout2.xml" Id="R50601bdc27374275" /><Relationship Type="http://schemas.openxmlformats.org/officeDocument/2006/relationships/slideLayout" Target="/ppt/slideLayouts/slideLayout3.xml" Id="Rd8ffd89bfb724e8d" /><Relationship Type="http://schemas.openxmlformats.org/officeDocument/2006/relationships/slideLayout" Target="/ppt/slideLayouts/slideLayout4.xml" Id="Rf9fcab34f1fa45ad" /><Relationship Type="http://schemas.openxmlformats.org/officeDocument/2006/relationships/slideLayout" Target="/ppt/slideLayouts/slideLayout5.xml" Id="R25eca16fa93a4c52" /><Relationship Type="http://schemas.openxmlformats.org/officeDocument/2006/relationships/slideLayout" Target="/ppt/slideLayouts/slideLayout6.xml" Id="Rd66f5a3c401647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aaefc8a0c14e08"/>
    <p:sldLayoutId xmlns:r="http://schemas.openxmlformats.org/officeDocument/2006/relationships" id="2147483650" r:id="R50601bdc27374275"/>
    <p:sldLayoutId xmlns:r="http://schemas.openxmlformats.org/officeDocument/2006/relationships" id="2147483651" r:id="Rd8ffd89bfb724e8d"/>
    <p:sldLayoutId xmlns:r="http://schemas.openxmlformats.org/officeDocument/2006/relationships" id="2147483652" r:id="Rf9fcab34f1fa45ad"/>
    <p:sldLayoutId xmlns:r="http://schemas.openxmlformats.org/officeDocument/2006/relationships" id="2147483653" r:id="R25eca16fa93a4c52"/>
    <p:sldLayoutId xmlns:r="http://schemas.openxmlformats.org/officeDocument/2006/relationships" id="2147483654" r:id="Rd66f5a3c401647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da00a24ff4111" /><Relationship Type="http://schemas.openxmlformats.org/officeDocument/2006/relationships/image" Target="/ppt/media/image.jpeg" Id="R1bdb761b67214674" /><Relationship Type="http://schemas.openxmlformats.org/officeDocument/2006/relationships/notesSlide" Target="/ppt/notesSlides/notesSlide1.xml" Id="R31d4be0bd7a74b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fcfc2d65c44c6" /><Relationship Type="http://schemas.openxmlformats.org/officeDocument/2006/relationships/image" Target="/ppt/media/image.png" Id="Rfdbf8445b43044a4" /><Relationship Type="http://schemas.openxmlformats.org/officeDocument/2006/relationships/notesSlide" Target="/ppt/notesSlides/notesSlide2.xml" Id="Rafa95d75f0bd43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702f39728481e" /><Relationship Type="http://schemas.openxmlformats.org/officeDocument/2006/relationships/image" Target="/ppt/media/image2.png" Id="R3f84ffdde9664cd1" /><Relationship Type="http://schemas.openxmlformats.org/officeDocument/2006/relationships/notesSlide" Target="/ppt/notesSlides/notesSlide3.xml" Id="R07396adfbd80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4809f72bd450f" /><Relationship Type="http://schemas.openxmlformats.org/officeDocument/2006/relationships/notesSlide" Target="/ppt/notesSlides/notesSlide4.xml" Id="R9bb43560bc8a46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9f1bb1545b4e5f" /><Relationship Type="http://schemas.openxmlformats.org/officeDocument/2006/relationships/notesSlide" Target="/ppt/notesSlides/notesSlide5.xml" Id="Rc3ac050116d34c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8c758367348f2" /><Relationship Type="http://schemas.openxmlformats.org/officeDocument/2006/relationships/image" Target="/ppt/media/image3.png" Id="Rb53496d455b6469f" /><Relationship Type="http://schemas.openxmlformats.org/officeDocument/2006/relationships/notesSlide" Target="/ppt/notesSlides/notesSlide6.xml" Id="R579f2cac9a344b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ef8eb76f74227" /><Relationship Type="http://schemas.openxmlformats.org/officeDocument/2006/relationships/image" Target="/ppt/media/image4.png" Id="Rc24cc2abf86849f5" /><Relationship Type="http://schemas.openxmlformats.org/officeDocument/2006/relationships/notesSlide" Target="/ppt/notesSlides/notesSlide7.xml" Id="Rf240fe1775e046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108852ec44325" /><Relationship Type="http://schemas.openxmlformats.org/officeDocument/2006/relationships/notesSlide" Target="/ppt/notesSlides/notesSlide8.xml" Id="Rb2cae52cd0c041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a818f883f43c0" /><Relationship Type="http://schemas.openxmlformats.org/officeDocument/2006/relationships/image" Target="/ppt/media/image5.png" Id="Ra7d3a4d22ed04205" /><Relationship Type="http://schemas.openxmlformats.org/officeDocument/2006/relationships/notesSlide" Target="/ppt/notesSlides/notesSlide9.xml" Id="R382f947366e241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1f1ed35bfe470a" /><Relationship Type="http://schemas.openxmlformats.org/officeDocument/2006/relationships/notesSlide" Target="/ppt/notesSlides/notesSlide10.xml" Id="R28df1565a392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672d00d7d24ac7" /><Relationship Type="http://schemas.openxmlformats.org/officeDocument/2006/relationships/notesSlide" Target="/ppt/notesSlides/notesSlide11.xml" Id="R031e49927ebd41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d994cbb8849ba" /><Relationship Type="http://schemas.openxmlformats.org/officeDocument/2006/relationships/image" Target="/ppt/media/image6.png" Id="Rbad787f19c3c4199" /><Relationship Type="http://schemas.openxmlformats.org/officeDocument/2006/relationships/notesSlide" Target="/ppt/notesSlides/notesSlide12.xml" Id="R83894258209846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ffcbfa3aa4149" /><Relationship Type="http://schemas.openxmlformats.org/officeDocument/2006/relationships/notesSlide" Target="/ppt/notesSlides/notesSlide13.xml" Id="R4f247a667fc04b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87a6d5eda490b" /><Relationship Type="http://schemas.openxmlformats.org/officeDocument/2006/relationships/chart" Target="/ppt/slides/charts/chart1.xml" Id="R46203306a0cc47fb" /><Relationship Type="http://schemas.openxmlformats.org/officeDocument/2006/relationships/notesSlide" Target="/ppt/notesSlides/notesSlide14.xml" Id="R8e8c3b50c28a4c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1aa9e39c7b4d9a" /><Relationship Type="http://schemas.openxmlformats.org/officeDocument/2006/relationships/image" Target="/ppt/media/image7.png" Id="R4e679bca718f43a0" /><Relationship Type="http://schemas.openxmlformats.org/officeDocument/2006/relationships/notesSlide" Target="/ppt/notesSlides/notesSlide15.xml" Id="Rb669369ab88d46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9a1c4787f4505" /><Relationship Type="http://schemas.openxmlformats.org/officeDocument/2006/relationships/image" Target="/ppt/media/image8.png" Id="R3eebc92e695143f7" /><Relationship Type="http://schemas.openxmlformats.org/officeDocument/2006/relationships/notesSlide" Target="/ppt/notesSlides/notesSlide16.xml" Id="Rc197c5460a6e46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1759c8ff24001" /><Relationship Type="http://schemas.openxmlformats.org/officeDocument/2006/relationships/image" Target="/ppt/media/image9.png" Id="Ra5720d86c6514484" /><Relationship Type="http://schemas.openxmlformats.org/officeDocument/2006/relationships/notesSlide" Target="/ppt/notesSlides/notesSlide17.xml" Id="R4c6f736641564e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1356afd7a4737" /><Relationship Type="http://schemas.openxmlformats.org/officeDocument/2006/relationships/notesSlide" Target="/ppt/notesSlides/notesSlide18.xml" Id="R844753db530c4b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4419a1d964ad3" /><Relationship Type="http://schemas.openxmlformats.org/officeDocument/2006/relationships/notesSlide" Target="/ppt/notesSlides/notesSlide19.xml" Id="Rf65729649e9149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18be92bd74ac4" /><Relationship Type="http://schemas.openxmlformats.org/officeDocument/2006/relationships/notesSlide" Target="/ppt/notesSlides/notesSlide20.xml" Id="R1d75113abb074a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fe1154b07e49aa" /><Relationship Type="http://schemas.openxmlformats.org/officeDocument/2006/relationships/notesSlide" Target="/ppt/notesSlides/notesSlide21.xml" Id="Rb0cb7b48f2c740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334b4465e498c" /><Relationship Type="http://schemas.openxmlformats.org/officeDocument/2006/relationships/notesSlide" Target="/ppt/notesSlides/notesSlide22.xml" Id="Rd374b623a6024fe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BookNLP+</c:v>
          </c:tx>
          <c:spPr>
            <a:solidFill xmlns:a="http://schemas.openxmlformats.org/drawingml/2006/main">
              <a:srgbClr val="A5B6D2"/>
            </a:solidFill>
          </c:spPr>
          <c:invertIfNegative val="0"/>
          <c:cat>
            <c:strLit>
              <c:ptCount val="2"/>
              <c:pt idx="0">
                <c:v>PDNC1</c:v>
              </c:pt>
              <c:pt idx="1">
                <c:v>PDNC2</c:v>
              </c:pt>
            </c:strLit>
          </c:cat>
          <c:val>
            <c:numLit>
              <c:formatCode>0"%"</c:formatCode>
              <c:ptCount val="2"/>
              <c:pt idx="0">
                <c:v>78.5</c:v>
              </c:pt>
              <c:pt idx="1">
                <c:v>79.2</c:v>
              </c:pt>
            </c:numLit>
          </c:val>
        </c:ser>
        <c:ser>
          <c:idx val="1"/>
          <c:order val="1"/>
          <c:tx>
            <c:v>Llama-3 8B</c:v>
          </c:tx>
          <c:spPr>
            <a:solidFill xmlns:a="http://schemas.openxmlformats.org/drawingml/2006/main">
              <a:srgbClr val="235CDD"/>
            </a:solidFill>
          </c:spPr>
          <c:invertIfNegative val="0"/>
          <c:cat>
            <c:strLit>
              <c:ptCount val="2"/>
              <c:pt idx="0">
                <c:v>PDNC1</c:v>
              </c:pt>
              <c:pt idx="1">
                <c:v>PDNC2</c:v>
              </c:pt>
            </c:strLit>
          </c:cat>
          <c:val>
            <c:numLit>
              <c:formatCode>0"%"</c:formatCode>
              <c:ptCount val="2"/>
              <c:pt idx="0">
                <c:v>90.6</c:v>
              </c:pt>
              <c:pt idx="1">
                <c:v>88.5</c:v>
              </c:pt>
            </c:numLit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ingFang SC"/>
              <a:ea typeface="PingFang SC"/>
              <a:cs typeface="PingFang SC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61248-A6AA-4E09-9BCA-533CC2A2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1A5C7-AB77-4455-9ADC-A312CE94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3BE1C-1BA0-4227-AFCE-294D20B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5C852-7402-4699-A50C-56C907EC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实现逻辑、创新点与研究方向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68044-7A89-4B2F-80EB-FA251E67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让旁白和人物拥有各自的声音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43BFF-639F-4F68-8880-4916B9FC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EPUB / DOC / DOCX</a:t>
            </a:r>
          </a:p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DeepSeek + MiMo / MiniMax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11660-4DA4-4631-B541-F50B6B0B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2026 年 10 月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0D9DF-A29E-4E97-B5CC-78BC5D06C5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b761b67214674"/>
          <a:stretch xmlns:a="http://schemas.openxmlformats.org/drawingml/2006/main"/>
        </p:blipFill>
        <p:spPr>
          <a:xfrm xmlns:a="http://schemas.openxmlformats.org/drawingml/2006/main">
            <a:off x="5772150" y="2003412"/>
            <a:ext cx="5810250" cy="327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1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ED616-698A-4E22-A32B-4406FB3D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41743-8D91-48F8-9039-C2B187D6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我们已经做出了什么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55D59-9098-497F-940A-AF23D98B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2214E-01D1-457D-8B43-F2602ACDB1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f8445b43044a4"/>
          <a:stretch xmlns:a="http://schemas.openxmlformats.org/drawingml/2006/main"/>
        </p:blipFill>
        <p:spPr>
          <a:xfrm xmlns:a="http://schemas.openxmlformats.org/drawingml/2006/main">
            <a:off x="609600" y="1762588"/>
            <a:ext cx="5810250" cy="439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70441-2308-4E00-B5DC-DF40E28A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85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自动准备角色剧本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3D0BF-4B2B-42B3-B9D7-9DA9FB0A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识别旁白与人物对白，形成可编辑分段。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026E2-99F2-4D45-82BA-2CA1FC70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38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人工核对，再开始生成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29523-D8D2-4888-947F-66F94B93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检查人物、音色和语速，确认后合成。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5A267-CE36-4B95-B417-42C2A6BD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每章输出一个完整音频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1A0D3-D333-447C-A77A-E41E0659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按原文顺序拼接，支持 mp3 / wav / flac。</a:t>
            </a:r>
          </a:p>
        </p:txBody>
      </p:sp>
    </p:spTree>
    <p:extLst>
      <p:ext uri="{BB962C8B-B14F-4D97-AF65-F5344CB8AC3E}">
        <p14:creationId xmlns:p14="http://schemas.microsoft.com/office/powerpoint/2010/main" val="1363913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9A353-8002-40DA-BDA0-4B4F2963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079C8-3E71-4DC2-BCB7-53D48B18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多角色生成的完整流程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49328-E73C-45F8-B5A4-1AE1E6D7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692A6-5524-4D11-B38A-4609A1331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4ffdde9664cd1"/>
          <a:stretch xmlns:a="http://schemas.openxmlformats.org/drawingml/2006/main"/>
        </p:blipFill>
        <p:spPr>
          <a:xfrm xmlns:a="http://schemas.openxmlformats.org/drawingml/2006/main">
            <a:off x="6381750" y="1793363"/>
            <a:ext cx="5200650" cy="3938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39DC3-2926-410D-81CF-85978E19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读书稿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14441-B16C-4886-9954-1CFFF131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解析章节，绑定书籍指纹。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D338D-133C-4B9A-9816-23BFC126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建人物表、拆剧本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A3A8D-3E05-44DD-9AD8-837C834E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DeepSeek 提议角色、语气与对白边界。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1397E-F5F8-4690-9DAB-4D4354E4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对齐原文、人工确认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B97DA-B22B-4571-A075-18779801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保留来源证据，调整人物与声音。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07689-CECD-4BF8-9B2A-72AF0922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分段合成、质检、合章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F7665-A240-4450-AEF6-C19528E5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MiMo / MiniMax 逐段生成，拼成整章。</a:t>
            </a:r>
          </a:p>
        </p:txBody>
      </p:sp>
    </p:spTree>
    <p:extLst>
      <p:ext uri="{BB962C8B-B14F-4D97-AF65-F5344CB8AC3E}">
        <p14:creationId xmlns:p14="http://schemas.microsoft.com/office/powerpoint/2010/main" val="847588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E2297-3046-4C86-959B-0E6793DF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DC457-7031-4B60-B70A-574930AD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一句对白如何变成多角色音频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8A0A7-1667-4D1A-845F-1D968D18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D55CD-0596-4618-A8E7-AFE38C40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原文示例：小林推开门：“你来了？”小周答道：“我来了。”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23817-0C9A-4E69-9686-73C162B9E2A7}"/>
              </a:ext>
            </a:extLst>
          </p:cNvPr>
          <p:cNvGraphicFramePr/>
          <p:nvPr/>
        </p:nvGraphicFramePr>
        <p:xfrm>
          <a:off xmlns:a="http://schemas.openxmlformats.org/drawingml/2006/main" x="609600" y="2743200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4095750"/>
                <a:gridCol w="1905000"/>
                <a:gridCol w="4076700"/>
              </a:tblGrid>
              <a:tr h="5562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顺序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朗读内容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谁来读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声音安排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小林推开门：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沉稳旁白音色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“你来了？”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A 音色，疑问语气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小周答道：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“我来了。”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B 音色，平静语气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E728F-B1F7-4E97-88D8-849612C3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关键：人物与旁白可以切换，正文内容和先后顺序必须保持一致</a:t>
            </a:r>
          </a:p>
        </p:txBody>
      </p:sp>
    </p:spTree>
    <p:extLst>
      <p:ext uri="{BB962C8B-B14F-4D97-AF65-F5344CB8AC3E}">
        <p14:creationId xmlns:p14="http://schemas.microsoft.com/office/powerpoint/2010/main" val="371581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FC9DD-C4F2-4CAC-830A-B10EB018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3934B-ABCA-42ED-BAE7-C1A27219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模型负责理解，程序负责守住原文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B28F1-0FC3-4428-8D3C-71621E33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7CD03-89AB-4596-83FB-A7089AA7F56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905250"/>
                <a:gridCol w="49720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做什么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解决什么问题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 提议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提出角色、分段和语气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利用上下文判断谁在说话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将段落边界映射回原文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避免模型改字、漏句和调换顺序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覆盖校验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拼接分段与源章节比较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保证通过校验的文本完整对应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失败降级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重试、抢救，必要时用旁白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保持正文完整，暴露识别不确定性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5154D-6C8F-457F-A423-EE849E78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文本覆盖正确 ≠ 说话人一定正确，角色判断仍需要复核</a:t>
            </a:r>
          </a:p>
        </p:txBody>
      </p:sp>
    </p:spTree>
    <p:extLst>
      <p:ext uri="{BB962C8B-B14F-4D97-AF65-F5344CB8AC3E}">
        <p14:creationId xmlns:p14="http://schemas.microsoft.com/office/powerpoint/2010/main" val="1420591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F3D35-FE41-456E-BDAF-6CD1A1F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041C0-243A-4AA8-A496-DE29F6AA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同一人物在不同章节保持同一身份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EF08C-7CB5-42E0-9137-E56F2636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E2AA-AC5D-4301-B762-E08E9613E9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496d455b6469f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75F49-4D32-4800-A473-8B661759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建立全书人物索引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1013C-5D1C-495D-9391-BF20486F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用稳定人物 ID 关联各章角色。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DE0E8-5BF5-4DB4-9249-484C3357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别名先候选，再确认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E72CE-C970-4AEE-BC0C-7929CD85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同名与别名冲突交给人工判断。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D2D1D-1E8E-4658-B986-650A4AC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留下原文证据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2C7BA-B8E8-41B5-B4BF-6375B195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段落位置、归属状态、人物声音可追溯。</a:t>
            </a:r>
          </a:p>
        </p:txBody>
      </p:sp>
    </p:spTree>
    <p:extLst>
      <p:ext uri="{BB962C8B-B14F-4D97-AF65-F5344CB8AC3E}">
        <p14:creationId xmlns:p14="http://schemas.microsoft.com/office/powerpoint/2010/main" val="443774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26BA5-964F-49D5-965D-F95E0F1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0CFEA-BC3B-463E-B7C9-D4E007B0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角色选声与语速校准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4557C-E57A-4B90-A326-A36146E7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828F5-BA8A-4597-86D1-8EA5FEAA09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cc2abf86849f5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A9A74-51F1-4CEA-A809-D21851EA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给人物分配不同声音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37179-53BD-418C-BE66-EE5440D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按语言和人物信息，从音色目录中选声。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FFFEC-AF95-47A3-BDED-ABF3313A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用同一段文字比较快慢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D992-7BB4-4869-93D9-00DD5F9D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以旁白时长为基准，回填角色倍率。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BA9ED-5B30-4785-A7BD-48A2F544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正式合成前逐角色试听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D6DD8-49F3-4A6B-9C4D-7C7A36E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语气与停顿仍有波动，需要听感确认。</a:t>
            </a:r>
          </a:p>
        </p:txBody>
      </p:sp>
    </p:spTree>
    <p:extLst>
      <p:ext uri="{BB962C8B-B14F-4D97-AF65-F5344CB8AC3E}">
        <p14:creationId xmlns:p14="http://schemas.microsoft.com/office/powerpoint/2010/main" val="5819929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CC092-A135-4050-B2B6-E47DAE38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35678-9531-4BA0-B1CB-3BFFB363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分段音频如何拼成完整章节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563DD-3E1A-4A48-A9B8-EB7245D1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67230-A16F-42B9-B4F1-1EA3F274D8B9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10000"/>
                <a:gridCol w="5019675"/>
              </a:tblGrid>
              <a:tr h="6781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用户能感受到的作用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 逐段合成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每段带自己的角色参数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人物换声时不串音色配置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 统一音频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探测格式，统一采样率与声道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不同片段可以稳定拼接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 顺序与停顿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按剧本顺序串联 PCM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不乱序，可调整段间间隔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 输出章节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最终编码一次，写章节标签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得到可播放的章节音频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B9AA1-6D13-41B8-A844-29E3CF6C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当前每章输出一个文件；分轨、单文件 M4B 与跨运行缓存属于后续方向</a:t>
            </a:r>
          </a:p>
        </p:txBody>
      </p:sp>
    </p:spTree>
    <p:extLst>
      <p:ext uri="{BB962C8B-B14F-4D97-AF65-F5344CB8AC3E}">
        <p14:creationId xmlns:p14="http://schemas.microsoft.com/office/powerpoint/2010/main" val="785481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6A725-9868-400E-A7D1-9E5B7B48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01129-DA48-43A8-B904-7DD9D7B4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生成后逐段检测，失败时有限重试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3FB95-D2C0-4435-8D62-83904547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FCF5C-CCF9-4E17-A305-8A2A84AA7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3a4d22ed04205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6BA62-4DBA-4292-A11A-24247CF0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检测语速与音频异常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1967B-A0D9-4CE6-BF23-BD30CF9D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统计时长、汉字速率、削顶和静音。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A6A66-A080-470B-B545-46E90C40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可选转写核对正文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A0452-B768-471F-8FEA-1690AB34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ASR 不可用，明确标记未完整评测。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34DED-ADBF-4C51-978B-BB82476D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MiMo 最多再生成一次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78D2D-3034-4ECE-8DA7-E4A1C807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仍失败保留较好版本，报告给人工复核。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6902577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D7F59-AAB9-4192-AEF5-56E9C412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A1564-FF43-4605-84FF-303EF5C1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项目的创新点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689DC-9E66-46EB-9113-0DC151C3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86232-3293-4D45-9383-98B60E2FC49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81500"/>
                <a:gridCol w="37338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设计贡献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直观解释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当前价值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原文约束的剧本生成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让模型做判断，让对齐器核对每段文字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减少剧本改写和漏句风险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带证据的人物与剧本表示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人物有固定身份，每段能找到出处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支撑跨章复用和人工修正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可编辑的声音编排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识别人、选声、合成彼此解耦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可换引擎、调参数和试听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受限音频反馈闭环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检测失败后，只在允许范围内修复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控制重试成本，保留失败证据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B170F-2314-49D9-9FC6-BDFB7E49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创新主张需要实验支撑；界面与多引擎接入主要体现系统集成价值</a:t>
            </a:r>
          </a:p>
        </p:txBody>
      </p:sp>
    </p:spTree>
    <p:extLst>
      <p:ext uri="{BB962C8B-B14F-4D97-AF65-F5344CB8AC3E}">
        <p14:creationId xmlns:p14="http://schemas.microsoft.com/office/powerpoint/2010/main" val="5394419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87941-58F4-45CC-AA87-F79D6C5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C6227-D664-4CB5-A9D1-EF108A98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已实现能力与尚待验证的部分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A7421-6555-4B86-A0B0-39CC7280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F4C8C-3E1F-45C7-B0DE-4EE7C9F66E1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562600"/>
              </a:tblGrid>
              <a:tr h="584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已有代码实现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尚未解决或尚未验证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全书人物索引、人工别名合并、音色锁定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自动指代消解的准确率；跨卷一致性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本地对齐、文本覆盖校验、降级策略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说话人归属和语气的金标准评测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逐角色音色与语速配置、试听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基于人耳可区分度的最优选角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逐段音频指标、可选 ASR、有限重试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自然度 MOS、错判率与质量收益实验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MiMo / MiniMax 角色合成与合章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本地克隆引擎角色接入、重叠对白、分轨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289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FF4F9-D0ED-4D70-A0AF-A72BAA1C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应用方向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54B8C-2796-4B2E-81E7-C2152668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应用方向：先让长篇小说更容易听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2408-B2E1-4C16-B74C-348F4C93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F715C-63DE-4310-B96B-88E314283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787f19c3c4199"/>
          <a:stretch xmlns:a="http://schemas.openxmlformats.org/drawingml/2006/main"/>
        </p:blipFill>
        <p:spPr>
          <a:xfrm xmlns:a="http://schemas.openxmlformats.org/drawingml/2006/main">
            <a:off x="1334198" y="1905000"/>
            <a:ext cx="4551555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AB0DA-A381-4C3C-8FC5-F776D60B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小说与出版社制作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28451-B9D8-4D7A-B02D-87570A82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旁白和人物分声，形成有声书初稿。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67EC1-B17B-4F76-818E-AC12B9A2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教育与阅读辅助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FFE19-5F40-4852-9AE8-9A28F63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把课文对话变成听读材料；后续补字幕。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97AD4-F3F0-4462-BC86-AF62ED28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有声剧与播客创作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64EC3-A350-4C14-9293-DF5F39FA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先产出角色对白；后续补分轨和混音。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3EB2D-9E9D-44DF-92CE-B68D5EE9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优先验证公版小说与授权内容，再扩展到伴读和专业后期工作流</a:t>
            </a:r>
          </a:p>
        </p:txBody>
      </p:sp>
    </p:spTree>
    <p:extLst>
      <p:ext uri="{BB962C8B-B14F-4D97-AF65-F5344CB8AC3E}">
        <p14:creationId xmlns:p14="http://schemas.microsoft.com/office/powerpoint/2010/main" val="689770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3FBD8-8A81-4F83-B4A5-C0C3434B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82F28-D9AB-4F74-BBC0-E359AB35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前沿研究正在解决哪些问题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205DC-001D-4433-9A47-178AF7D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33380-22DB-423A-A795-FF2C46101AA7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286250"/>
                <a:gridCol w="4352925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代表成果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与项目的关系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Llama-3 说话人归属，NAACL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更强的角色判断与评测基线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声音如何可控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Qwen3-TTS，2026.01 技术报告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参考音频克隆与文字描述选声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对白如何自然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DialoSpeech，2025.10 预印本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话轮、重叠与双轨生成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长语音如何可靠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LACI，2026.09 预印本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检测漏读与异常，局部恢复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0E645-FBC1-4015-8B7D-36F9E390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研究成果介绍截至 2026-10-12；论文结果与本项目实测结果分别标注</a:t>
            </a:r>
          </a:p>
        </p:txBody>
      </p:sp>
    </p:spTree>
    <p:extLst>
      <p:ext uri="{BB962C8B-B14F-4D97-AF65-F5344CB8AC3E}">
        <p14:creationId xmlns:p14="http://schemas.microsoft.com/office/powerpoint/2010/main" val="18045027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215DC-8BA4-42BA-812C-BA8C5ED5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4AA98-633C-4C74-9244-45EFB15F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说话人识别：LLM 已能利用文学上下文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D2556-B2CB-4743-B59D-C8ADC5CE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8BB5267-C601-4A90-AF88-EA5261E0AF4A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633412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203306a0cc47f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7AAD9-A345-477B-9823-71B0622A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90.6%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B8104-0367-4B28-B003-2989FEC1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PDNC1 按小说平均准确率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BBFA5-53A9-4C6C-BBE4-7F000C56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752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启示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用强模型判断人物，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仍需中文与跨书测试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36575-3266-4691-9D04-D3196A8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Michel 等，NAACL 2025，Table 1；图中为论文结果，非本项目结果</a:t>
            </a:r>
          </a:p>
        </p:txBody>
      </p:sp>
    </p:spTree>
    <p:extLst>
      <p:ext uri="{BB962C8B-B14F-4D97-AF65-F5344CB8AC3E}">
        <p14:creationId xmlns:p14="http://schemas.microsoft.com/office/powerpoint/2010/main" val="10665948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83058-889D-4FE6-990D-C7A8825E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8868D-CE51-42BF-ADDC-F988D11E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可控音色：参考音频与文字描述选声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FCA4E-58F6-45DF-8FF6-9B8C47A7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9F53A-80D1-43A5-9D6F-7E4EA7189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79bca718f43a0"/>
          <a:stretch xmlns:a="http://schemas.openxmlformats.org/drawingml/2006/main"/>
        </p:blipFill>
        <p:spPr>
          <a:xfrm xmlns:a="http://schemas.openxmlformats.org/drawingml/2006/main">
            <a:off x="609600" y="2260611"/>
            <a:ext cx="6191250" cy="297495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8F53B-30B0-4B82-890B-67C1E322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05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Qwen3-TTS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7196F-D104-48A0-B6B6-3D6B7D0E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短参考音频克隆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562BC-3853-42C9-A30F-14B09195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670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用少量声音样本保持角色音色。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26124-D428-4A96-AFD7-5D3F1868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766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文字描述控制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7120E-3741-4164-8BA7-46533347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7670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描述人设、声音风格和表现方式。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C1C17-0BDA-4F9B-9CAA-484D955F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863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E28F7-D0B9-47E5-8126-1B08E4F1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863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每个人物绑定固定声音资料，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为本地角色克隆建立接口。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359F7-74A9-4D20-B879-24797710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Hu 等，Qwen3-TTS Technical Report，2026.01，Fig.1；尚未接入本项目角色链路</a:t>
            </a:r>
          </a:p>
        </p:txBody>
      </p:sp>
    </p:spTree>
    <p:extLst>
      <p:ext uri="{BB962C8B-B14F-4D97-AF65-F5344CB8AC3E}">
        <p14:creationId xmlns:p14="http://schemas.microsoft.com/office/powerpoint/2010/main" val="9205767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C6FCA-652C-4CD6-A652-F6CB9DA3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72C9F-39DA-4869-AEA5-1A2D9871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自然对白：模型开始共同生成两个人的声音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AAF7F-2BF1-4CB7-B3AA-41588BE7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AB278-509F-4845-B5B5-C0EB3D1BD3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bc92e695143f7"/>
          <a:stretch xmlns:a="http://schemas.openxmlformats.org/drawingml/2006/main"/>
        </p:blipFill>
        <p:spPr>
          <a:xfrm xmlns:a="http://schemas.openxmlformats.org/drawingml/2006/main">
            <a:off x="609600" y="2926782"/>
            <a:ext cx="6553200" cy="16235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B0FAD-2900-4AFF-B70F-E2E4BEF1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DialoSpeech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0FE58-566A-4D78-B15D-7BC30C28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38766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同时考虑两人的互动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学习接话节奏和重叠发声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让对白更像真实交谈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40719-A583-464F-8431-05807DC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95825"/>
            <a:ext cx="3810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先学习停顿与话轮，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再探索双轨渲染。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33990-F282-4079-89A6-4CD80746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Xie 等，DialoSpeech，2025.10 预印本，Fig.2；当前项目仍为顺序分段合成</a:t>
            </a:r>
          </a:p>
        </p:txBody>
      </p:sp>
    </p:spTree>
    <p:extLst>
      <p:ext uri="{BB962C8B-B14F-4D97-AF65-F5344CB8AC3E}">
        <p14:creationId xmlns:p14="http://schemas.microsoft.com/office/powerpoint/2010/main" val="17523729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4E090-53F1-4A02-8D1A-C84B2524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00985-296F-488F-9AC9-D3D4CE98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长语音可靠性：检测异常后局部恢复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C6F4B-841E-4824-B6D8-55417804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E9E57-C972-4985-AD43-3F02B5120B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20d86c6514484"/>
          <a:stretch xmlns:a="http://schemas.openxmlformats.org/drawingml/2006/main"/>
        </p:blipFill>
        <p:spPr>
          <a:xfrm xmlns:a="http://schemas.openxmlformats.org/drawingml/2006/main">
            <a:off x="609600" y="2593664"/>
            <a:ext cx="6286500" cy="22707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FC5E1-2D46-4FC9-AA2B-9FBB4447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43125"/>
            <a:ext cx="4171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35.2%  降至  3.4%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92BA9-826B-4101-AB9D-D352FC7F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19450"/>
            <a:ext cx="41624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论文中长文本的最坏种子 WER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Qwen3-TTS-0.6B，10 个种子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输入至少 1500 个英文词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98187-1A33-4C50-8FE2-91100056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695825"/>
            <a:ext cx="4162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除了测平均质量，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还应关注偶发漏读和音色漂移。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89468-54F8-460A-80DE-3E7524C6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Wang 等，2026.09 预印本，Fig.1 / Table 2；局部恢复需要模型内部访问</a:t>
            </a:r>
          </a:p>
        </p:txBody>
      </p:sp>
    </p:spTree>
    <p:extLst>
      <p:ext uri="{BB962C8B-B14F-4D97-AF65-F5344CB8AC3E}">
        <p14:creationId xmlns:p14="http://schemas.microsoft.com/office/powerpoint/2010/main" val="4719918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B79AA-E3E4-4F90-8D4A-D223BCFC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24E6D-FA22-4533-BDEC-EAD6E10E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本项目适合贡献在哪一层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E17C0-F8F4-46CE-AD0D-5C55B247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939C9-8A87-40E1-9CA3-CC4F8C2B4474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研究层次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前沿工作的重点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本项目的切入点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文本理解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对白归属、指代消解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中文长篇原文约束与证据复核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语音模型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音色克隆、控制与自然对话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统一剧本表示和角色声音配置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长文可靠性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生成中检测、注意力约束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黑盒 API 下的逐段检测与受限重试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系统与评测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模型或任务基准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覆盖率、归属、听感和成本联合评测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42072-D075-4D41-A439-D7A7842B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潜在论文主线：原文约束的中文多角色剧本生成，加可复现的端到端评测</a:t>
            </a:r>
          </a:p>
        </p:txBody>
      </p:sp>
    </p:spTree>
    <p:extLst>
      <p:ext uri="{BB962C8B-B14F-4D97-AF65-F5344CB8AC3E}">
        <p14:creationId xmlns:p14="http://schemas.microsoft.com/office/powerpoint/2010/main" val="7611470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907A1-92E5-43EF-BFFE-F4F49A1B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4938C-FB46-41BE-970B-D0E32371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创新效果需要怎样的实验来证明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F10B6-8556-41FE-8FEB-A8D829B8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787DF-6161-4F28-B472-1694EBBF0376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4191000"/>
                <a:gridCol w="42481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要证明的效果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比较方案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正文完整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覆盖率、改写率、对齐失败率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直接生成 JSON vs 本地对齐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人物判断正确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 Accuracy / macro-F1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规则、单章 LLM、全书人物表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声音稳定且能区分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跨章一致性、听者角色混淆率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轮转选声 vs 距离优化选声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听感更好且成本受控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CER/WER、盲听偏好、重试与成本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无质检、只调速、受限反馈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75CD9-7043-4A46-8AA7-28419669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先做少量公版小说与人工金标准，再按书扩大样本；当前尚无性能提升数据</a:t>
            </a:r>
          </a:p>
        </p:txBody>
      </p:sp>
    </p:spTree>
    <p:extLst>
      <p:ext uri="{BB962C8B-B14F-4D97-AF65-F5344CB8AC3E}">
        <p14:creationId xmlns:p14="http://schemas.microsoft.com/office/powerpoint/2010/main" val="20224951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CA250-AB79-45E9-9565-B65C5DDF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13EC5-AB72-4375-B8BD-4111AAE6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落地路线：先补证据，再改善成品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58FE5-F1B1-492E-9951-9862D60E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CC0F4-4698-4D0D-80EE-901C6B7D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阶段一  建立小规模评测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97D28-381C-4498-8D5F-C9691CCB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固定模型与配置，标注说话人，记录成本和失败类型。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B9C1A-EDD2-479A-BB42-BF48A599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阶段二  稳定人物与中文读音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B92F2-E496-4406-B133-9FCC620D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评估并改进别名、跨章复用，加入专名发音处理。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01186-F0ED-467C-9851-0F60A77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阶段三  减少重跑与整理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4C33E-D37C-4668-A19B-D56DB21A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补跨运行缓存和增量重跑，打通 M4B 与章节标记。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D539E-16BA-48CE-990C-64B2581B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阶段四  扩展声音表现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FE010-562E-455F-BB5D-028AE1CD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接入授权参考音频，研究选角、停顿、字幕与分轨。</a:t>
            </a:r>
          </a:p>
        </p:txBody>
      </p:sp>
    </p:spTree>
    <p:extLst>
      <p:ext uri="{BB962C8B-B14F-4D97-AF65-F5344CB8AC3E}">
        <p14:creationId xmlns:p14="http://schemas.microsoft.com/office/powerpoint/2010/main" val="14161013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8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CB5CA-3B60-4AB0-982B-4E407E3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0A3C0-7425-45C6-8EF2-5E25F00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下一阶段的交付目标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76BB5-36ED-45EB-BFE8-6F7CD692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1ABFE-DFF0-4473-A164-FF9A1D33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一套可演示的多角色制作流程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5B8E7-EBF3-455A-AEB1-DB89E038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已有：人物剧本、人工确认、分段合成与音频检测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E3AB5-1DC7-49C3-9996-9F898DF6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一份可解释、可复现的实验报告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59C05-0D09-456B-B76E-D0DE44FB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待补：说话人金标准、听感评测、消融和成本比较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FF9C1-151D-430E-BD0E-D09EE7FA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研究重点：中文长篇中，文字完整、人物稳定、声音可辨</a:t>
            </a:r>
          </a:p>
        </p:txBody>
      </p:sp>
    </p:spTree>
    <p:extLst>
      <p:ext uri="{BB962C8B-B14F-4D97-AF65-F5344CB8AC3E}">
        <p14:creationId xmlns:p14="http://schemas.microsoft.com/office/powerpoint/2010/main" val="4758452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24DB9-F183-4810-B4AA-826E51B8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8F4CB-F84E-4264-AE12-ABF17966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参考资料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C9703-5297-41A3-B60F-83157E5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45C1B-2AF5-4850-960F-63BEA651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9D611-8F2B-4DF8-9C9A-BFA19A89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多角色有声书_创新点与落地路线图.docx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当前源码：role_script / core / ui；功能说明：multi_role_tts_mvp.md、role_quality.md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1C0AF-6162-491E-9C03-DD2F8CCF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研究论文与报告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76251-826A-4851-9ACA-7A12865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Michel 等，NAACL 2025：文学对白的说话人归属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aclanthology.org/2025.naacl-short.62/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Hu 等，2026：Qwen3-TTS Technical Report   arXiv:2601.15621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Xie 等，2025：DialoSpeech   arXiv:2510.08373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Wang 等，2026：Taming Long-form Text-to-Speech   arXiv:2609.16989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D4E78-C9FC-424B-9E04-78B98B8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论文中的数字均标注实验条件；项目截图来自本机 WebUI 和仓库示例</a:t>
            </a:r>
          </a:p>
        </p:txBody>
      </p:sp>
    </p:spTree>
    <p:extLst>
      <p:ext uri="{BB962C8B-B14F-4D97-AF65-F5344CB8AC3E}">
        <p14:creationId xmlns:p14="http://schemas.microsoft.com/office/powerpoint/2010/main" val="1659448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2026-10-12T12:22:05.6330000Z</dcterms:created>
  <dcterms:modified xsi:type="dcterms:W3CDTF">2026-10-12T12:22:05.6330000Z</dcterms:modified>
</coreProperties>
</file>