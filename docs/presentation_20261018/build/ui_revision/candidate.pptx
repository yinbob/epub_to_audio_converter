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19b36ae4234a0d" /><Relationship Type="http://schemas.openxmlformats.org/officeDocument/2006/relationships/extended-properties" Target="/docProps/app.xml" Id="R7903acfae2cb4183" /><Relationship Type="http://schemas.openxmlformats.org/officeDocument/2006/relationships/officeDocument" Target="/ppt/presentation.xml" Id="R21df1e2cde3f41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efd0a5f27b465f"/>
  </p:sldMasterIdLst>
  <p:notesMasterIdLst>
    <p:notesMasterId xmlns:r="http://schemas.openxmlformats.org/officeDocument/2006/relationships" r:id="Rc792f3b3056242fc"/>
  </p:notesMasterIdLst>
  <p:sldIdLst>
    <p:sldId xmlns:r="http://schemas.openxmlformats.org/officeDocument/2006/relationships" id="256" r:id="Rc84e5b05bec84864"/>
    <p:sldId xmlns:r="http://schemas.openxmlformats.org/officeDocument/2006/relationships" id="257" r:id="Rb2cbea713a764c75"/>
    <p:sldId xmlns:r="http://schemas.openxmlformats.org/officeDocument/2006/relationships" id="258" r:id="R8d7b044144f64d92"/>
    <p:sldId xmlns:r="http://schemas.openxmlformats.org/officeDocument/2006/relationships" id="259" r:id="Rc4c01d98287948f1"/>
    <p:sldId xmlns:r="http://schemas.openxmlformats.org/officeDocument/2006/relationships" id="260" r:id="R6ae10e52f61549d8"/>
    <p:sldId xmlns:r="http://schemas.openxmlformats.org/officeDocument/2006/relationships" id="261" r:id="R882b570116aa4afd"/>
    <p:sldId xmlns:r="http://schemas.openxmlformats.org/officeDocument/2006/relationships" id="262" r:id="Rd4db7ed2d86d472e"/>
    <p:sldId xmlns:r="http://schemas.openxmlformats.org/officeDocument/2006/relationships" id="263" r:id="R625b7a1dd8e44788"/>
    <p:sldId xmlns:r="http://schemas.openxmlformats.org/officeDocument/2006/relationships" id="264" r:id="R7388baca7c2d431e"/>
    <p:sldId xmlns:r="http://schemas.openxmlformats.org/officeDocument/2006/relationships" id="265" r:id="Rf3b07c214a2a4cef"/>
    <p:sldId xmlns:r="http://schemas.openxmlformats.org/officeDocument/2006/relationships" id="266" r:id="R3da1440f95d5495c"/>
    <p:sldId xmlns:r="http://schemas.openxmlformats.org/officeDocument/2006/relationships" id="267" r:id="R90796d354b904b61"/>
    <p:sldId xmlns:r="http://schemas.openxmlformats.org/officeDocument/2006/relationships" id="268" r:id="Rfe5bc584e18948c1"/>
    <p:sldId xmlns:r="http://schemas.openxmlformats.org/officeDocument/2006/relationships" id="269" r:id="R3f7ae97b7c314d39"/>
    <p:sldId xmlns:r="http://schemas.openxmlformats.org/officeDocument/2006/relationships" id="270" r:id="R26bdce5f8cc2488b"/>
    <p:sldId xmlns:r="http://schemas.openxmlformats.org/officeDocument/2006/relationships" id="271" r:id="R6d87f102207441ca"/>
    <p:sldId xmlns:r="http://schemas.openxmlformats.org/officeDocument/2006/relationships" id="272" r:id="R19cbd894e0d94004"/>
    <p:sldId xmlns:r="http://schemas.openxmlformats.org/officeDocument/2006/relationships" id="273" r:id="Rb59d7cc36c254890"/>
    <p:sldId xmlns:r="http://schemas.openxmlformats.org/officeDocument/2006/relationships" id="274" r:id="R60072c4e7cf248ba"/>
    <p:sldId xmlns:r="http://schemas.openxmlformats.org/officeDocument/2006/relationships" id="275" r:id="R17609488e4b646cc"/>
    <p:sldId xmlns:r="http://schemas.openxmlformats.org/officeDocument/2006/relationships" id="276" r:id="R08eb7e9396484002"/>
    <p:sldId xmlns:r="http://schemas.openxmlformats.org/officeDocument/2006/relationships" id="277" r:id="R8a9426618c194bd0"/>
    <p:sldId xmlns:r="http://schemas.openxmlformats.org/officeDocument/2006/relationships" id="278" r:id="R462b9f09c83d438d"/>
    <p:sldId xmlns:r="http://schemas.openxmlformats.org/officeDocument/2006/relationships" id="279" r:id="R4d44b00951a94ce6"/>
    <p:sldId xmlns:r="http://schemas.openxmlformats.org/officeDocument/2006/relationships" id="280" r:id="R553892643c3948b9"/>
    <p:sldId xmlns:r="http://schemas.openxmlformats.org/officeDocument/2006/relationships" id="281" r:id="Rbc59c6f6a07a4640"/>
    <p:sldId xmlns:r="http://schemas.openxmlformats.org/officeDocument/2006/relationships" id="282" r:id="R123967bdb23b46b0"/>
    <p:sldId xmlns:r="http://schemas.openxmlformats.org/officeDocument/2006/relationships" id="283" r:id="Rff8e1b7108c8413b"/>
    <p:sldId xmlns:r="http://schemas.openxmlformats.org/officeDocument/2006/relationships" id="284" r:id="Rb1d33a44299c4041"/>
    <p:sldId xmlns:r="http://schemas.openxmlformats.org/officeDocument/2006/relationships" id="285" r:id="Rc4a33855a8a04576"/>
    <p:sldId xmlns:r="http://schemas.openxmlformats.org/officeDocument/2006/relationships" id="286" r:id="Rff5593324b5c4ee2"/>
    <p:sldId xmlns:r="http://schemas.openxmlformats.org/officeDocument/2006/relationships" id="287" r:id="Rfb48cc9a57294289"/>
    <p:sldId xmlns:r="http://schemas.openxmlformats.org/officeDocument/2006/relationships" id="288" r:id="R0bd55133bb604294"/>
    <p:sldId xmlns:r="http://schemas.openxmlformats.org/officeDocument/2006/relationships" id="289" r:id="R5bb7dfab95244734"/>
    <p:sldId xmlns:r="http://schemas.openxmlformats.org/officeDocument/2006/relationships" id="290" r:id="Rca2ffe1704df4ad5"/>
    <p:sldId xmlns:r="http://schemas.openxmlformats.org/officeDocument/2006/relationships" id="291" r:id="Re0de9dfb10be4fae"/>
    <p:sldId xmlns:r="http://schemas.openxmlformats.org/officeDocument/2006/relationships" id="292" r:id="Rc4e1546c88c8454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b3eba1ea40544e2" /><Relationship Type="http://schemas.openxmlformats.org/officeDocument/2006/relationships/slideMaster" Target="/ppt/slideMasters/slideMaster1.xml" Id="R24efd0a5f27b465f" /><Relationship Type="http://schemas.openxmlformats.org/officeDocument/2006/relationships/notesMaster" Target="/ppt/notesMasters/notesMaster1.xml" Id="Rc792f3b3056242fc" /><Relationship Type="http://schemas.openxmlformats.org/officeDocument/2006/relationships/presProps" Target="/ppt/presProps.xml" Id="R60309da4ba1f48f1" /><Relationship Type="http://schemas.openxmlformats.org/officeDocument/2006/relationships/tableStyles" Target="/ppt/tableStyles.xml" Id="R81687ea0878e467c" /><Relationship Type="http://schemas.openxmlformats.org/officeDocument/2006/relationships/slide" Target="/ppt/slides/slide1.xml" Id="Rc84e5b05bec84864" /><Relationship Type="http://schemas.openxmlformats.org/officeDocument/2006/relationships/slide" Target="/ppt/slides/slide2.xml" Id="Rb2cbea713a764c75" /><Relationship Type="http://schemas.openxmlformats.org/officeDocument/2006/relationships/slide" Target="/ppt/slides/slide3.xml" Id="R8d7b044144f64d92" /><Relationship Type="http://schemas.openxmlformats.org/officeDocument/2006/relationships/slide" Target="/ppt/slides/slide4.xml" Id="Rc4c01d98287948f1" /><Relationship Type="http://schemas.openxmlformats.org/officeDocument/2006/relationships/slide" Target="/ppt/slides/slide5.xml" Id="R6ae10e52f61549d8" /><Relationship Type="http://schemas.openxmlformats.org/officeDocument/2006/relationships/slide" Target="/ppt/slides/slide6.xml" Id="R882b570116aa4afd" /><Relationship Type="http://schemas.openxmlformats.org/officeDocument/2006/relationships/slide" Target="/ppt/slides/slide7.xml" Id="Rd4db7ed2d86d472e" /><Relationship Type="http://schemas.openxmlformats.org/officeDocument/2006/relationships/slide" Target="/ppt/slides/slide8.xml" Id="R625b7a1dd8e44788" /><Relationship Type="http://schemas.openxmlformats.org/officeDocument/2006/relationships/slide" Target="/ppt/slides/slide9.xml" Id="R7388baca7c2d431e" /><Relationship Type="http://schemas.openxmlformats.org/officeDocument/2006/relationships/slide" Target="/ppt/slides/slide10.xml" Id="Rf3b07c214a2a4cef" /><Relationship Type="http://schemas.openxmlformats.org/officeDocument/2006/relationships/slide" Target="/ppt/slides/slide11.xml" Id="R3da1440f95d5495c" /><Relationship Type="http://schemas.openxmlformats.org/officeDocument/2006/relationships/slide" Target="/ppt/slides/slide12.xml" Id="R90796d354b904b61" /><Relationship Type="http://schemas.openxmlformats.org/officeDocument/2006/relationships/slide" Target="/ppt/slides/slide13.xml" Id="Rfe5bc584e18948c1" /><Relationship Type="http://schemas.openxmlformats.org/officeDocument/2006/relationships/slide" Target="/ppt/slides/slide14.xml" Id="R3f7ae97b7c314d39" /><Relationship Type="http://schemas.openxmlformats.org/officeDocument/2006/relationships/slide" Target="/ppt/slides/slide15.xml" Id="R26bdce5f8cc2488b" /><Relationship Type="http://schemas.openxmlformats.org/officeDocument/2006/relationships/slide" Target="/ppt/slides/slide16.xml" Id="R6d87f102207441ca" /><Relationship Type="http://schemas.openxmlformats.org/officeDocument/2006/relationships/slide" Target="/ppt/slides/slide17.xml" Id="R19cbd894e0d94004" /><Relationship Type="http://schemas.openxmlformats.org/officeDocument/2006/relationships/slide" Target="/ppt/slides/slide18.xml" Id="Rb59d7cc36c254890" /><Relationship Type="http://schemas.openxmlformats.org/officeDocument/2006/relationships/slide" Target="/ppt/slides/slide19.xml" Id="R60072c4e7cf248ba" /><Relationship Type="http://schemas.openxmlformats.org/officeDocument/2006/relationships/slide" Target="/ppt/slides/slide20.xml" Id="R17609488e4b646cc" /><Relationship Type="http://schemas.openxmlformats.org/officeDocument/2006/relationships/slide" Target="/ppt/slides/slide21.xml" Id="R08eb7e9396484002" /><Relationship Type="http://schemas.openxmlformats.org/officeDocument/2006/relationships/slide" Target="/ppt/slides/slide22.xml" Id="R8a9426618c194bd0" /><Relationship Type="http://schemas.openxmlformats.org/officeDocument/2006/relationships/slide" Target="/ppt/slides/slide23.xml" Id="R462b9f09c83d438d" /><Relationship Type="http://schemas.openxmlformats.org/officeDocument/2006/relationships/slide" Target="/ppt/slides/slide24.xml" Id="R4d44b00951a94ce6" /><Relationship Type="http://schemas.openxmlformats.org/officeDocument/2006/relationships/slide" Target="/ppt/slides/slide25.xml" Id="R553892643c3948b9" /><Relationship Type="http://schemas.openxmlformats.org/officeDocument/2006/relationships/slide" Target="/ppt/slides/slide26.xml" Id="Rbc59c6f6a07a4640" /><Relationship Type="http://schemas.openxmlformats.org/officeDocument/2006/relationships/slide" Target="/ppt/slides/slide27.xml" Id="R123967bdb23b46b0" /><Relationship Type="http://schemas.openxmlformats.org/officeDocument/2006/relationships/slide" Target="/ppt/slides/slide28.xml" Id="Rff8e1b7108c8413b" /><Relationship Type="http://schemas.openxmlformats.org/officeDocument/2006/relationships/slide" Target="/ppt/slides/slide29.xml" Id="Rb1d33a44299c4041" /><Relationship Type="http://schemas.openxmlformats.org/officeDocument/2006/relationships/slide" Target="/ppt/slides/slide30.xml" Id="Rc4a33855a8a04576" /><Relationship Type="http://schemas.openxmlformats.org/officeDocument/2006/relationships/slide" Target="/ppt/slides/slide31.xml" Id="Rff5593324b5c4ee2" /><Relationship Type="http://schemas.openxmlformats.org/officeDocument/2006/relationships/slide" Target="/ppt/slides/slide32.xml" Id="Rfb48cc9a57294289" /><Relationship Type="http://schemas.openxmlformats.org/officeDocument/2006/relationships/slide" Target="/ppt/slides/slide33.xml" Id="R0bd55133bb604294" /><Relationship Type="http://schemas.openxmlformats.org/officeDocument/2006/relationships/slide" Target="/ppt/slides/slide34.xml" Id="R5bb7dfab95244734" /><Relationship Type="http://schemas.openxmlformats.org/officeDocument/2006/relationships/slide" Target="/ppt/slides/slide35.xml" Id="Rca2ffe1704df4ad5" /><Relationship Type="http://schemas.openxmlformats.org/officeDocument/2006/relationships/slide" Target="/ppt/slides/slide36.xml" Id="Re0de9dfb10be4fae" /><Relationship Type="http://schemas.openxmlformats.org/officeDocument/2006/relationships/slide" Target="/ppt/slides/slide37.xml" Id="Rc4e1546c88c8454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538192cd7440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64170921784cee" /><Relationship Type="http://schemas.openxmlformats.org/officeDocument/2006/relationships/notesMaster" Target="/ppt/notesMasters/notesMaster1.xml" Id="Rc4fcb8525d444a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5f7a15167904e4e" /><Relationship Type="http://schemas.openxmlformats.org/officeDocument/2006/relationships/notesMaster" Target="/ppt/notesMasters/notesMaster1.xml" Id="R59c63c78676c46c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335eb6df1f42c9" /><Relationship Type="http://schemas.openxmlformats.org/officeDocument/2006/relationships/notesMaster" Target="/ppt/notesMasters/notesMaster1.xml" Id="R14d36ef562db44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f0d2a576bc745ed" /><Relationship Type="http://schemas.openxmlformats.org/officeDocument/2006/relationships/notesMaster" Target="/ppt/notesMasters/notesMaster1.xml" Id="R96286fb1776846e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f05b1ec158c4023" /><Relationship Type="http://schemas.openxmlformats.org/officeDocument/2006/relationships/notesMaster" Target="/ppt/notesMasters/notesMaster1.xml" Id="Rd4b5cac146d3423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e6d9f6f70084da0" /><Relationship Type="http://schemas.openxmlformats.org/officeDocument/2006/relationships/notesMaster" Target="/ppt/notesMasters/notesMaster1.xml" Id="R1e0080131c194a0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20eb57b4562477b" /><Relationship Type="http://schemas.openxmlformats.org/officeDocument/2006/relationships/notesMaster" Target="/ppt/notesMasters/notesMaster1.xml" Id="R41b776302ecb49c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0d63707c19444e0" /><Relationship Type="http://schemas.openxmlformats.org/officeDocument/2006/relationships/notesMaster" Target="/ppt/notesMasters/notesMaster1.xml" Id="R431f3fb1498f4eb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4d03db88b02423b" /><Relationship Type="http://schemas.openxmlformats.org/officeDocument/2006/relationships/notesMaster" Target="/ppt/notesMasters/notesMaster1.xml" Id="R9b79fc1ca7414a4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ecfd3181f944baa" /><Relationship Type="http://schemas.openxmlformats.org/officeDocument/2006/relationships/notesMaster" Target="/ppt/notesMasters/notesMaster1.xml" Id="Reb4342cf740d4df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ba4d2ba17f84384" /><Relationship Type="http://schemas.openxmlformats.org/officeDocument/2006/relationships/notesMaster" Target="/ppt/notesMasters/notesMaster1.xml" Id="R9c7aa60ffa704e8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1ef84cde9de43c5" /><Relationship Type="http://schemas.openxmlformats.org/officeDocument/2006/relationships/notesMaster" Target="/ppt/notesMasters/notesMaster1.xml" Id="R6386c8532e0e4f3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9f7a02081b94ba9" /><Relationship Type="http://schemas.openxmlformats.org/officeDocument/2006/relationships/notesMaster" Target="/ppt/notesMasters/notesMaster1.xml" Id="R1713b3bedb2d4cd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f561ed44c3b4b22" /><Relationship Type="http://schemas.openxmlformats.org/officeDocument/2006/relationships/notesMaster" Target="/ppt/notesMasters/notesMaster1.xml" Id="Ra55c3a4cb41f4ce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c90a73f1f2c4796" /><Relationship Type="http://schemas.openxmlformats.org/officeDocument/2006/relationships/notesMaster" Target="/ppt/notesMasters/notesMaster1.xml" Id="R6a10c395b9d64e2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bad1f7378d94d87" /><Relationship Type="http://schemas.openxmlformats.org/officeDocument/2006/relationships/notesMaster" Target="/ppt/notesMasters/notesMaster1.xml" Id="R5654934796e34e5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0422c76e0314437" /><Relationship Type="http://schemas.openxmlformats.org/officeDocument/2006/relationships/notesMaster" Target="/ppt/notesMasters/notesMaster1.xml" Id="R9a0696e4b638493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b077866aca4467b" /><Relationship Type="http://schemas.openxmlformats.org/officeDocument/2006/relationships/notesMaster" Target="/ppt/notesMasters/notesMaster1.xml" Id="R2b7b2a715dfc426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6e9a238ce284d8e" /><Relationship Type="http://schemas.openxmlformats.org/officeDocument/2006/relationships/notesMaster" Target="/ppt/notesMasters/notesMaster1.xml" Id="R25cc819336b3440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1779849d6f945f3" /><Relationship Type="http://schemas.openxmlformats.org/officeDocument/2006/relationships/notesMaster" Target="/ppt/notesMasters/notesMaster1.xml" Id="Rf4141a77449f4c8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3cd44eaee6f4635" /><Relationship Type="http://schemas.openxmlformats.org/officeDocument/2006/relationships/notesMaster" Target="/ppt/notesMasters/notesMaster1.xml" Id="R4c8d543c71e74a4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00a3762ad664cb6" /><Relationship Type="http://schemas.openxmlformats.org/officeDocument/2006/relationships/notesMaster" Target="/ppt/notesMasters/notesMaster1.xml" Id="R5e193f51e0b9484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f534d179efe423e" /><Relationship Type="http://schemas.openxmlformats.org/officeDocument/2006/relationships/notesMaster" Target="/ppt/notesMasters/notesMaster1.xml" Id="R2934b4a4c8f84bc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7ed8eab38f444c1" /><Relationship Type="http://schemas.openxmlformats.org/officeDocument/2006/relationships/notesMaster" Target="/ppt/notesMasters/notesMaster1.xml" Id="R1b2f626601594ae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cdeba174c744aaa" /><Relationship Type="http://schemas.openxmlformats.org/officeDocument/2006/relationships/notesMaster" Target="/ppt/notesMasters/notesMaster1.xml" Id="Rf03a9f2bb71445d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d9c4d0f323a4958" /><Relationship Type="http://schemas.openxmlformats.org/officeDocument/2006/relationships/notesMaster" Target="/ppt/notesMasters/notesMaster1.xml" Id="Rcd7f1995fae842d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3abaaa71fe64f74" /><Relationship Type="http://schemas.openxmlformats.org/officeDocument/2006/relationships/notesMaster" Target="/ppt/notesMasters/notesMaster1.xml" Id="Re98e0a2efd4e463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af2afae24494ce7" /><Relationship Type="http://schemas.openxmlformats.org/officeDocument/2006/relationships/notesMaster" Target="/ppt/notesMasters/notesMaster1.xml" Id="Rdc22e1ec1d5f41a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2da98c9c0084c4f" /><Relationship Type="http://schemas.openxmlformats.org/officeDocument/2006/relationships/notesMaster" Target="/ppt/notesMasters/notesMaster1.xml" Id="R7b0e4f2bd3754d2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7ea091e9db34567" /><Relationship Type="http://schemas.openxmlformats.org/officeDocument/2006/relationships/notesMaster" Target="/ppt/notesMasters/notesMaster1.xml" Id="Ra4b723fce9b9462a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c28169c1cf734958" /><Relationship Type="http://schemas.openxmlformats.org/officeDocument/2006/relationships/notesMaster" Target="/ppt/notesMasters/notesMaster1.xml" Id="R5ccb26c0484845e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3eb07872c6e4557" /><Relationship Type="http://schemas.openxmlformats.org/officeDocument/2006/relationships/notesMaster" Target="/ppt/notesMasters/notesMaster1.xml" Id="R927fb4a24ab24a12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fa734fed0d464c6f" /><Relationship Type="http://schemas.openxmlformats.org/officeDocument/2006/relationships/notesMaster" Target="/ppt/notesMasters/notesMaster1.xml" Id="Rb4a42d7b832c4c74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49bed210784448c4" /><Relationship Type="http://schemas.openxmlformats.org/officeDocument/2006/relationships/notesMaster" Target="/ppt/notesMasters/notesMaster1.xml" Id="Reac87165afe4467e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0bac523b6dd64c11" /><Relationship Type="http://schemas.openxmlformats.org/officeDocument/2006/relationships/notesMaster" Target="/ppt/notesMasters/notesMaster1.xml" Id="Rbd3d7dc6e06e445d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efe12f8766d54a81" /><Relationship Type="http://schemas.openxmlformats.org/officeDocument/2006/relationships/notesMaster" Target="/ppt/notesMasters/notesMaster1.xml" Id="Rf5be678ff06b4f3e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891e1c3e3b7e4010" /><Relationship Type="http://schemas.openxmlformats.org/officeDocument/2006/relationships/notesMaster" Target="/ppt/notesMasters/notesMaster1.xml" Id="R1ae81ed06b6543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/Users/yinzh/PycharmProjects/EPUB_to_Audio_Converter-1/docs/项目进度与人工验收安排.md</a:t>
            </a:r>
          </a:p>
          <a:p xmlns:a="http://schemas.openxmlformats.org/drawingml/2006/main">
            <a:r>
              <a:t>/Users/yinzh/PycharmProjects/EPUB_to_Audio_Converter-1/docs/MiMo统一核心使用与验收.md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首页展示准备书籍、选择声音、多角色配音、确认生成四个入口步骤。已有书籍已载入，当前没有启动生成。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界面来源：http://127.0.0.1:7862/，2026-10-18 当前运行的有声书工坊。</a:t>
            </a:r>
          </a:p>
          <a:p xmlns:a="http://schemas.openxmlformats.org/drawingml/2006/main">
            <a:r>
              <a:t>截图原图：/Users/yinzh/PycharmProjects/EPUB_to_Audio_Converter-1/docs/presentation_20261018/assets/ui_20261018/home_full.jpg</a:t>
            </a:r>
          </a:p>
          <a:p xmlns:a="http://schemas.openxmlformats.org/drawingml/2006/main">
            <a:r>
              <a:t>代码：/Users/yinzh/PycharmProjects/EPUB_to_Audio_Converter-1/audiobook_generator/ui/web_ui.py</a:t>
            </a:r>
          </a:p>
          <a:p xmlns:a="http://schemas.openxmlformats.org/drawingml/2006/main">
            <a:r>
              <a:t>截图使用已有本地书籍、剧本和音频，不代表本轮新生成或新验收。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/Users/yinzh/PycharmProjects/EPUB_to_Audio_Converter-1/docs/MiMo统一核心使用与验收.md</a:t>
            </a:r>
          </a:p>
          <a:p xmlns:a="http://schemas.openxmlformats.org/drawingml/2006/main">
            <a:r>
              <a:t>/Users/yinzh/PycharmProjects/EPUB_to_Audio_Converter-1/docs/项目进度与人工验收安排.md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/Users/yinzh/PycharmProjects/EPUB_to_Audio_Converter-1/docs/MiMo统一核心使用与验收.md</a:t>
            </a:r>
          </a:p>
          <a:p xmlns:a="http://schemas.openxmlformats.org/drawingml/2006/main">
            <a:r>
              <a:t>/Users/yinzh/PycharmProjects/EPUB_to_Audio_Converter-1/audiobook_generator/audio_core/pipeline.py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截图为已有 Flipped.source.epub 的章节选择。全书目录20项，本轮范围限定第5章Diving Under，显示14,311字符。这里展示范围选择和字符统计，不表示点击了生成。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界面来源：http://127.0.0.1:7862/，2026-10-18 当前运行的有声书工坊。</a:t>
            </a:r>
          </a:p>
          <a:p xmlns:a="http://schemas.openxmlformats.org/drawingml/2006/main">
            <a:r>
              <a:t>截图原图：/Users/yinzh/PycharmProjects/EPUB_to_Audio_Converter-1/docs/presentation_20261018/assets/ui_20261018/chapter_full.jpg</a:t>
            </a:r>
          </a:p>
          <a:p xmlns:a="http://schemas.openxmlformats.org/drawingml/2006/main">
            <a:r>
              <a:t>代码：/Users/yinzh/PycharmProjects/EPUB_to_Audio_Converter-1/audiobook_generator/ui/web_ui.py</a:t>
            </a:r>
          </a:p>
          <a:p xmlns:a="http://schemas.openxmlformats.org/drawingml/2006/main">
            <a:r>
              <a:t>截图使用已有本地书籍、剧本和音频，不代表本轮新生成或新验收。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/Users/yinzh/PycharmProjects/EPUB_to_Audio_Converter-1/docs/MiMo统一核心使用与验收.md</a:t>
            </a:r>
          </a:p>
          <a:p xmlns:a="http://schemas.openxmlformats.org/drawingml/2006/main">
            <a:r>
              <a:t>/Users/yinzh/PycharmProjects/EPUB_to_Audio_Converter-1/docs/项目进度与人工验收安排.md</a:t>
            </a:r>
          </a:p>
          <a:p xmlns:a="http://schemas.openxmlformats.org/drawingml/2006/main">
            <a:r>
              <a:t>/Users/yinzh/PycharmProjects/EPUB_to_Audio_Converter-1/docs/论文创新点与实现方案.md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/Users/yinzh/PycharmProjects/EPUB_to_Audio_Converter-1/docs/validation/narration_identity_20261017/README.md</a:t>
            </a:r>
          </a:p>
          <a:p xmlns:a="http://schemas.openxmlformats.org/drawingml/2006/main">
            <a:r>
              <a:t>/Users/yinzh/PycharmProjects/EPUB_to_Audio_Converter-1/audiobook_generator/role_script/validator.py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汇报截止：2026-10-18。技术补充基于项目现有代码，公式归纳当前实现，未经独立实验验证的效果不作结论。</a:t>
            </a:r>
          </a:p>
          <a:p xmlns:a="http://schemas.openxmlformats.org/drawingml/2006/main">
            <a:r>
              <a:t>S 表示本章原文。source_span 使用半开区间 [start,end)。严格来源校验要求切片内容与分段完全一致、区间连续且覆盖全章。角色归属的引文同样需要切片验证。该机制保证结构与引文可追溯，不能保证模型对说话人语义判断必然正确。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/Users/yinzh/PycharmProjects/EPUB_to_Audio_Converter-1/audiobook_generator/role_script/validator.py</a:t>
            </a:r>
          </a:p>
          <a:p xmlns:a="http://schemas.openxmlformats.org/drawingml/2006/main">
            <a:r>
              <a:t>/Users/yinzh/PycharmProjects/EPUB_to_Audio_Converter-1/docs/validation/narration_identity_20261017/README.md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载入已有 machine_proposal_final.json，含13角色、2章节、77段。章节5有62段、章节6有15段。界面显示“已确认当前副本”属于现有导入行为，不代表77段已经人工验收。分析来源标记仍为proposed。截图展示本章叙述声音的设置，没有点击应用或新生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界面来源：http://127.0.0.1:7862/，2026-10-18 当前运行的有声书工坊。</a:t>
            </a:r>
          </a:p>
          <a:p xmlns:a="http://schemas.openxmlformats.org/drawingml/2006/main">
            <a:r>
              <a:t>截图原图：/Users/yinzh/PycharmProjects/EPUB_to_Audio_Converter-1/docs/presentation_20261018/assets/ui_20261018/narration_full.jpg</a:t>
            </a:r>
          </a:p>
          <a:p xmlns:a="http://schemas.openxmlformats.org/drawingml/2006/main">
            <a:r>
              <a:t>代码：/Users/yinzh/PycharmProjects/EPUB_to_Audio_Converter-1/audiobook_generator/ui/web_ui.py</a:t>
            </a:r>
          </a:p>
          <a:p xmlns:a="http://schemas.openxmlformats.org/drawingml/2006/main">
            <a:r>
              <a:t>截图使用已有本地书籍、剧本和音频，不代表本轮新生成或新验收。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/Users/yinzh/PycharmProjects/EPUB_to_Audio_Converter-1/docs/MiMo统一核心使用与验收.md</a:t>
            </a:r>
          </a:p>
          <a:p xmlns:a="http://schemas.openxmlformats.org/drawingml/2006/main">
            <a:r>
              <a:t>/Users/yinzh/PycharmProjects/EPUB_to_Audio_Converter-1/audiobook_generator/audio_core/reading.py</a:t>
            </a:r>
          </a:p>
          <a:p xmlns:a="http://schemas.openxmlformats.org/drawingml/2006/main">
            <a:r>
              <a:t>/Users/yinzh/PycharmProjects/EPUB_to_Audio_Converter-1/audiobook_generator/audio_core/english_reading.py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/Users/yinzh/PycharmProjects/EPUB_to_Audio_Converter-1/docs/MiMo混合选角使用与验收.md</a:t>
            </a:r>
          </a:p>
          <a:p xmlns:a="http://schemas.openxmlformats.org/drawingml/2006/main">
            <a:r>
              <a:t>/Users/yinzh/PycharmProjects/EPUB_to_Audio_Converter-1/audiobook_generator/audio_core/casting.py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汇报截止：2026-10-18。技术补充基于项目现有代码，公式归纳当前实现，未经独立实验验证的效果不作结论。</a:t>
            </a:r>
          </a:p>
          <a:p xmlns:a="http://schemas.openxmlformats.org/drawingml/2006/main">
            <a:r>
              <a:t>每个声音至少具有两条共同探针，先核验合成结果再允许进入声音库。对相同文本分别比较两种声音的声纹向量，计算余弦距离。跨文本汇总采用均值减0.25倍标准差，并截断为非负值。常数为当前实现值，不代表最优超参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/Users/yinzh/PycharmProjects/EPUB_to_Audio_Converter-1/audiobook_generator/audio_core/casting.py</a:t>
            </a:r>
          </a:p>
          <a:p xmlns:a="http://schemas.openxmlformats.org/drawingml/2006/main">
            <a:r>
              <a:t>/Users/yinzh/PycharmProjects/EPUB_to_Audio_Converter-1/docs/MiMo混合选角使用与验收.md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汇报截止：2026-10-18。技术补充基于项目现有代码，公式归纳当前实现，未经独立实验验证的效果不作结论。</a:t>
            </a:r>
          </a:p>
          <a:p xmlns:a="http://schemas.openxmlformats.org/drawingml/2006/main">
            <a:r>
              <a:t>w_ij 是角色 i、j 连续对话切换次数，旁白或至少1.5秒停顿会断开链条。f(i) 是分配的声音，P 是人工审查的角色适配惩罚，M 是相对初始分配的换声数。目标函数系数0.25、0.1、0.05是代码当前配置。完整候选空间不超过4096时精确枚举，否则按加权度贪心并最多20轮局部改配或交换。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/Users/yinzh/PycharmProjects/EPUB_to_Audio_Converter-1/audiobook_generator/audio_core/casting.py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/Users/yinzh/PycharmProjects/EPUB_to_Audio_Converter-1/docs/MiMo参考音克隆接入与验收.md</a:t>
            </a:r>
          </a:p>
          <a:p xmlns:a="http://schemas.openxmlformats.org/drawingml/2006/main">
            <a:r>
              <a:t>/Users/yinzh/PycharmProjects/EPUB_to_Audio_Converter-1/docs/MiMo混合选角使用与验收.md</a:t>
            </a:r>
          </a:p>
          <a:p xmlns:a="http://schemas.openxmlformats.org/drawingml/2006/main">
            <a:r>
              <a:t>/Users/yinzh/PycharmProjects/EPUB_to_Audio_Converter-1/audiobook_generator/tts_providers/mimo_voice.py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同一份已载入的V2剧本，选择Juli Baker后实际显示Chloe、英语、1.0倍速。右侧试听结果为空，因此不能称这次试听成功。固定试听会保存本地参考音，之后试听或生成可能向MiMo发送参考音，此处未触发。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界面来源：http://127.0.0.1:7862/，2026-10-18 当前运行的有声书工坊。</a:t>
            </a:r>
          </a:p>
          <a:p xmlns:a="http://schemas.openxmlformats.org/drawingml/2006/main">
            <a:r>
              <a:t>截图原图：/Users/yinzh/PycharmProjects/EPUB_to_Audio_Converter-1/docs/presentation_20261018/assets/ui_20261018/role_full.jpg</a:t>
            </a:r>
          </a:p>
          <a:p xmlns:a="http://schemas.openxmlformats.org/drawingml/2006/main">
            <a:r>
              <a:t>代码：/Users/yinzh/PycharmProjects/EPUB_to_Audio_Converter-1/audiobook_generator/ui/web_ui.py</a:t>
            </a:r>
          </a:p>
          <a:p xmlns:a="http://schemas.openxmlformats.org/drawingml/2006/main">
            <a:r>
              <a:t>截图使用已有本地书籍、剧本和音频，不代表本轮新生成或新验收。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/Users/yinzh/PycharmProjects/EPUB_to_Audio_Converter-1/docs/MiMo统一核心使用与验收.md</a:t>
            </a:r>
          </a:p>
          <a:p xmlns:a="http://schemas.openxmlformats.org/drawingml/2006/main">
            <a:r>
              <a:t>/Users/yinzh/PycharmProjects/EPUB_to_Audio_Converter-1/audiobook_generator/audio_core/quality.py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QualityEvaluator.evaluate_chunk 分别产生 signal、content、consistency 维度。evaluate_boundary 对每组相邻片段产生 stitching、content 维度。正式管线先检查各块，再为相邻两块组装完整窗口并转写检查。三类输入以 ReadingChunk.tts_text、role_id、音频路径和角色 anchor 为准，不拿未经处理的书籍排版文本直接比对。不得把文本一致、能解码、人物一致或主观自然度合并成一个未经验证的“正确率”。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项目源码与本地证据（截至 2026-10-18）：</a:t>
            </a:r>
          </a:p>
          <a:p xmlns:a="http://schemas.openxmlformats.org/drawingml/2006/main">
            <a:r>
              <a:t>/Users/yinzh/PycharmProjects/EPUB_to_Audio_Converter-1/audiobook_generator/audio_core/quality.py</a:t>
            </a:r>
          </a:p>
          <a:p xmlns:a="http://schemas.openxmlformats.org/drawingml/2006/main">
            <a:r>
              <a:t>/Users/yinzh/PycharmProjects/EPUB_to_Audio_Converter-1/audiobook_generator/audio_core/pipeline.py</a:t>
            </a:r>
          </a:p>
          <a:p xmlns:a="http://schemas.openxmlformats.org/drawingml/2006/main">
            <a:r>
              <a:t>/Users/yinzh/PycharmProjects/EPUB_to_Audio_Converter-1/audiobook_generator/audio_core/models.py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真实界面中MiMo检查开启，自动修复关闭。已发现本地内容转写与声纹模型，但阈值及独立验收仍需按项目报告判断。读取既有报告不会调用付费合成。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界面来源：http://127.0.0.1:7862/，2026-10-18 当前运行的有声书工坊。</a:t>
            </a:r>
          </a:p>
          <a:p xmlns:a="http://schemas.openxmlformats.org/drawingml/2006/main">
            <a:r>
              <a:t>截图原图：/Users/yinzh/PycharmProjects/EPUB_to_Audio_Converter-1/docs/presentation_20261018/assets/ui_20261018/checks_full.jpg</a:t>
            </a:r>
          </a:p>
          <a:p xmlns:a="http://schemas.openxmlformats.org/drawingml/2006/main">
            <a:r>
              <a:t>代码：/Users/yinzh/PycharmProjects/EPUB_to_Audio_Converter-1/audiobook_generator/ui/web_ui.py</a:t>
            </a:r>
          </a:p>
          <a:p xmlns:a="http://schemas.openxmlformats.org/drawingml/2006/main">
            <a:r>
              <a:t>截图使用已有本地书籍、剧本和音频，不代表本轮新生成或新验收。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转写路径：QualityEvaluator.transcript → SenseVoiceBackend.__call__ → voxcpm_asr.transcribe_audio。FunASR AutoModel.generate(input=..., language="auto", use_itn=True)，从 result[0]["text"].split("|&gt;")[-1] 获取正文。核心后端要求已配置的本地模型目录，固定 CPU，模型版本纳入缓存指纹，不隐式下载。comparison_details 先做 Unicode NFKC、弯撇号转直撇号、normalize_reading_text、显式词典与内置数值等价，再按语言分词。英文 comparison_reading 仅支持有边界的数值/日期等价，模糊编号和缩略词不任意展开。中文按规范化后的字符比较，混合语言使用 mixed_token 并单独记录指标。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项目源码与本地证据（截至 2026-10-18）：</a:t>
            </a:r>
          </a:p>
          <a:p xmlns:a="http://schemas.openxmlformats.org/drawingml/2006/main">
            <a:r>
              <a:t>/Users/yinzh/PycharmProjects/EPUB_to_Audio_Converter-1/audiobook_generator/audio_core/backends.py</a:t>
            </a:r>
          </a:p>
          <a:p xmlns:a="http://schemas.openxmlformats.org/drawingml/2006/main">
            <a:r>
              <a:t>/Users/yinzh/PycharmProjects/EPUB_to_Audio_Converter-1/audiobook_generator/utils/voxcpm_asr.py</a:t>
            </a:r>
          </a:p>
          <a:p xmlns:a="http://schemas.openxmlformats.org/drawingml/2006/main">
            <a:r>
              <a:t>/Users/yinzh/PycharmProjects/EPUB_to_Audio_Converter-1/audiobook_generator/audio_core/reading.py</a:t>
            </a:r>
          </a:p>
          <a:p xmlns:a="http://schemas.openxmlformats.org/drawingml/2006/main">
            <a:r>
              <a:t>/Users/yinzh/PycharmProjects/EPUB_to_Audio_Converter-1/audiobook_generator/audio_core/english_reading.py</a:t>
            </a:r>
          </a:p>
          <a:p xmlns:a="http://schemas.openxmlformats.org/drawingml/2006/main">
            <a:r>
              <a:t>/Users/yinzh/PycharmProjects/EPUB_to_Audio_Converter-1/audiobook_generator/audio_core/quality.py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align_text 使用 Levenshtein 动态规划。D(i,j) 表示参考前 i 个单位与识别前 j 个单位的最小改动数。边界 D(i,0)=i，D(0,j)=j。先填表，再从右下角回溯得到 replace/delete/insert，保存 reference_index、hypothesis_index 和具体文本。中文指标 CER，英文 WER，混合文本 mixed_token_error_rate。error_rate=dist/max(1,len(reference_tokens))，多读很多时可以超过 100%，不能把 1-error_rate 直接称为音频正确率。索引定位到规范化后的字词，不等于毫秒级声学时间戳。只要出现任意差异，content 仍为 incomplete 并写 asr_mismatch，不是凭一个百分比阈值确认缺陷。本页中文例子为算法示意，不是项目实测音频。R034 的真实接受与误报裁决见 v49：要求精确 verified_tts_text、整块内容完整、无增读及音频/报告/告警指纹绑定，不能用一小段试听消除整块提示。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项目源码与本地证据（截至 2026-10-18）：</a:t>
            </a:r>
          </a:p>
          <a:p xmlns:a="http://schemas.openxmlformats.org/drawingml/2006/main">
            <a:r>
              <a:t>/Users/yinzh/PycharmProjects/EPUB_to_Audio_Converter-1/audiobook_generator/audio_core/quality.py</a:t>
            </a:r>
          </a:p>
          <a:p xmlns:a="http://schemas.openxmlformats.org/drawingml/2006/main">
            <a:r>
              <a:t>/Users/yinzh/PycharmProjects/EPUB_to_Audio_Converter-1/audiobook_generator/audio_core/quality_review.py</a:t>
            </a:r>
          </a:p>
          <a:p xmlns:a="http://schemas.openxmlformats.org/drawingml/2006/main">
            <a:r>
              <a:t>/Users/yinzh/PycharmProjects/EPUB_to_Audio_Converter-1/docs/validation/audio_core_20261017/README.md</a:t>
            </a:r>
          </a:p>
          <a:p xmlns:a="http://schemas.openxmlformats.org/drawingml/2006/main">
            <a:r>
              <a:t>/Users/yinzh/PycharmProjects/EPUB_to_Audio_Converter-1/docs/validation/audio_core_20261017/asr_adjudication_actual_v49.json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SpeakerEncoder 使用本地 SpeechBrain ECAPA EncoderClassifier，模型权重齐全才允许运行，CPU 推理。mono_resampled 将声道取均值并用 scipy.signal.resample_poly 抗混叠重采样到 16 kHz。有效语音近似为 RMS≥0.003 的 20 ms 帧，min(总时长,有效帧时长)须≥3 s。模型输出扁平向量并 L2 归一化，QualityEvaluator.embedding 再验证有限数值、非空且范数&gt;0。distance=1−dot(e_current,e_anchor)，&gt;0.35 只触发 speaker_drift，speaker_threshold_kind=uncalibrated。consistency 不会因距离小而自动 passed。参考音优先采用有效固定配置，自动 bootstrap 参考只适用于非 design/clone、无问题且内容通过的片段；这是程序可用参考，不等于人已确认身份。比较时校验参考音 SHA256 与记录绑定，文件发生变化即拒绝沿用依据。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项目源码与本地证据（截至 2026-10-18）：</a:t>
            </a:r>
          </a:p>
          <a:p xmlns:a="http://schemas.openxmlformats.org/drawingml/2006/main">
            <a:r>
              <a:t>/Users/yinzh/PycharmProjects/EPUB_to_Audio_Converter-1/audiobook_generator/audio_core/backends.py</a:t>
            </a:r>
          </a:p>
          <a:p xmlns:a="http://schemas.openxmlformats.org/drawingml/2006/main">
            <a:r>
              <a:t>/Users/yinzh/PycharmProjects/EPUB_to_Audio_Converter-1/audiobook_generator/audio_core/quality.py</a:t>
            </a:r>
          </a:p>
          <a:p xmlns:a="http://schemas.openxmlformats.org/drawingml/2006/main">
            <a:r>
              <a:t>/Users/yinzh/PycharmProjects/EPUB_to_Audio_Converter-1/audiobook_generator/audio_core/audio.py</a:t>
            </a:r>
          </a:p>
          <a:p xmlns:a="http://schemas.openxmlformats.org/drawingml/2006/main">
            <a:r>
              <a:t>/Users/yinzh/PycharmProjects/EPUB_to_Audio_Converter-1/audiobook_generator/audio_core/pipeline.py</a:t>
            </a:r>
          </a:p>
          <a:p xmlns:a="http://schemas.openxmlformats.org/drawingml/2006/main">
            <a:r>
              <a:t>/Users/yinzh/PycharmProjects/EPUB_to_Audio_Converter-1/docs/validation/audio_core_20261017/README.md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signal_features 的 frame_rms 默认帧宽20 ms，RMS≥0.003 估计有效发声，active=min(duration,active_seconds)。可选 SileroVAD 使用随包 ONNX 模型、16 kHz 输入与 get_speech_timestamps，默认 enable_vad=False，失败则沿用轻量估计。reading_count 用规范化参考计数，并非实测逐词时间戳。count≥5、总时长≥1 s、语言为en/zh且没有已发现的内容差异才使用语速规则。英文阈值 max_english_wpm/60，默认300词/分；中文max_rate默认4.3字/秒。abs(log(rate/reference_rate))&gt;log(1.3)，等价于ratio&gt;1.3或ratio&lt;1/1.3，绝非对称±30%。当前或参考文本对齐异常、单位不同时不做相对语速判断。pitch_summary 将音频重采样到8 kHz，320点窗口、160点步长，去均值并加Hann窗，对RMS≥0.01的帧自相关，候选lag16..133且归一化峰相关≥0.55才纳入。取中位基频和四分位距。shift=12log2(f_current/f_reference)，|shift|&gt;6且双方 voiced_frames≥50才触发pitch_drift。这是轻量估计和未校准启发式提示，不是训练过的情绪或错误发音分类器。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项目源码与本地证据（截至 2026-10-18）：</a:t>
            </a:r>
          </a:p>
          <a:p xmlns:a="http://schemas.openxmlformats.org/drawingml/2006/main">
            <a:r>
              <a:t>/Users/yinzh/PycharmProjects/EPUB_to_Audio_Converter-1/audiobook_generator/audio_core/audio.py</a:t>
            </a:r>
          </a:p>
          <a:p xmlns:a="http://schemas.openxmlformats.org/drawingml/2006/main">
            <a:r>
              <a:t>/Users/yinzh/PycharmProjects/EPUB_to_Audio_Converter-1/audiobook_generator/audio_core/quality.py</a:t>
            </a:r>
          </a:p>
          <a:p xmlns:a="http://schemas.openxmlformats.org/drawingml/2006/main">
            <a:r>
              <a:t>/Users/yinzh/PycharmProjects/EPUB_to_Audio_Converter-1/audiobook_generator/audio_core/backends.py</a:t>
            </a:r>
          </a:p>
          <a:p xmlns:a="http://schemas.openxmlformats.org/drawingml/2006/main">
            <a:r>
              <a:t>/Users/yinzh/PycharmProjects/EPUB_to_Audio_Converter-1/audiobook_generator/audio_core/models.py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boundary_features 默认 window_seconds=2.0。左右短窗口先单声道16 kHz，边缘20 ms即320点算RMS，rms_jump_db=|20log10(RMS_left/RMS_right)|。边缘各512点FFT幅度谱作L2归一化，计算欧氏距离。tail/head由完整片段的连续边缘20 ms低能量帧（RMS&lt;0.003）计数，保守估计静音。added_pause=planned−tail−head，若&gt;0，sample_jump=max(|left_last|,|right_first|)，否则=|left_last−right_first|。九个特征包括样本跳变、RMS分贝差、谱距离、左右发声标记、左右静音、计划停顿、是否同角色。默认 heuristic_labels 只产生疑似click和过长gap，两条规则如页面所列，并不直接确认cutoff或overlap。可选 boundary-logistic-v1 将9项标准化，四个独立sigmoid头预测click/cutoff/overlap/gap，训练集拟合、独立dev选阈值（先限制dev误报≤5%再最大化召回），同源变体不得跨split。真实独立评估未完成，因此即使预测完成，stitching维度也保持incomplete。完整两句ASR输入是assembled_window，与两个完整tts_text拼接比较，不是只拿各2秒。J076真实v46移除已确认静音中央1.04秒，停顿2.04→1.00秒，原语音保留，v47用户确认三处修复正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项目源码与本地证据（截至 2026-10-18）：</a:t>
            </a:r>
          </a:p>
          <a:p xmlns:a="http://schemas.openxmlformats.org/drawingml/2006/main">
            <a:r>
              <a:t>/Users/yinzh/PycharmProjects/EPUB_to_Audio_Converter-1/audiobook_generator/audio_core/audio.py</a:t>
            </a:r>
          </a:p>
          <a:p xmlns:a="http://schemas.openxmlformats.org/drawingml/2006/main">
            <a:r>
              <a:t>/Users/yinzh/PycharmProjects/EPUB_to_Audio_Converter-1/audiobook_generator/audio_core/quality.py</a:t>
            </a:r>
          </a:p>
          <a:p xmlns:a="http://schemas.openxmlformats.org/drawingml/2006/main">
            <a:r>
              <a:t>/Users/yinzh/PycharmProjects/EPUB_to_Audio_Converter-1/audiobook_generator/audio_core/boundary_model.py</a:t>
            </a:r>
          </a:p>
          <a:p xmlns:a="http://schemas.openxmlformats.org/drawingml/2006/main">
            <a:r>
              <a:t>/Users/yinzh/PycharmProjects/EPUB_to_Audio_Converter-1/docs/validation/audio_core_20261017/README.md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signal_features 解码为float32 always_2d，样本需有限且采样率有效。peak=max(abs(samples))，clipped_fraction=mean(abs(samples)&gt;=0.999)，阈值&gt;0.002。evaluate_chunk 对 samples==0、peak&lt;0.003、clipped_fraction&gt;0.002 分别生成 empty_audio/too_quiet/clipping，certainty=confirmed、severity=error、signal=failed。这里的“确认”是程序对信号阈值事实的确认，不能外推为人工自然度结论。QualityReport.status 精确逻辑：存在confirmed error则failed；否则有任意issues或任意dimension=incomplete则incomplete；否则passed。speaker未校准或缺模型、stitching未验收时不会因为没越阈值而自动passed。SHA256绑定音频，ASR缓存键同时含音频SHA、模型fingerprint和处理版本；检查前后校验文件和模型未变，避免拿旧缓存或旧人工结论套到新版本。人审结论需精确绑定报告、音频、告警及所听上下文，机器原始依据保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项目源码与本地证据（截至 2026-10-18）：</a:t>
            </a:r>
          </a:p>
          <a:p xmlns:a="http://schemas.openxmlformats.org/drawingml/2006/main">
            <a:r>
              <a:t>/Users/yinzh/PycharmProjects/EPUB_to_Audio_Converter-1/audiobook_generator/audio_core/audio.py</a:t>
            </a:r>
          </a:p>
          <a:p xmlns:a="http://schemas.openxmlformats.org/drawingml/2006/main">
            <a:r>
              <a:t>/Users/yinzh/PycharmProjects/EPUB_to_Audio_Converter-1/audiobook_generator/audio_core/quality.py</a:t>
            </a:r>
          </a:p>
          <a:p xmlns:a="http://schemas.openxmlformats.org/drawingml/2006/main">
            <a:r>
              <a:t>/Users/yinzh/PycharmProjects/EPUB_to_Audio_Converter-1/audiobook_generator/audio_core/models.py</a:t>
            </a:r>
          </a:p>
          <a:p xmlns:a="http://schemas.openxmlformats.org/drawingml/2006/main">
            <a:r>
              <a:t>/Users/yinzh/PycharmProjects/EPUB_to_Audio_Converter-1/audiobook_generator/audio_core/quality_review.py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读取flipped_casting_preview_20261017目录既有quality.json，run833889352480474a859cd06200d0ed5e。报告显示第5章incomplete且音频已导出。本次运行累计1次合成请求（修复1次），历史已知101次且不全，两项可能重叠不相加。页面表格可水平滚动，此截图保留位置、维度、问题三列。原机器证据不被新的界面阅读替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界面来源：http://127.0.0.1:7862/，2026-10-18 当前运行的有声书工坊。</a:t>
            </a:r>
          </a:p>
          <a:p xmlns:a="http://schemas.openxmlformats.org/drawingml/2006/main">
            <a:r>
              <a:t>截图原图：/Users/yinzh/PycharmProjects/EPUB_to_Audio_Converter-1/docs/presentation_20261018/assets/ui_20261018/report_full.jpg</a:t>
            </a:r>
          </a:p>
          <a:p xmlns:a="http://schemas.openxmlformats.org/drawingml/2006/main">
            <a:r>
              <a:t>代码：/Users/yinzh/PycharmProjects/EPUB_to_Audio_Converter-1/audiobook_generator/ui/web_ui.py</a:t>
            </a:r>
          </a:p>
          <a:p xmlns:a="http://schemas.openxmlformats.org/drawingml/2006/main">
            <a:r>
              <a:t>截图使用已有本地书籍、剧本和音频，不代表本轮新生成或新验收。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/Users/yinzh/PycharmProjects/EPUB_to_Audio_Converter-1/docs/MiMo统一核心使用与验收.md</a:t>
            </a:r>
          </a:p>
          <a:p xmlns:a="http://schemas.openxmlformats.org/drawingml/2006/main">
            <a:r>
              <a:t>/Users/yinzh/PycharmProjects/EPUB_to_Audio_Converter-1/audiobook_generator/audio_core/store.py</a:t>
            </a:r>
          </a:p>
          <a:p xmlns:a="http://schemas.openxmlformats.org/drawingml/2006/main">
            <a:r>
              <a:t>/Users/yinzh/PycharmProjects/EPUB_to_Audio_Converter-1/audiobook_generator/audio_core/pipeline.py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选择5:60:classmates:chunk:1与5:61:narrator:chunk:1之间的J076窗口，播放器显示约4秒。页面已加载既有J076.wav，此次未点击播放，也未做新的修复。项目历史J076曾确认停顿约2.04秒并调整至约1秒，具体历史结论见前文技术页，当前截图本身不重复证明验收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界面来源：http://127.0.0.1:7862/，2026-10-18 当前运行的有声书工坊。</a:t>
            </a:r>
          </a:p>
          <a:p xmlns:a="http://schemas.openxmlformats.org/drawingml/2006/main">
            <a:r>
              <a:t>截图原图：/Users/yinzh/PycharmProjects/EPUB_to_Audio_Converter-1/docs/presentation_20261018/assets/ui_20261018/context_full.jpg</a:t>
            </a:r>
          </a:p>
          <a:p xmlns:a="http://schemas.openxmlformats.org/drawingml/2006/main">
            <a:r>
              <a:t>代码：/Users/yinzh/PycharmProjects/EPUB_to_Audio_Converter-1/audiobook_generator/ui/web_ui.py</a:t>
            </a:r>
          </a:p>
          <a:p xmlns:a="http://schemas.openxmlformats.org/drawingml/2006/main">
            <a:r>
              <a:t>截图使用已有本地书籍、剧本和音频，不代表本轮新生成或新验收。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汇报截止：2026-10-18。技术补充基于项目现有代码，公式归纳当前实现，未经独立实验验证的效果不作结论。</a:t>
            </a:r>
          </a:p>
          <a:p xmlns:a="http://schemas.openxmlformats.org/drawingml/2006/main">
            <a:r>
              <a:t>ArtifactStore使用SQLite。reserve在BEGIN IMMEDIATE事务内读取本次run的全部请求记录并检查次数、追加字符与已用时间，再插入running记录。失败与未完成记录也计入消耗，settle只更新状态。时间上限是请求发起前及修复前的检查，不宣称是操作系统级实时硬截止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/Users/yinzh/PycharmProjects/EPUB_to_Audio_Converter-1/audiobook_generator/audio_core/store.py</a:t>
            </a:r>
          </a:p>
          <a:p xmlns:a="http://schemas.openxmlformats.org/drawingml/2006/main">
            <a:r>
              <a:t>/Users/yinzh/PycharmProjects/EPUB_to_Audio_Converter-1/audiobook_generator/audio_core/pipeline.py</a:t>
            </a:r>
          </a:p>
          <a:p xmlns:a="http://schemas.openxmlformats.org/drawingml/2006/main">
            <a:r>
              <a:t>/Users/yinzh/PycharmProjects/EPUB_to_Audio_Converter-1/audiobook_generator/audio_core/repair.py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汇报截止：2026-10-18。技术补充基于项目现有代码，公式归纳当前实现，未经独立实验验证的效果不作结论。</a:t>
            </a:r>
          </a:p>
          <a:p xmlns:a="http://schemas.openxmlformats.org/drawingml/2006/main">
            <a:r>
              <a:t>对应pipeline.preserves_checks与attempt_repair。复检范围是目标分块和左右相邻接缝。候选不能新增已确认严重错误，原passed维度仍须passed，已有内容对齐误差不能增加。随后对本块与边界报告的rank各分量求和，按Python元组字典序比较，只有严格改善才采用。重分块候选还必须通过内部接缝的内容与信号检查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/Users/yinzh/PycharmProjects/EPUB_to_Audio_Converter-1/audiobook_generator/audio_core/pipeline.py</a:t>
            </a:r>
          </a:p>
          <a:p xmlns:a="http://schemas.openxmlformats.org/drawingml/2006/main">
            <a:r>
              <a:t>/Users/yinzh/PycharmProjects/EPUB_to_Audio_Converter-1/audiobook_generator/audio_core/quality.py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/Users/yinzh/PycharmProjects/EPUB_to_Audio_Converter-1/docs/MiMo尾部重复检测与裁切.md</a:t>
            </a:r>
          </a:p>
          <a:p xmlns:a="http://schemas.openxmlformats.org/drawingml/2006/main">
            <a:r>
              <a:t>/Users/yinzh/PycharmProjects/EPUB_to_Audio_Converter-1/audiobook_generator/audio_core/tail_repeat.py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/Users/yinzh/PycharmProjects/EPUB_to_Audio_Converter-1/docs/MiMo统一核心使用与验收.md</a:t>
            </a:r>
          </a:p>
          <a:p xmlns:a="http://schemas.openxmlformats.org/drawingml/2006/main">
            <a:r>
              <a:t>/Users/yinzh/PycharmProjects/EPUB_to_Audio_Converter-1/audiobook_generator/audio_core/store.py</a:t>
            </a:r>
          </a:p>
          <a:p xmlns:a="http://schemas.openxmlformats.org/drawingml/2006/main">
            <a:r>
              <a:t>/Users/yinzh/PycharmProjects/EPUB_to_Audio_Converter-1/audiobook_generator/audio_core/audio.py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/Users/yinzh/PycharmProjects/EPUB_to_Audio_Converter-1/docs/validation/audio_core_20261017/README.md</a:t>
            </a:r>
          </a:p>
          <a:p xmlns:a="http://schemas.openxmlformats.org/drawingml/2006/main">
            <a:r>
              <a:t>/Users/yinzh/PycharmProjects/EPUB_to_Audio_Converter-1/docs/项目进度与人工验收安排.md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/Users/yinzh/PycharmProjects/EPUB_to_Audio_Converter-1/docs/validation/audio_core_20261017/README.md</a:t>
            </a:r>
          </a:p>
          <a:p xmlns:a="http://schemas.openxmlformats.org/drawingml/2006/main">
            <a:r>
              <a:t>/Users/yinzh/PycharmProjects/EPUB_to_Audio_Converter-1/docs/MiMo尾部重复检测与裁切.md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/Users/yinzh/PycharmProjects/EPUB_to_Audio_Converter-1/docs/项目进度与人工验收安排.md</a:t>
            </a:r>
          </a:p>
          <a:p xmlns:a="http://schemas.openxmlformats.org/drawingml/2006/main">
            <a:r>
              <a:t>/Users/yinzh/PycharmProjects/EPUB_to_Audio_Converter-1/docs/validation/audio_core_20261017/README.md</a:t>
            </a:r>
          </a:p>
          <a:p xmlns:a="http://schemas.openxmlformats.org/drawingml/2006/main">
            <a:r>
              <a:t>/Users/yinzh/PycharmProjects/EPUB_to_Audio_Converter-1/audiobook_generator/audio_core/review_queue.py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/Users/yinzh/PycharmProjects/EPUB_to_Audio_Converter-1/docs/validation/role_resplit_guard_20261018/README.md</a:t>
            </a:r>
          </a:p>
          <a:p xmlns:a="http://schemas.openxmlformats.org/drawingml/2006/main">
            <a:r>
              <a:t>/Users/yinzh/PycharmProjects/EPUB_to_Audio_Converter-1/docs/validation/webui_spawn_workflow_20261017/README.md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资源库实际选中The_Little_Prince批次，包含0001_The_Little_Prince.mp3及同名txt，2文件约1.5MB。章节播放器已加载，时长3:32。当前为逐个下载模式，ZIP为已实现的可选下载模式，此轮未点击打包或清理文件。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界面来源：http://127.0.0.1:7862/，2026-10-18 当前运行的有声书工坊。</a:t>
            </a:r>
          </a:p>
          <a:p xmlns:a="http://schemas.openxmlformats.org/drawingml/2006/main">
            <a:r>
              <a:t>截图原图：/Users/yinzh/PycharmProjects/EPUB_to_Audio_Converter-1/docs/presentation_20261018/assets/ui_20261018/library_full.jpg</a:t>
            </a:r>
          </a:p>
          <a:p xmlns:a="http://schemas.openxmlformats.org/drawingml/2006/main">
            <a:r>
              <a:t>代码：/Users/yinzh/PycharmProjects/EPUB_to_Audio_Converter-1/audiobook_generator/ui/web_ui.py</a:t>
            </a:r>
          </a:p>
          <a:p xmlns:a="http://schemas.openxmlformats.org/drawingml/2006/main">
            <a:r>
              <a:t>截图使用已有本地书籍、剧本和音频，不代表本轮新生成或新验收。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/Users/yinzh/PycharmProjects/EPUB_to_Audio_Converter-1/docs/项目进度与人工验收安排.md</a:t>
            </a:r>
          </a:p>
          <a:p xmlns:a="http://schemas.openxmlformats.org/drawingml/2006/main">
            <a:r>
              <a:t>/Users/yinzh/PycharmProjects/EPUB_to_Audio_Converter-1/docs/validation/role_resplit_guard_20261018/README.md</a:t>
            </a:r>
          </a:p>
          <a:p xmlns:a="http://schemas.openxmlformats.org/drawingml/2006/main">
            <a:r>
              <a:t>/Users/yinzh/PycharmProjects/EPUB_to_Audio_Converter-1/docs/MiMo统一核心使用与验收.md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4d9389f7584c6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5a1bb410d9433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113e5cc743431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321cd3bdef424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88fb1f03e2492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54ee344ec841d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1051D5A-C154-4A1B-80CB-44467202B1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634F89C-1E0C-436D-9F15-ED624DB9148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F04783A-E445-4D83-875E-59A0DDACAB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47743FD-0021-469A-A1E6-4CF541D83E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9991709-074D-4258-8BDA-E9CE2EA373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EE86B0B-F572-435B-9E69-FC72F9316E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A779511-7F2D-4CA9-8FEE-36A5DADB90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08A53BE-8BEC-48D3-B083-2507CAB2AE9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3DFC57A-FBE1-428B-9F6B-8E47CFA76E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B815CE8-FA01-4762-9850-D4E0CD0044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7e035a08db4117" /><Relationship Type="http://schemas.openxmlformats.org/officeDocument/2006/relationships/slideLayout" Target="/ppt/slideLayouts/slideLayout1.xml" Id="R636e9a9039704a8f" /><Relationship Type="http://schemas.openxmlformats.org/officeDocument/2006/relationships/slideLayout" Target="/ppt/slideLayouts/slideLayout2.xml" Id="Re69e3457126c4b1f" /><Relationship Type="http://schemas.openxmlformats.org/officeDocument/2006/relationships/slideLayout" Target="/ppt/slideLayouts/slideLayout3.xml" Id="R1696069063c7400b" /><Relationship Type="http://schemas.openxmlformats.org/officeDocument/2006/relationships/slideLayout" Target="/ppt/slideLayouts/slideLayout4.xml" Id="Rc191733342e444b2" /><Relationship Type="http://schemas.openxmlformats.org/officeDocument/2006/relationships/slideLayout" Target="/ppt/slideLayouts/slideLayout5.xml" Id="Ra3ee17c3061840da" /><Relationship Type="http://schemas.openxmlformats.org/officeDocument/2006/relationships/slideLayout" Target="/ppt/slideLayouts/slideLayout6.xml" Id="R36e7933f839140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6e9a9039704a8f"/>
    <p:sldLayoutId xmlns:r="http://schemas.openxmlformats.org/officeDocument/2006/relationships" id="2147483650" r:id="Re69e3457126c4b1f"/>
    <p:sldLayoutId xmlns:r="http://schemas.openxmlformats.org/officeDocument/2006/relationships" id="2147483651" r:id="R1696069063c7400b"/>
    <p:sldLayoutId xmlns:r="http://schemas.openxmlformats.org/officeDocument/2006/relationships" id="2147483652" r:id="Rc191733342e444b2"/>
    <p:sldLayoutId xmlns:r="http://schemas.openxmlformats.org/officeDocument/2006/relationships" id="2147483653" r:id="Ra3ee17c3061840da"/>
    <p:sldLayoutId xmlns:r="http://schemas.openxmlformats.org/officeDocument/2006/relationships" id="2147483654" r:id="R36e7933f839140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7423e4926c4baa" /><Relationship Type="http://schemas.openxmlformats.org/officeDocument/2006/relationships/notesSlide" Target="/ppt/notesSlides/notesSlide1.xml" Id="R771c555e240e4c9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389efe2f294696" /><Relationship Type="http://schemas.openxmlformats.org/officeDocument/2006/relationships/image" Target="/ppt/media/image.jpeg" Id="R24360f73ed5b4d78" /><Relationship Type="http://schemas.openxmlformats.org/officeDocument/2006/relationships/notesSlide" Target="/ppt/notesSlides/notesSlide2.xml" Id="Rc2c927256ed0459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b826266493454f" /><Relationship Type="http://schemas.openxmlformats.org/officeDocument/2006/relationships/notesSlide" Target="/ppt/notesSlides/notesSlide3.xml" Id="R5ef368b98f1e499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94eb55434c471c" /><Relationship Type="http://schemas.openxmlformats.org/officeDocument/2006/relationships/notesSlide" Target="/ppt/notesSlides/notesSlide4.xml" Id="R013a295c14624fe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9eeeeb7b664574" /><Relationship Type="http://schemas.openxmlformats.org/officeDocument/2006/relationships/image" Target="/ppt/media/image2.jpeg" Id="Raa6e3446d8084a9b" /><Relationship Type="http://schemas.openxmlformats.org/officeDocument/2006/relationships/notesSlide" Target="/ppt/notesSlides/notesSlide5.xml" Id="R808ec5213853406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b3e7c00ea8432a" /><Relationship Type="http://schemas.openxmlformats.org/officeDocument/2006/relationships/notesSlide" Target="/ppt/notesSlides/notesSlide6.xml" Id="R44e452736a88476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af63fe36bc4d8f" /><Relationship Type="http://schemas.openxmlformats.org/officeDocument/2006/relationships/notesSlide" Target="/ppt/notesSlides/notesSlide7.xml" Id="Rbe5d6067c9274bf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264557cc3e4a57" /><Relationship Type="http://schemas.openxmlformats.org/officeDocument/2006/relationships/notesSlide" Target="/ppt/notesSlides/notesSlide8.xml" Id="R8586051890c3461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ac0c4b2f7b47ff" /><Relationship Type="http://schemas.openxmlformats.org/officeDocument/2006/relationships/image" Target="/ppt/media/image3.jpeg" Id="R0b425ecd02c046b7" /><Relationship Type="http://schemas.openxmlformats.org/officeDocument/2006/relationships/notesSlide" Target="/ppt/notesSlides/notesSlide9.xml" Id="R00e5050b16624d5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3a5cf5b69a4b92" /><Relationship Type="http://schemas.openxmlformats.org/officeDocument/2006/relationships/notesSlide" Target="/ppt/notesSlides/notesSlide10.xml" Id="R98b835f5bb194c9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e5c392d1194aeb" /><Relationship Type="http://schemas.openxmlformats.org/officeDocument/2006/relationships/notesSlide" Target="/ppt/notesSlides/notesSlide11.xml" Id="R12f4c7f1dea6467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f60494dc2f44c8" /><Relationship Type="http://schemas.openxmlformats.org/officeDocument/2006/relationships/notesSlide" Target="/ppt/notesSlides/notesSlide12.xml" Id="R935716085e40440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a54d0e92824c48" /><Relationship Type="http://schemas.openxmlformats.org/officeDocument/2006/relationships/notesSlide" Target="/ppt/notesSlides/notesSlide13.xml" Id="R38d0ced7ff684dc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e3a84d39404db7" /><Relationship Type="http://schemas.openxmlformats.org/officeDocument/2006/relationships/notesSlide" Target="/ppt/notesSlides/notesSlide14.xml" Id="R7fb8bc4dc5314b1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56c7937bed4611" /><Relationship Type="http://schemas.openxmlformats.org/officeDocument/2006/relationships/image" Target="/ppt/media/image4.jpeg" Id="R4852c21a00bb4914" /><Relationship Type="http://schemas.openxmlformats.org/officeDocument/2006/relationships/notesSlide" Target="/ppt/notesSlides/notesSlide15.xml" Id="Rc156d924dbf0430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d92e43af6949be" /><Relationship Type="http://schemas.openxmlformats.org/officeDocument/2006/relationships/notesSlide" Target="/ppt/notesSlides/notesSlide16.xml" Id="Rfa3d2825866c41d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7c86b68cd24cb5" /><Relationship Type="http://schemas.openxmlformats.org/officeDocument/2006/relationships/notesSlide" Target="/ppt/notesSlides/notesSlide17.xml" Id="Rdad188734c8145b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7d1b4caabb4d24" /><Relationship Type="http://schemas.openxmlformats.org/officeDocument/2006/relationships/image" Target="/ppt/media/image5.jpeg" Id="Rcf1249991282403c" /><Relationship Type="http://schemas.openxmlformats.org/officeDocument/2006/relationships/notesSlide" Target="/ppt/notesSlides/notesSlide18.xml" Id="Rf95e9998e53f43e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f8aa0102e540c5" /><Relationship Type="http://schemas.openxmlformats.org/officeDocument/2006/relationships/notesSlide" Target="/ppt/notesSlides/notesSlide19.xml" Id="Rd2263d557a79440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153adc27ee4140" /><Relationship Type="http://schemas.openxmlformats.org/officeDocument/2006/relationships/notesSlide" Target="/ppt/notesSlides/notesSlide20.xml" Id="Rdced873e0f9b456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47b04c86db43d6" /><Relationship Type="http://schemas.openxmlformats.org/officeDocument/2006/relationships/notesSlide" Target="/ppt/notesSlides/notesSlide21.xml" Id="R9c3f0f73bfee481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143c2f4d9441d9" /><Relationship Type="http://schemas.openxmlformats.org/officeDocument/2006/relationships/notesSlide" Target="/ppt/notesSlides/notesSlide22.xml" Id="R34febc28ecec4c8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ad22e5cfca440f" /><Relationship Type="http://schemas.openxmlformats.org/officeDocument/2006/relationships/notesSlide" Target="/ppt/notesSlides/notesSlide23.xml" Id="R52e7c4a6ecb04df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3fbb2714e34f60" /><Relationship Type="http://schemas.openxmlformats.org/officeDocument/2006/relationships/notesSlide" Target="/ppt/notesSlides/notesSlide24.xml" Id="Rcbcbfad914ac4ef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4eeea7a9224693" /><Relationship Type="http://schemas.openxmlformats.org/officeDocument/2006/relationships/image" Target="/ppt/media/image6.jpeg" Id="R050141fb009949da" /><Relationship Type="http://schemas.openxmlformats.org/officeDocument/2006/relationships/notesSlide" Target="/ppt/notesSlides/notesSlide25.xml" Id="R2572a422967348c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47ea0b221b42e9" /><Relationship Type="http://schemas.openxmlformats.org/officeDocument/2006/relationships/notesSlide" Target="/ppt/notesSlides/notesSlide26.xml" Id="Rc5726327b6e94c8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67b149ca4c40b8" /><Relationship Type="http://schemas.openxmlformats.org/officeDocument/2006/relationships/image" Target="/ppt/media/image7.jpeg" Id="Re9c9e23453e04a74" /><Relationship Type="http://schemas.openxmlformats.org/officeDocument/2006/relationships/notesSlide" Target="/ppt/notesSlides/notesSlide27.xml" Id="R5a4b906372ad480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b4346c6efc449a" /><Relationship Type="http://schemas.openxmlformats.org/officeDocument/2006/relationships/notesSlide" Target="/ppt/notesSlides/notesSlide28.xml" Id="R1c2de4551e4e40b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b54af5e71f48fc" /><Relationship Type="http://schemas.openxmlformats.org/officeDocument/2006/relationships/notesSlide" Target="/ppt/notesSlides/notesSlide29.xml" Id="R85a78e7cb2a045b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c70a7ef46a4d47" /><Relationship Type="http://schemas.openxmlformats.org/officeDocument/2006/relationships/notesSlide" Target="/ppt/notesSlides/notesSlide30.xml" Id="R5b6f635da0bf4173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459a897b2f4a45" /><Relationship Type="http://schemas.openxmlformats.org/officeDocument/2006/relationships/notesSlide" Target="/ppt/notesSlides/notesSlide31.xml" Id="R570997fdd2ad4e0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e35754ef184b30" /><Relationship Type="http://schemas.openxmlformats.org/officeDocument/2006/relationships/notesSlide" Target="/ppt/notesSlides/notesSlide32.xml" Id="R5b7723ca86274f6d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b95350110c4a19" /><Relationship Type="http://schemas.openxmlformats.org/officeDocument/2006/relationships/notesSlide" Target="/ppt/notesSlides/notesSlide33.xml" Id="Re6e9a3829e504af7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a6a4f448214e29" /><Relationship Type="http://schemas.openxmlformats.org/officeDocument/2006/relationships/notesSlide" Target="/ppt/notesSlides/notesSlide34.xml" Id="R1f30b8f5e9dd44aa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896ebdc60c4cca" /><Relationship Type="http://schemas.openxmlformats.org/officeDocument/2006/relationships/notesSlide" Target="/ppt/notesSlides/notesSlide35.xml" Id="Rb4198cebd6b94342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fae472552942c6" /><Relationship Type="http://schemas.openxmlformats.org/officeDocument/2006/relationships/image" Target="/ppt/media/image8.jpeg" Id="Rc04a5a50405c49d8" /><Relationship Type="http://schemas.openxmlformats.org/officeDocument/2006/relationships/notesSlide" Target="/ppt/notesSlides/notesSlide36.xml" Id="R9945989e33e548a7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9e374ceb1c46a2" /><Relationship Type="http://schemas.openxmlformats.org/officeDocument/2006/relationships/notesSlide" Target="/ppt/notesSlides/notesSlide37.xml" Id="R33ef8f3f75244ec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23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9DBFC4-DE55-4C0A-85D2-ADECBC04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把电子书变成多角色有声书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BA2C1D-B8DE-4411-8052-8EDA2E3F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BFA7B5-05A3-4BEE-8118-0196FA64C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我们做了什么，怎样做成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3F04C8-3606-487A-B0C3-D1A5D24F8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76625"/>
            <a:ext cx="1047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rPr>
              <a:t>给不同人物安排声音</a:t>
            </a:r>
          </a:p>
          <a:p xmlns:a="http://schemas.openxmlformats.org/drawingml/2006/main">
            <a:pPr>
              <a:buNone/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rPr>
              <a:t>找出读错的地方，尽量只修有问题的部分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D9D15B-CF15-42D1-B23B-775C088D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1972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rPr>
              <a:t>项目进展与改进思路    2026 年 10 月 18 日</a:t>
            </a:r>
          </a:p>
        </p:txBody>
      </p:sp>
    </p:spTree>
    <p:extLst>
      <p:ext uri="{BB962C8B-B14F-4D97-AF65-F5344CB8AC3E}">
        <p14:creationId xmlns:p14="http://schemas.microsoft.com/office/powerpoint/2010/main" val="12587120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6DFAB1-72E5-4111-9D1F-F22C3C12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这个项目能帮我们做什么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5C9C6B-19B8-4132-85C6-2B2699AF4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1C4826-CFDA-4739-ABE8-CE0B798A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52600"/>
            <a:ext cx="3619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把书读成有声书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80F9AF-98F2-45EA-B36A-F8F5B7115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19325"/>
            <a:ext cx="3619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上传电子书、选择章节，</a:t>
            </a:r>
          </a:p>
          <a:p xmlns:a="http://schemas.openxmlformats.org/drawingml/2006/main">
            <a: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让旁白和不同人物分别朗读。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AB4920-4058-49FA-AF29-52B21F15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714750"/>
            <a:ext cx="3619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读错一小段，就修这一段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EA5968-B3CF-4192-804A-64D17B191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181475"/>
            <a:ext cx="3619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找到多读、漏读或停顿过长</a:t>
            </a:r>
          </a:p>
          <a:p xmlns:a="http://schemas.openxmlformats.org/drawingml/2006/main">
            <a: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的位置，尽量少重做整章。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3BCF73-9E8B-46F0-B263-E0F7A5A64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当前实际界面（2026-10-18）。后续各模块配有独立截图和操作说明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E4268A-9CC2-4740-9B16-557ED9AF09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360f73ed5b4d78"/>
          <a:srcRect xmlns:a="http://schemas.openxmlformats.org/drawingml/2006/main" l="7879" t="2612" r="9697" b="56635"/>
          <a:stretch xmlns:a="http://schemas.openxmlformats.org/drawingml/2006/main"/>
        </p:blipFill>
        <p:spPr>
          <a:xfrm xmlns:a="http://schemas.openxmlformats.org/drawingml/2006/main">
            <a:off x="609600" y="1619250"/>
            <a:ext cx="6953250" cy="39909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6053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81E133-C373-43A9-8C41-47351012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目前已经做成了哪些功能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3DAD03-1AA5-4D97-AB5D-2007DE3A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9BD6E6-869B-4BF7-9930-7BD5C52DD3B5}"/>
              </a:ext>
            </a:extLst>
          </p:cNvPr>
          <p:cNvGraphicFramePr/>
          <p:nvPr/>
        </p:nvGraphicFramePr>
        <p:xfrm>
          <a:off xmlns:a="http://schemas.openxmlformats.org/drawingml/2006/main" x="609600" y="1666875"/>
          <a:ext xmlns:a="http://schemas.openxmlformats.org/drawingml/2006/main" cx="109728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5429250"/>
                <a:gridCol w="3829050"/>
              </a:tblGrid>
              <a:tr h="6350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制作步骤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已经能做什么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目前的情况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读入书籍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提取章节，整理人物和人物别名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支持中英文，允许人工修改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安排声音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选现成声音、用文字描述、模仿参考音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已选好的声音可以锁定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生成音频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逐段生成，保存结果，按顺序拼起来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新的整套流程目前接入 MiMo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检查与修正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找读错、长停顿、换声等疑点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已完成部分实际问题的修正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网页操作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选章节、确认配置、查看和下载结果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后台流程已做测试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583FED-B89D-45A0-9167-3215CDCF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原来的转换器仍支持多种语音服务，本轮重点做好 MiMo 的整套制作流程</a:t>
            </a:r>
          </a:p>
        </p:txBody>
      </p:sp>
    </p:spTree>
    <p:extLst>
      <p:ext uri="{BB962C8B-B14F-4D97-AF65-F5344CB8AC3E}">
        <p14:creationId xmlns:p14="http://schemas.microsoft.com/office/powerpoint/2010/main" val="6436273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F8B41C-B260-44D8-83E3-7329205DF2D5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686800" y="49530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644704-4D82-4DB3-9DFA-A223CD5AA000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791200" y="49530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5320AB-FFC7-41D5-B469-697153499A54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895600" y="49530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CEDE1A-F4A9-4993-A885-5A271711A098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1752600" y="4048125"/>
            <a:ext cx="0" cy="4095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F293CB-3E5F-4146-99F8-5D2A4B5AA4FD}"/>
              </a:ext>
            </a:extLst>
          </p:cNvPr>
          <p:cNvCxnSpPr>
            <a:stCxn xmlns:a="http://schemas.openxmlformats.org/drawingml/2006/main" id="9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2895600" y="355282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89060C-DE26-4980-8889-CEBE81510FF8}"/>
              </a:ext>
            </a:extLst>
          </p:cNvPr>
          <p:cNvCxnSpPr>
            <a:stCxn xmlns:a="http://schemas.openxmlformats.org/drawingml/2006/main" id="8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5791200" y="355282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8C729A-A580-45AB-99E1-5F6928160FAB}"/>
              </a:ext>
            </a:extLst>
          </p:cNvPr>
          <p:cNvCxnSpPr>
            <a:stCxn xmlns:a="http://schemas.openxmlformats.org/drawingml/2006/main" id="7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8686800" y="355282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ED93BD-6EAD-47DA-BCB2-C1ADE79B04FE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10439400" y="2647950"/>
            <a:ext cx="0" cy="4095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671BE8-4A01-498F-8408-65588C6AED0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686800" y="215265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9BCFF5-4C84-478F-B737-BD4EC9710CA3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791200" y="215265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D5BE5D-E4AC-4118-AFFB-2CAEC9ED5384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895600" y="215265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E205E3-DB26-41E7-88EE-D41361E8B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从上传书籍到下载音频，具体怎么走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57718B-EF1C-47BE-912C-26BBE48A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A06979-7926-4FF4-8743-0920ADCB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228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1 上传书籍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选择要朗读的章节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69759C-23CB-48B3-B1F5-8A9ABE43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657350"/>
            <a:ext cx="228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2 找出说话的人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谁在讲故事或说话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AE80DC-CA51-4269-8009-4020CC2BC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57350"/>
            <a:ext cx="228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3 对照书中原文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核对是否漏字、改字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254BA5-BBEF-40D1-B085-FA389E93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57350"/>
            <a:ext cx="228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4 选声音并确认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试听声音，设置语速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29DC2E-AE94-4CF8-A197-76BED6C8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057525"/>
            <a:ext cx="228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5 整理实际读法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处理数字、缩写读法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6D4B65-4469-4FE5-B424-086DFE15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57525"/>
            <a:ext cx="228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6 按句分成小段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记录人物和停顿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EA8CC9-FE63-4122-A663-BC1481835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57525"/>
            <a:ext cx="228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7 逐段生成并保存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MiMo 生成，可复用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A82C08-F60E-4F32-8B34-B0D0F157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228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8 找出可疑问题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查漏读、重复和停顿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786968-813F-435E-9BA5-E43CB5F3B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228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9 只修有问题的段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剪多余内容或重读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187AB3-89BB-4761-A71D-CC086896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457700"/>
            <a:ext cx="228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10 再查前后两句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更好才保留新版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8C7889-CA98-4687-8915-47BAE30FA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57700"/>
            <a:ext cx="228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11 拼成整章音频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检查整章能否播放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0DCF60-AD00-452F-AD71-B63BD38C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457700"/>
            <a:ext cx="228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12 试听确认并下载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保留问题单和原音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E1252A-2B7D-457D-A5CC-BA752632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修复有次数和用时限制，拿不准的问题留给人工试听，不会当作已经通过</a:t>
            </a:r>
          </a:p>
        </p:txBody>
      </p:sp>
    </p:spTree>
    <p:extLst>
      <p:ext uri="{BB962C8B-B14F-4D97-AF65-F5344CB8AC3E}">
        <p14:creationId xmlns:p14="http://schemas.microsoft.com/office/powerpoint/2010/main" val="11685136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A8BF25-2ADF-47BC-A9B2-98BE752B5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选章节：先用一章做小规模试验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555084-8403-4CC0-A6C8-AA5ED68CCD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6e3446d8084a9b"/>
          <a:srcRect xmlns:a="http://schemas.openxmlformats.org/drawingml/2006/main" l="10909" t="38140" r="12727" b="29467"/>
          <a:stretch xmlns:a="http://schemas.openxmlformats.org/drawingml/2006/main"/>
        </p:blipFill>
        <p:spPr>
          <a:xfrm xmlns:a="http://schemas.openxmlformats.org/drawingml/2006/main">
            <a:off x="609600" y="1809750"/>
            <a:ext cx="7143750" cy="351472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22837F-F856-432E-8274-66CF4EC56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71650"/>
            <a:ext cx="3486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书籍与章节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7B8EB0-B626-4FB0-A0E4-838F0843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28850"/>
            <a:ext cx="34861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读取电子书目录，分别选择</a:t>
            </a:r>
          </a:p>
          <a:p xmlns:a="http://schemas.openxmlformats.org/drawingml/2006/main">
            <a: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起始章和结束章。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566584-E7E8-41FF-AA96-39DD10BC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29000"/>
            <a:ext cx="3486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这次选了什么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CD6007-8A8D-494A-8D41-A22EF353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86200"/>
            <a:ext cx="34861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《Flipped》第 5 章，</a:t>
            </a:r>
          </a:p>
          <a:p xmlns:a="http://schemas.openxmlformats.org/drawingml/2006/main">
            <a: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共 14,311 个字符。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E99F64-8B23-4FAB-AE06-F1F07A13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对应统一流程中的“读取书籍、选择章节”。先试一章，便于检查人物配置和朗读效果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FA372E-4AE0-4E2C-B97D-E65667E36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685136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1C4912-1CFF-4944-AE9C-EA85E5D46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三个创新方向，分别解决什么问题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4C00E2-0E1F-47E9-82FA-919AB45B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217FD2-C870-4243-8B54-02F7FAE2D12C}"/>
              </a:ext>
            </a:extLst>
          </p:cNvPr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3371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4362450"/>
                <a:gridCol w="4038600"/>
              </a:tblGrid>
              <a:tr h="842963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改进方向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项目中遇到的具体问题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我们的做法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8429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谁讲故事，</a:t>
                      </a:r>
                    </a:p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就用谁的声音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《Flipped》人物用“我”讲故事，</a:t>
                      </a:r>
                    </a:p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部分文字曾被分给普通旁白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按本章原文找出讲述者，</a:t>
                      </a:r>
                    </a:p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让自述与本人对白共用声音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429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经常对话的人，</a:t>
                      </a:r>
                    </a:p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声音尽量不同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试用的合格英语声音只有两个，</a:t>
                      </a:r>
                    </a:p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给旁白留一个后，角色声音不够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常对话的人优先用不同声音，</a:t>
                      </a:r>
                    </a:p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不够时用固定描述补充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8429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哪里读错，</a:t>
                      </a:r>
                    </a:p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就优先修哪里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R039 读完又重复，</a:t>
                      </a:r>
                    </a:p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J076 两句话之间停得太久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只处理问题段，</a:t>
                      </a:r>
                    </a:p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再检查前后句有没有受影响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63D584-FEF1-4EB1-A746-39B2516E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43525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共同目标：少弄错说话的人，少重复生成，少让人反复试听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A2C883-E2E4-4AFE-95CD-7119E6233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已有文字归属修正和音频修复案例，声音分配是否更好认仍需听众比较</a:t>
            </a:r>
          </a:p>
        </p:txBody>
      </p:sp>
    </p:spTree>
    <p:extLst>
      <p:ext uri="{BB962C8B-B14F-4D97-AF65-F5344CB8AC3E}">
        <p14:creationId xmlns:p14="http://schemas.microsoft.com/office/powerpoint/2010/main" val="1883696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D0A555-5B0F-432C-AAFF-25525B7B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创新一：谁讲故事，就用谁的声音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1F2DAE-08AE-4496-9D97-AC15740D4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97DFAF-26F3-48BC-899B-8AD717E5B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具体问题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D7BFDB-9325-4FD5-BFBC-5557B30F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《Flipped》的两章分别由 Bryce 和 Juli 用“我”讲述。</a:t>
            </a:r>
          </a:p>
          <a:p xmlns:a="http://schemas.openxmlformats.org/drawingml/2006/main">
            <a: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早期拆分时，有些人物自述被当成了普通旁白。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7BBB8B-26EE-4F99-81B6-4399E4C5B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C5C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Bryce 讲故事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沿用 Bryce 的声音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67FEDE-1629-4AD6-B313-5AFE196F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2900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C5C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Juli 讲故事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沿用 Juli 的声音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2F7477-B668-43F1-9E85-1CA4D683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90925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换一章，</a:t>
            </a:r>
          </a:p>
          <a:p xmlns:a="http://schemas.openxmlformats.org/drawingml/2006/main">
            <a: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重新判断是谁在讲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3B63B5-16BF-4A77-A42D-6378C621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已完成：两章的文字分配已修正，自述和本人对白共用声音配置。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96ADED-2DE3-49EB-9D5B-7DC815EE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这次检查确认的是文字和声音的分配，没有为这两章重新生成语音</a:t>
            </a:r>
          </a:p>
        </p:txBody>
      </p:sp>
    </p:spTree>
    <p:extLst>
      <p:ext uri="{BB962C8B-B14F-4D97-AF65-F5344CB8AC3E}">
        <p14:creationId xmlns:p14="http://schemas.microsoft.com/office/powerpoint/2010/main" val="10588039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A4F13-3CD9-47F1-A08D-1B1E1497E95B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477125" y="2305050"/>
            <a:ext cx="13430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5F1F15-38B6-4866-B11D-F690F3AC64A9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371850" y="2305050"/>
            <a:ext cx="13430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15C002-9E8F-42BF-8567-DA6DD986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怎么做到：每一句都能回到书中核对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53109D-6666-4E16-9461-F8E45F09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5FFA97-ADC6-46EF-B6E1-91836C0F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模型先判断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这句是谁在说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A72E13-4E8B-4C82-941C-B61D02879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847850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程序对照原文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检查有没有漏字或改字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97ADE8-F06E-4758-AE78-FD38DDBB8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847850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找到人物后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使用已保存的声音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DBA997-0946-4387-B7D1-E3201BB18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9475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每一段都记住它在原书中的位置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E249E5-F887-437E-8050-6DD28A5C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把所有小段拼回去，要能对应完整章节。</a:t>
            </a:r>
          </a:p>
          <a:p xmlns:a="http://schemas.openxmlformats.org/drawingml/2006/main">
            <a: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判断讲述者时，还要留下书里的原句，让人能检查理由。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12CDF6-51C5-4CFB-AC5C-30BA9E3C0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找不到可靠依据时，先用普通旁白，并标出“需要复核”。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61E706-20A0-4A45-A551-8773F611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程序可以检查有没有漏字，但“到底是谁在说”仍可能需要人来确认</a:t>
            </a:r>
          </a:p>
        </p:txBody>
      </p:sp>
    </p:spTree>
    <p:extLst>
      <p:ext uri="{BB962C8B-B14F-4D97-AF65-F5344CB8AC3E}">
        <p14:creationId xmlns:p14="http://schemas.microsoft.com/office/powerpoint/2010/main" val="21036296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06FCAA-148F-4189-A966-F8B7E113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叙述者核对：这一章由谁来讲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F61A0F-218D-4505-942C-A05A1062F5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425ecd02c046b7"/>
          <a:srcRect xmlns:a="http://schemas.openxmlformats.org/drawingml/2006/main" l="10303" t="26123" r="12121" b="20585"/>
          <a:stretch xmlns:a="http://schemas.openxmlformats.org/drawingml/2006/main"/>
        </p:blipFill>
        <p:spPr>
          <a:xfrm xmlns:a="http://schemas.openxmlformats.org/drawingml/2006/main">
            <a:off x="609600" y="1476375"/>
            <a:ext cx="5715000" cy="45529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28C17C-D41F-47F0-A5BC-0E6C5E70A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04950"/>
            <a:ext cx="472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已有的分析结果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B4046F-10F7-4C32-97D1-097C40DA9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62150"/>
            <a:ext cx="4724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第 5 章由 Bryce 叙述，</a:t>
            </a:r>
          </a:p>
          <a:p xmlns:a="http://schemas.openxmlformats.org/drawingml/2006/main">
            <a: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第 6 章由 Juli 叙述。</a:t>
            </a:r>
          </a:p>
          <a:p xmlns:a="http://schemas.openxmlformats.org/drawingml/2006/main">
            <a: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每章可沿用对应人物的声音。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0241CB-ACC7-4CD1-9FDE-ABA4EF49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33750"/>
            <a:ext cx="472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界面里怎样调整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4C14BA-4E46-4939-A423-3F55B18ED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90950"/>
            <a:ext cx="4724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选章节，再指定叙述人物。</a:t>
            </a:r>
          </a:p>
          <a:p xmlns:a="http://schemas.openxmlformats.org/drawingml/2006/main">
            <a: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确认后应用到本章叙述段，</a:t>
            </a:r>
          </a:p>
          <a:p xmlns:a="http://schemas.openxmlformats.org/drawingml/2006/main">
            <a: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人物对白继续使用各自声音。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D0CC25-2933-4851-90C5-DC9BEB7ED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当前第 5 章识别出 30 段叙述。多人轮流讲述的章节，需要逐段核对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F9ACE3-462C-4452-859B-D9AEA1BB7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10362962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7B1046-DBD6-4104-BFB0-EF53B587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书上怎么写，实际怎么读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F46C8F-BC1F-496C-965C-EEA7302B0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25789A-8F83-4D8E-8016-C0275748B1C8}"/>
              </a:ext>
            </a:extLst>
          </p:cNvPr>
          <p:cNvGraphicFramePr/>
          <p:nvPr/>
        </p:nvGraphicFramePr>
        <p:xfrm>
          <a:off xmlns:a="http://schemas.openxmlformats.org/drawingml/2006/main" x="609600" y="1733550"/>
          <a:ext xmlns:a="http://schemas.openxmlformats.org/drawingml/2006/main" cx="10972800" cy="33051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4476750"/>
                <a:gridCol w="3638550"/>
              </a:tblGrid>
              <a:tr h="66103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书上写的内容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可以怎样处理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为什么这样做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66103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增长 3.5%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读成“增长百分之三点五”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让朗读更自然，保留原文不动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103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 books / twenty books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检查时允许这两种写法对应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避免把数字写法差异当成读错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66103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C’mon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本次修复改用 Come on! 朗读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解决 R034 一个词开头反复读的问题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103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人名、编号、多音字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拿不准就保留，交给人试听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避免程序擅自改出新错误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5E8BD1-8AE8-4E18-9BDE-84E8FAB47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2575"/>
            <a:ext cx="10906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书籍原文和“发给语音服务的读法”分开保存，修改有记录。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339260-A2D0-4C59-AA4B-C16A7C10D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录音转成的文字相同，也不能证明多音字读对了，最终还要听声音</a:t>
            </a:r>
          </a:p>
        </p:txBody>
      </p:sp>
    </p:spTree>
    <p:extLst>
      <p:ext uri="{BB962C8B-B14F-4D97-AF65-F5344CB8AC3E}">
        <p14:creationId xmlns:p14="http://schemas.microsoft.com/office/powerpoint/2010/main" val="190373645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0B54C6-0D7D-40BC-B1FC-32683F1F0A80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620000" y="3962400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7B85BB-233A-4FAF-9A27-FE134FA68B0C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57600" y="3962400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06758B-7A22-4996-8715-BC81BC857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创新二：经常对话的人，声音尽量不同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5C1762-04F3-42F7-9F2E-3848665C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E2F2CB-CFF4-4E5C-AC2A-5E2ABB2C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具体问题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11000F-0F12-4D8F-987D-796C89F9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试用的英语声音库里，经过试听确认的现成声音只有 Mia 和 Chloe。</a:t>
            </a:r>
          </a:p>
          <a:p xmlns:a="http://schemas.openxmlformats.org/drawingml/2006/main">
            <a: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旁白占用一个后，就很难给其他人物各分一种声音。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B8B9BA-A0F2-4CAC-9E5A-AB59AC97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3048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对白多的角色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优先选现成声音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949CA9-679F-4FF3-91B5-4443DE65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76625"/>
            <a:ext cx="3048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其他角色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用固定文字描述声音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ECA859-D613-4F56-B008-1326EF8E2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76625"/>
            <a:ext cx="3048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C5C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经常互相说话的人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优先拉开声音差别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07FBA5-B320-4855-97D1-11D885251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实际试用：用文字设定两个角色的声音，六条录音经试听确认容易区分。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B5E893-B3AC-4128-AD0D-C3F53712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这里只确认了这两个角色的录音，还不能说自动分配一定比随机分配更好</a:t>
            </a:r>
          </a:p>
        </p:txBody>
      </p:sp>
    </p:spTree>
    <p:extLst>
      <p:ext uri="{BB962C8B-B14F-4D97-AF65-F5344CB8AC3E}">
        <p14:creationId xmlns:p14="http://schemas.microsoft.com/office/powerpoint/2010/main" val="60229013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7E84AC-7779-443E-ABE2-2867BBFC59D0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477125" y="2238375"/>
            <a:ext cx="13430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7BDF34-2813-4F1C-94FE-41505020A7D7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371850" y="2238375"/>
            <a:ext cx="13430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D6100E-9745-4142-913E-4D2A48F5C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怎么做到：先让不同声音读同样的句子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CF5B96-A2C4-4821-B0CD-8BD429E6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E23434-4662-4FCD-8DA9-84E83017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81175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准备相同的试听句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每种声音至少读两句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83DC6F-8C15-427C-AB7D-B372A5B27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781175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先听内容是否完整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再记录声音特点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980DC0-B890-43B5-8FB0-AB77EEA5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781175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比较不同声音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是否容易听成同一个人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A2A066-7A55-4D83-9515-0515D8FDB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5175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为什么要读相同的句子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645169-6FC0-4FA4-A76E-26E1971A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如果一个声音读问句，另一个读感叹句，差别可能来自语气。</a:t>
            </a:r>
          </a:p>
          <a:p xmlns:a="http://schemas.openxmlformats.org/drawingml/2006/main">
            <a: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让它们读同样的内容，比较才更公平。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3DDA53-9ADC-49B1-A70E-ED0C84D6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电脑怎么参与比较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057601-F5FF-4B10-99CA-340931932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程序把声音特点记成一组数字，比较它们有多相似。</a:t>
            </a:r>
          </a:p>
          <a:p xmlns:a="http://schemas.openxmlformats.org/drawingml/2006/main">
            <a: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换几句话再比，避免只凭一句话就认定两种声音不同。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A7CBAA-8A42-44BE-A085-AEF99376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电脑给出的相似程度只是参考，最终要请听众判断能不能认出人物</a:t>
            </a:r>
          </a:p>
        </p:txBody>
      </p:sp>
    </p:spTree>
    <p:extLst>
      <p:ext uri="{BB962C8B-B14F-4D97-AF65-F5344CB8AC3E}">
        <p14:creationId xmlns:p14="http://schemas.microsoft.com/office/powerpoint/2010/main" val="69565528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843FF5-19AE-4659-88CC-610914650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怎么做到：把声音优先分给最需要区分的人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3E703D-72E1-4F7D-8719-1484B15F2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05F600-5332-4B30-AE70-07AD9D8BB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先看哪些人物经常一来一回地说话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3661B0-9A6E-49B2-9998-C7C280A6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程序按原文统计两个人轮流说话的次数。</a:t>
            </a:r>
          </a:p>
          <a:p xmlns:a="http://schemas.openxmlformats.org/drawingml/2006/main">
            <a: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对话越频繁，越优先给他们安排差别较大的声音。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D857F1-6530-47A3-9349-C48B26A4E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同时保留用户的选择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D316CE-0C46-4124-BBF3-827CEC7F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已经锁定的声音不会被自动改掉。</a:t>
            </a:r>
          </a:p>
          <a:p xmlns:a="http://schemas.openxmlformats.org/drawingml/2006/main">
            <a: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也可以要求旁白单独用一种声音，或不同人物不共用声音。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D6616D-DD12-4713-89B5-471CBC3B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方案少就逐个比较，方案多就先做好主要人物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F5EAD5-3FD7-40CE-9081-0C7783C1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先给经常说话的人分配，再尝试交换声音，看看能不能更容易区分。</a:t>
            </a:r>
          </a:p>
          <a:p xmlns:a="http://schemas.openxmlformats.org/drawingml/2006/main">
            <a:pPr>
              <a:buNone/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还会考虑声音是否适合人物，尽量少改已经定好的安排。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B5E446-B285-4261-9C3F-EFAA88244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这是当前程序的分配方法，是否真的更好听、更好认，需要专门做试听比较</a:t>
            </a:r>
          </a:p>
        </p:txBody>
      </p:sp>
    </p:spTree>
    <p:extLst>
      <p:ext uri="{BB962C8B-B14F-4D97-AF65-F5344CB8AC3E}">
        <p14:creationId xmlns:p14="http://schemas.microsoft.com/office/powerpoint/2010/main" val="21309534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369A78-AA66-4324-911A-01A27C6902C3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524750" y="5500688"/>
            <a:ext cx="9715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806F23-EE13-4F64-8429-60D144FC75BD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695700" y="5500688"/>
            <a:ext cx="9715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AB4307-0805-412D-B1AD-677F5F9E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现在可以怎样给人物安排声音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01B023-B708-4F8A-AD7D-FB66FCBD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668395-2E4A-47EE-947C-B1C923ED5BEA}"/>
              </a:ext>
            </a:extLst>
          </p:cNvPr>
          <p:cNvGraphicFramePr/>
          <p:nvPr/>
        </p:nvGraphicFramePr>
        <p:xfrm>
          <a:off xmlns:a="http://schemas.openxmlformats.org/drawingml/2006/main" x="609600" y="1771650"/>
          <a:ext xmlns:a="http://schemas.openxmlformats.org/drawingml/2006/main" cx="109728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286250"/>
                <a:gridCol w="4400550"/>
              </a:tblGrid>
              <a:tr h="738188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方法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用户要做什么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项目中的具体例子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选现成声音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直接选择服务里已有的声音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Juli 曾使用 Chloe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用文字描述声音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写清年龄感、音色和说话方式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同学群体使用固定的声音描述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模仿一段参考录音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提供参考音，让服务照着声音来读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Bryce 先试读几句，再用于整章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CE083D-AA3E-4E93-8D44-5F40EF020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91125"/>
            <a:ext cx="2857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每个人物保存一份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声音设置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A0215D-CC33-4690-A06D-C0C680F50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191125"/>
            <a:ext cx="2857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换章时继续使用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同一份设置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141EED-CABB-476A-950D-83155AA7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191125"/>
            <a:ext cx="2857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声音换过之后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重新试听确认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F61687-4E09-4E82-A17F-796D82F1E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模仿参考音通常称为“声音克隆”，换过声音后的录音不能沿用旧试听结论</a:t>
            </a:r>
          </a:p>
        </p:txBody>
      </p:sp>
    </p:spTree>
    <p:extLst>
      <p:ext uri="{BB962C8B-B14F-4D97-AF65-F5344CB8AC3E}">
        <p14:creationId xmlns:p14="http://schemas.microsoft.com/office/powerpoint/2010/main" val="205902932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31150C-6FCC-4CB0-861E-00F6ECFF4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人物声音：给 Juli 选择一个固定声音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A8819F-F5E2-49CE-887A-D2D58E7D4C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52c21a00bb4914"/>
          <a:srcRect xmlns:a="http://schemas.openxmlformats.org/drawingml/2006/main" l="10303" t="15152" r="12121" b="23197"/>
          <a:stretch xmlns:a="http://schemas.openxmlformats.org/drawingml/2006/main"/>
        </p:blipFill>
        <p:spPr>
          <a:xfrm xmlns:a="http://schemas.openxmlformats.org/drawingml/2006/main">
            <a:off x="609600" y="1476375"/>
            <a:ext cx="4953000" cy="456247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764027-AF8F-4700-9140-2E538933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04950"/>
            <a:ext cx="548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当前的设置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AF4CBC-BBF5-41D5-BD10-5ACA6C216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5486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人物是 Juli Baker，朗读语言为英语，</a:t>
            </a:r>
          </a:p>
          <a:p xmlns:a="http://schemas.openxmlformats.org/drawingml/2006/main">
            <a: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使用预设声音 Chloe，语速为 1.0。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D98F9A-131B-4EF4-9941-D712A7DAA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67050"/>
            <a:ext cx="548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同一句话比较不同声音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B0EC86-B218-4494-9111-19D047FB2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24250"/>
            <a:ext cx="5486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右侧可输入试听文本，再试听当前人物。</a:t>
            </a:r>
          </a:p>
          <a:p xmlns:a="http://schemas.openxmlformats.org/drawingml/2006/main">
            <a: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使用同样的句子，比较谁更容易听出差别。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89D50A-287C-4D4E-944C-6C0F34AE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29150"/>
            <a:ext cx="548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满意后保留参考录音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89F716-95D2-4677-AB9F-4ABB4D430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86350"/>
            <a:ext cx="5486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可固定一次满意的试听，供后续复用。</a:t>
            </a:r>
          </a:p>
          <a:p xmlns:a="http://schemas.openxmlformats.org/drawingml/2006/main">
            <a: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描述声音也能采用这种方式减少变化。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B9F067-8104-4251-8145-654BFCE0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对应“给人物安排声音”。当前截图展示配置，本轮没有重新合成试听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450A5C-E3D3-49F9-B761-99A370DFE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05902932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365790-707C-40EE-B03F-079B00ACA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生成之后，重点检查哪几类问题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49AFC3-9E32-4CA2-885F-4158E0AE2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EE160F-855C-4F7C-89E4-DE8A993A5227}"/>
              </a:ext>
            </a:extLst>
          </p:cNvPr>
          <p:cNvGraphicFramePr/>
          <p:nvPr/>
        </p:nvGraphicFramePr>
        <p:xfrm>
          <a:off xmlns:a="http://schemas.openxmlformats.org/drawingml/2006/main" x="609600" y="1743075"/>
          <a:ext xmlns:a="http://schemas.openxmlformats.org/drawingml/2006/main" cx="109728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762500"/>
                <a:gridCol w="3924300"/>
              </a:tblGrid>
              <a:tr h="7048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要检查什么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程序怎样找疑点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人还需要注意什么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有没有读错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把录音转成文字，再与原文比较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文字可能识别错，不能直接删声音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两段连得顺不顺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查看句尾句首、音量和停顿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爆音、卡顿和长停顿需要试听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人物声音变没变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与该人物已确认的录音比较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情绪变化也会让声音听起来不同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文件是否正常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检查过响、长时间无声及能否播放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文件能播放，不等于每句话都合格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1A7B95-3389-4E58-BBB7-48711A5B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每项分别标记“通过”“有问题”或“还没查清”，没查清不会自动算通过</a:t>
            </a:r>
          </a:p>
        </p:txBody>
      </p:sp>
    </p:spTree>
    <p:extLst>
      <p:ext uri="{BB962C8B-B14F-4D97-AF65-F5344CB8AC3E}">
        <p14:creationId xmlns:p14="http://schemas.microsoft.com/office/powerpoint/2010/main" val="170316658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C3936D-4172-45DC-BC86-CC0B9686D9B9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686800" y="319087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1B9D32-BBDC-4303-AA4F-E654A492B0B9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791200" y="319087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A95ADA-3922-47AF-A605-70145BEA328B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95600" y="319087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124089-2416-4036-BCDD-3DE7A7917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音频检查的完整过程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890C6D-47FF-4956-B205-047C1C9B2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E2B006-7703-4837-85F2-F5C8A1C8D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输入：每段的实际朗读文本、人物编号、音频，以及该人物的参考录音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645917-4B10-4A69-AD85-8AA3A52E8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2286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读取录音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先检查信号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A499A8-6E68-4804-8790-87324793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14625"/>
            <a:ext cx="2286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检查这一段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内容、声音和语速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AA6877-BA6A-45BD-A996-6D731C5DF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14625"/>
            <a:ext cx="2286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检查相邻两段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连接处和完整内容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7F749A-298B-4E31-99C1-C9D9D862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14625"/>
            <a:ext cx="2286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C5C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保存检查单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带上下文试听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0EA189-265B-4785-8401-D14F863CE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每一项留下自己的判断依据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DE79E3-D145-484A-B4D1-5FD80947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1057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例如：多出了哪个词、声音差了多少、哪两段之间停得太久。</a:t>
            </a:r>
          </a:p>
          <a:p xmlns:a="http://schemas.openxmlformats.org/drawingml/2006/main">
            <a: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内容没有差异，也仍要检查人物声音和连接处。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6768C1-1EB1-45A3-BB23-B8A35BE1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“正确”分成多个维度，机器筛查和人工试听分别留记录，未查清的项目继续保留</a:t>
            </a:r>
          </a:p>
        </p:txBody>
      </p:sp>
    </p:spTree>
    <p:extLst>
      <p:ext uri="{BB962C8B-B14F-4D97-AF65-F5344CB8AC3E}">
        <p14:creationId xmlns:p14="http://schemas.microsoft.com/office/powerpoint/2010/main" val="20046575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F12BAB-E5F9-4A79-8F5B-AD4327777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检查开关：生成后先找出可疑片段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965EAE-C221-441D-A630-724B569813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1249991282403c"/>
          <a:srcRect xmlns:a="http://schemas.openxmlformats.org/drawingml/2006/main" l="10303" t="45455" r="12121" b="21630"/>
          <a:stretch xmlns:a="http://schemas.openxmlformats.org/drawingml/2006/main"/>
        </p:blipFill>
        <p:spPr>
          <a:xfrm xmlns:a="http://schemas.openxmlformats.org/drawingml/2006/main">
            <a:off x="609600" y="1762125"/>
            <a:ext cx="7143750" cy="351472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457561-7074-45F7-89B5-F30E8084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52600"/>
            <a:ext cx="3486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检查与修复分别控制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6E6BCD-E3DA-47C5-8FA6-1AE8B19F0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09800"/>
            <a:ext cx="34861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上面的开关负责检查内容、</a:t>
            </a:r>
          </a:p>
          <a:p xmlns:a="http://schemas.openxmlformats.org/drawingml/2006/main">
            <a: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人物声音和拼接处。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5E4DBC-77AB-416A-A4A7-64DA1F3C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86150"/>
            <a:ext cx="3486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当前没有开启自动重做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20AEB9-C4E9-4462-B7B8-C4E64DF4E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43350"/>
            <a:ext cx="34861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下面的自动修复开关关闭。</a:t>
            </a:r>
          </a:p>
          <a:p xmlns:a="http://schemas.openxmlformats.org/drawingml/2006/main">
            <a: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先查看报告，再决定怎么改。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7CAC0B-0EE2-4CC2-944D-A522834E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对应“音频检查的完整过程”。找到本地模型不代表检查指标已经校准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7A7C9E-012F-4039-A6CC-E22328CC8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0046575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661F68-6E66-4EEB-9524-B806F6909DA7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524750" y="2085975"/>
            <a:ext cx="12001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F37705-75AC-4A6E-804C-143D08677907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467100" y="2085975"/>
            <a:ext cx="12001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9937EF-55E4-4666-9EBD-92FA2402F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内容检查：录音怎样变成可比较的文字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81CB41-D7D5-4FF6-B1A2-9C45C7C4E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1C2DC8-43DD-4FB4-A28B-0DEA6642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录音文件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本地 SenseVoice 识别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FDA94B-B28C-4C14-8CC9-DC72CEC57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28775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原文与转写各做整理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统一写法，再分字或分词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D7162E-388C-46B3-99B4-760D46CDE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628775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C5C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逐项比较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保存差异和原始录音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0957A3-36F9-49D0-9B3E-2FC1947EDF38}"/>
              </a:ext>
            </a:extLst>
          </p:cNvPr>
          <p:cNvGraphicFramePr/>
          <p:nvPr/>
        </p:nvGraphicFramePr>
        <p:xfrm>
          <a:off xmlns:a="http://schemas.openxmlformats.org/drawingml/2006/main" x="609600" y="3000375"/>
          <a:ext xmlns:a="http://schemas.openxmlformats.org/drawingml/2006/main" cx="10972800" cy="2628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62125"/>
                <a:gridCol w="5048250"/>
                <a:gridCol w="4162425"/>
              </a:tblGrid>
              <a:tr h="6572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具体处理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程序如何实现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为什么需要这一步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转成文字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SenseVoiceSmall 在 CPU 上运行，</a:t>
                      </a:r>
                    </a:p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自动识别语言，取出纯文本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模型目录由本地配置指定，</a:t>
                      </a:r>
                    </a:p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缺模型或转写为空就保留未查清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整理比较文本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统一全角、半角、大小写和引号，</a:t>
                      </a:r>
                    </a:p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处理支持的数字、日期与显式词典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 books 与 twenty books</a:t>
                      </a:r>
                    </a:p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可以按同样内容比较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确定比较单位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中文按字，英文按词，</a:t>
                      </a:r>
                    </a:p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保留英文词界和缩写内部撇号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避免把 don’t 的否定含义、</a:t>
                      </a:r>
                    </a:p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人名或编号随意抹掉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1493AE-71BE-425C-897E-5C3FF2E0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比较基准是实际发送给语音服务的 tts_text，书籍原文、朗读改写和比较结果分别保存</a:t>
            </a:r>
          </a:p>
        </p:txBody>
      </p:sp>
    </p:spTree>
    <p:extLst>
      <p:ext uri="{BB962C8B-B14F-4D97-AF65-F5344CB8AC3E}">
        <p14:creationId xmlns:p14="http://schemas.microsoft.com/office/powerpoint/2010/main" val="20046575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F11FAE-E071-4829-A0BA-292815C65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内容检查：怎样找出多读、漏读和错读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7A8919-8494-4763-89DF-FE91CE23A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FF0C42-F0E0-465C-8D78-760A7237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程序寻找“最少需要改几处”，把两份文本对齐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0DC261-CE2E-44D8-B1EC-97F379BC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增加、删除、替换各记 1 次，相同内容记 0 次。这种方法叫编辑距离。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B5BFAD-2F47-411D-ABBB-BFD3A4E85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02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02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02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02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02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02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02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02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02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D(i,j) = min{ D(i−1,j)+1, D(i,j−1)+1, D(i−1,j−1)+[a[i]≠b[j]] 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1AA62E-CE6A-4F53-A574-D95A52336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7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7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7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7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7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7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7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7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7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D(i,j) 表示原文前 i 个字词与转写前 j 个字词的最少改动数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4589D5-7A5E-4C71-B358-C4A21CB767B6}"/>
              </a:ext>
            </a:extLst>
          </p:cNvPr>
          <p:cNvGraphicFramePr/>
          <p:nvPr/>
        </p:nvGraphicFramePr>
        <p:xfrm>
          <a:off xmlns:a="http://schemas.openxmlformats.org/drawingml/2006/main" x="609600" y="3409950"/>
          <a:ext xmlns:a="http://schemas.openxmlformats.org/drawingml/2006/main" cx="10972800" cy="1828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7448550"/>
              </a:tblGrid>
              <a:tr h="4572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示意输入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逐字比较的结果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应该读的内容，共 6 字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我　今　天　去　学　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识别出的内容，共 8 字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我　今　天　今　天　去　学　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找到的差异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多出“今天”两字，差异率 = 2 ÷ 6 ≈ 33.3%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79CB8B-71E8-46BF-B2B9-4EA55742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9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9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9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9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9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9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9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9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9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差异率 =（替换数 + 漏读数 + 多读数）÷ 原文单位数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80FC95-0BD2-4912-9EC9-54E34DF14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真实 R034 曾被识别为“Comome on”，人工听整句后确认是识别误报，原机器证据仍保留</a:t>
            </a:r>
          </a:p>
        </p:txBody>
      </p:sp>
    </p:spTree>
    <p:extLst>
      <p:ext uri="{BB962C8B-B14F-4D97-AF65-F5344CB8AC3E}">
        <p14:creationId xmlns:p14="http://schemas.microsoft.com/office/powerpoint/2010/main" val="20046575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1E32F8-D250-45F0-AC71-BC9DE8B5B389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524750" y="2028825"/>
            <a:ext cx="12001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8A1642-07A0-4700-8BAA-67BF5A97254B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467100" y="2028825"/>
            <a:ext cx="12001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3A43BF-81F4-4F6F-911A-71D5E65D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人物声音检查：与同一份参考录音比较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21F851-38B1-4655-98A4-0D2292FD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A8AB32-E55E-4C1A-B6A3-8C99E52D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当前录音和人物参考音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分别提取声音特点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4E7687-ECFB-42BD-BA69-234C1F9E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571625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ECAPA 模型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各得到一组数字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08AA73-0C6D-4D84-9E6C-8AC63EA1A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571625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比较两组数字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越不相似，距离越大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53EC34-8935-4824-B85C-D853F00F533E}"/>
              </a:ext>
            </a:extLst>
          </p:cNvPr>
          <p:cNvGraphicFramePr/>
          <p:nvPr/>
        </p:nvGraphicFramePr>
        <p:xfrm>
          <a:off xmlns:a="http://schemas.openxmlformats.org/drawingml/2006/main" x="609600" y="2962275"/>
          <a:ext xmlns:a="http://schemas.openxmlformats.org/drawingml/2006/main" cx="10972800" cy="2619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8972550"/>
              </a:tblGrid>
              <a:tr h="5238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技术细节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当前实现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输入条件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转成单声道、16 kHz，每段至少 3 秒有效语音。太短就暂不判断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比较算法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向量先归一化，再算距离 d = 1 − cos(u,v)，也就是 1 − u·v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提示条件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 &gt; 0.35 时标记“疑似换声”。这个阈值尚未用独立数据校准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参考录音来源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使用固定参考音，或用内容与信号检查通过的首个合适片段建立参考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D67BE2-D42B-487A-A470-9EB843517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例如 Bryce 始终对照同一份参考音。距离低也不会自动证明人物身份一致，还要试听</a:t>
            </a:r>
          </a:p>
        </p:txBody>
      </p:sp>
    </p:spTree>
    <p:extLst>
      <p:ext uri="{BB962C8B-B14F-4D97-AF65-F5344CB8AC3E}">
        <p14:creationId xmlns:p14="http://schemas.microsoft.com/office/powerpoint/2010/main" val="20046575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96D5EF-F73D-4BC9-9563-175BB18BD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声音变化检查：语速和音调怎样计算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D520A6-6F4D-4B77-8B45-9011BA2A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FE2D37-D421-4475-A925-B32D4CFDA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3352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语速：用字词数除以实际发声时间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6EE462-9A40-4B7D-82F5-7729EE54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90725"/>
            <a:ext cx="1057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每 20 毫秒算一次声音强度，找出在发声的部分。也可启用 Silero 找人声。</a:t>
            </a:r>
          </a:p>
          <a:p xmlns:a="http://schemas.openxmlformats.org/drawingml/2006/main">
            <a:pPr>
              <a:buNone/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语速 = 规范化后的字词数 ÷ 发声秒数，英文再乘 60 得到每分钟词数。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6201C5-5AD3-4217-9612-7376FD673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9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9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9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9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9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9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9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9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9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当前提示线：中文超过 4.3 字/秒，英文超过 300 词/分。</a:t>
            </a:r>
          </a:p>
          <a:p xmlns:a="http://schemas.openxmlformats.org/drawingml/2006/main">
            <a:pPr>
              <a:buNone/>
              <a:defRPr sz="19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与参考音比较时，快慢倍数超过 1.3，也会提示复核。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091182-07F5-4B0B-BD0D-E1BCFB839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音调：估计每个短窗口的基频，再取中间值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4D38F0-448A-484C-AF42-71673BE7F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14825"/>
            <a:ext cx="1057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录音转为 8 kHz，以 40 毫秒窗口、20 毫秒步长做自相关，估计声音周期。</a:t>
            </a:r>
          </a:p>
          <a:p xmlns:a="http://schemas.openxmlformats.org/drawingml/2006/main">
            <a:pPr>
              <a:buNone/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变化量 = 12 × log₂（当前基频 ÷ 参考基频），单位是半音。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B37AC6-C45A-450F-8132-EAE51EB05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9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9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9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9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9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9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9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9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9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相差超过 6 个半音，且两段各有至少 50 个有效音调窗口，才提示变化。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055913-9497-4C10-A943-A46CC96F2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这些都是筛查线。内容多读或漏读时，停止用参考字词数判断语速，情绪变化也要人工区分</a:t>
            </a:r>
          </a:p>
        </p:txBody>
      </p:sp>
    </p:spTree>
    <p:extLst>
      <p:ext uri="{BB962C8B-B14F-4D97-AF65-F5344CB8AC3E}">
        <p14:creationId xmlns:p14="http://schemas.microsoft.com/office/powerpoint/2010/main" val="20046575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A50E6F-2743-4B41-BBCE-0C5381F8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连接处检查：句尾和下一句怎样接起来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CE087D-4689-433B-8FC3-5FA1093C7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C0E661-F435-4906-9EAA-CB777EEE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声音特征看左段末尾 2 秒、右段开头 2 秒，内容核对使用完整两段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F15C14-3F3D-4D50-947B-38F83B6C72B1}"/>
              </a:ext>
            </a:extLst>
          </p:cNvPr>
          <p:cNvGraphicFramePr/>
          <p:nvPr/>
        </p:nvGraphicFramePr>
        <p:xfrm>
          <a:off xmlns:a="http://schemas.openxmlformats.org/drawingml/2006/main" x="609600" y="2428875"/>
          <a:ext xmlns:a="http://schemas.openxmlformats.org/drawingml/2006/main" cx="10972800" cy="3095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47875"/>
                <a:gridCol w="4619625"/>
                <a:gridCol w="4305300"/>
              </a:tblGrid>
              <a:tr h="619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检查项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计算方法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当前怎样使用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是否突然“啪”一下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比较接点样本值，</a:t>
                      </a:r>
                    </a:p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有补入停顿时也检查两侧是否突变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跳变幅度 &gt; 0.15，</a:t>
                      </a:r>
                    </a:p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提示疑似爆音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音量、音色突变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比较两侧 20 毫秒的强度，</a:t>
                      </a:r>
                    </a:p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再比较 512 点频谱的差别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记录分贝差和频谱距离，</a:t>
                      </a:r>
                    </a:p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供复核或可选模型使用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是否停得太久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以 20 毫秒低能量帧，</a:t>
                      </a:r>
                    </a:p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统计左尾和右头的无声时长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两侧无声之和超过</a:t>
                      </a:r>
                    </a:p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max(1.5秒,计划停顿+0.8秒)就提示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内容是否完整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把完整左句和右句拼起来再转写，</a:t>
                      </a:r>
                    </a:p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与完整两句文字比较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有差异就保留内容疑点，</a:t>
                      </a:r>
                    </a:p>
                    <a:p>
                      <a:r>
                        <a:rPr sz="17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不拿短窗口去对齐整句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C157AD-BE36-4EEC-B459-34C5A0593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8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8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8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8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8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8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8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8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8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实际 J076：约 2.04 秒停顿经试听确认后，才移除多余静音，调整为约 1 秒。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EEAE23-CE4D-4062-A00F-C16BF142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默认先用规则筛查。可选连接处分类模型仍缺独立真实缺陷验收，不能替代人工确认</a:t>
            </a:r>
          </a:p>
        </p:txBody>
      </p:sp>
    </p:spTree>
    <p:extLst>
      <p:ext uri="{BB962C8B-B14F-4D97-AF65-F5344CB8AC3E}">
        <p14:creationId xmlns:p14="http://schemas.microsoft.com/office/powerpoint/2010/main" val="20046575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BCF7D6-4ACB-4326-99ED-9D7F4775F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信号检查与最终判断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C6878A-CD6F-4368-A337-F088090BA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24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33B01E-08C3-4345-8ACB-652833F95B4A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714875"/>
                <a:gridCol w="3781425"/>
              </a:tblGrid>
              <a:tr h="6191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直接能计算的指标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当前检查条件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得到什么结果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空音频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采样点数量等于 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记录已确认的严重错误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音量过小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归一化样本峰值 &lt; 0.003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记录已确认的信号错误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幅度顶到上限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|样本值| ≥ 0.999 的占比 &gt; 0.2%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提示削波，记录信号错误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F126A0-9CD2-4568-9E40-C5E8F14E8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C5C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通过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该维度检查已完成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236574-7E3D-4ED1-87E0-37EADDA5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619625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未查清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有疑点或检查未完成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352BDC-69BA-4820-89C5-F0D5B090E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619625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失败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已确认严重错误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ACCA9D-1128-4A54-B282-088A7425E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报告记录音频 SHA256、模型版本和具体差异，音频一变就不能沿用旧结论。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568D4F-F6DC-484D-BE6B-FA132E358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“信号通过”只代表这些指标正常。整体还有疑点或未完成维度时，就继续保留未查清</a:t>
            </a:r>
          </a:p>
        </p:txBody>
      </p:sp>
    </p:spTree>
    <p:extLst>
      <p:ext uri="{BB962C8B-B14F-4D97-AF65-F5344CB8AC3E}">
        <p14:creationId xmlns:p14="http://schemas.microsoft.com/office/powerpoint/2010/main" val="20046575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59CF57-6062-42CD-A9AC-1E8F2F52F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质量报告：哪里可疑，为什么要再听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31392-4041-4124-AFE7-3B1926A890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0141fb009949da"/>
          <a:srcRect xmlns:a="http://schemas.openxmlformats.org/drawingml/2006/main" l="11758" t="42842" r="13697" b="3866"/>
          <a:stretch xmlns:a="http://schemas.openxmlformats.org/drawingml/2006/main"/>
        </p:blipFill>
        <p:spPr>
          <a:xfrm xmlns:a="http://schemas.openxmlformats.org/drawingml/2006/main">
            <a:off x="609600" y="1476375"/>
            <a:ext cx="5429250" cy="450532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548A04-EE9E-4EA3-9F16-3FB36C72B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85900"/>
            <a:ext cx="501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逐段列出问题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870BEB-8DC3-4701-AA16-91A347BE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43100"/>
            <a:ext cx="50101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每行记录章节、人物和片段位置。</a:t>
            </a:r>
          </a:p>
          <a:p xmlns:a="http://schemas.openxmlformats.org/drawingml/2006/main">
            <a: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可以从列表定位到需要复核的录音。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8C0A47-56FF-4F08-B0E3-EAB763BED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28950"/>
            <a:ext cx="501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两个提示的含义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56D346-9B65-440D-89DC-3F3B4CDB0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86150"/>
            <a:ext cx="50101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asr_mismatch：转写与应读文字有差异。</a:t>
            </a:r>
          </a:p>
          <a:p xmlns:a="http://schemas.openxmlformats.org/drawingml/2006/main">
            <a: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pitch_drift：音调变化较大，建议再听。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0C8901-E0B9-444E-B813-A9706F356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72000"/>
            <a:ext cx="501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未完成也单独保留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A15891-6F60-4F7E-9B23-EC8E6E4A5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29200"/>
            <a:ext cx="50101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incomplete 表示还没有查清。</a:t>
            </a:r>
          </a:p>
          <a:p xmlns:a="http://schemas.openxmlformats.org/drawingml/2006/main">
            <a: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音频可以已导出，但报告仍留有疑点。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EE779D-1D16-4AE6-BA48-DC7A2D05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这里展示已有第 5 章报告。机器疑点需要核对，不能直接算作真实错误率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CE908D-7C5B-4BFF-AAAE-58AC870F3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20046575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C307C2-1630-4CCA-9B72-F2886923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创新三：哪里读错，就优先修哪里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65334C-FDAB-4492-9402-37406B02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26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E6FDB6-4563-4BCF-A6A2-481FA7B10C71}"/>
              </a:ext>
            </a:extLst>
          </p:cNvPr>
          <p:cNvGraphicFramePr/>
          <p:nvPr/>
        </p:nvGraphicFramePr>
        <p:xfrm>
          <a:off xmlns:a="http://schemas.openxmlformats.org/drawingml/2006/main" x="609600" y="1762125"/>
          <a:ext xmlns:a="http://schemas.openxmlformats.org/drawingml/2006/main" cx="109728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4429125"/>
                <a:gridCol w="3209925"/>
              </a:tblGrid>
              <a:tr h="73818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首章中的实际问题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这次怎样修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解决了什么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R039 正文读完后又重复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留下完整正文，去掉后面的重复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不用把整章再生成一遍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J076 两句之间停得太久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去掉已确认的多余无声部分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让连接处恢复到约 1 秒停顿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R034 一个词开头读了几遍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改用 Come on! 的读法重新生成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只增加一次生成请求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95A5BA-3976-48D8-8B4C-9043406A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这几处都已做局部试听确认，原始录音仍然保留。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8C1A40-67A6-4BEA-8469-68F11AED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修复一个地方之后，还要听前后两句，防止修好这里、影响旁边</a:t>
            </a:r>
          </a:p>
        </p:txBody>
      </p:sp>
    </p:spTree>
    <p:extLst>
      <p:ext uri="{BB962C8B-B14F-4D97-AF65-F5344CB8AC3E}">
        <p14:creationId xmlns:p14="http://schemas.microsoft.com/office/powerpoint/2010/main" val="50430464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FBD65D-F259-47ED-A035-0C13B764D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问题试听：直接听两句话的连接处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C96BD9-E263-433F-9A02-7FCC9E9F96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c9e23453e04a74"/>
          <a:srcRect xmlns:a="http://schemas.openxmlformats.org/drawingml/2006/main" l="12121" t="32915" r="13939" b="32602"/>
          <a:stretch xmlns:a="http://schemas.openxmlformats.org/drawingml/2006/main"/>
        </p:blipFill>
        <p:spPr>
          <a:xfrm xmlns:a="http://schemas.openxmlformats.org/drawingml/2006/main">
            <a:off x="609600" y="1762125"/>
            <a:ext cx="7143750" cy="38671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34D92D-3CEB-4029-B62E-19AEC00F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43075"/>
            <a:ext cx="3486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从编号找到对应录音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33450C-6614-4214-B5C1-10FD74A4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00275"/>
            <a:ext cx="34861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选择问题片段或拼接处后，</a:t>
            </a:r>
          </a:p>
          <a:p xmlns:a="http://schemas.openxmlformats.org/drawingml/2006/main">
            <a: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下方加载相关的音频。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0517BE-8222-44E6-91BD-438859009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48050"/>
            <a:ext cx="3486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实际例子 J076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91AD2B-A6A3-4E62-AC3C-3FBF9FF7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05250"/>
            <a:ext cx="34861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同学的话接到下一段旁白。</a:t>
            </a:r>
          </a:p>
          <a:p xmlns:a="http://schemas.openxmlformats.org/drawingml/2006/main">
            <a: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听两侧声音，判断停顿</a:t>
            </a:r>
          </a:p>
          <a:p xmlns:a="http://schemas.openxmlformats.org/drawingml/2006/main">
            <a: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是否自然，再决定要不要改。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EF703B-2584-4DBF-83BB-4DAA5A5C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可试听或下载问题上下文，也能下载完整报告，保留后续复核所需的依据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7BDFDB-5149-4895-B58F-FCB3154C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50430464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8FCBB6-CB0C-4032-A018-D0BD7882AE8A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477125" y="3171825"/>
            <a:ext cx="13430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D17AE9-768C-4DC8-B0AD-372D180ED6AB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371850" y="3171825"/>
            <a:ext cx="13430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7CD103-0FCF-486E-B6C4-82AB9897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怎么控制重试：给制作过程设一个上限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E4C57C-5CD3-4CE8-ABA6-A75E9539F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28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A9AD18-857E-4CC5-8DA8-79A82807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事先设好：最多请求几次、修几次、补读多少字、用多长时间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61F2B4-8D77-4639-9900-D26563F9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确实需要重新读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只发送问题段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835310-38C0-4400-92FA-7255B176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714625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先检查剩余额度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登记这次尝试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25F7F9-E932-46A3-87EF-56606C11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714625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请求语音服务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记录成功或失败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F26360-A067-40F9-8C08-DB741481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失败的一次也记下来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C9B630-E329-474B-A3F8-8CA5A1B9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5772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避免网络或生成失败后反复重试，把次数悄悄用完。</a:t>
            </a:r>
          </a:p>
          <a:p xmlns:a="http://schemas.openxmlformats.org/drawingml/2006/main">
            <a: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上限到了就停止追加，把仍未解决的问题列出来。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0883BC-F8F7-4F45-A6D8-73AB7A0E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目前按次数、文字量和时间控制，尚未直接计算花了多少元</a:t>
            </a:r>
          </a:p>
        </p:txBody>
      </p:sp>
    </p:spTree>
    <p:extLst>
      <p:ext uri="{BB962C8B-B14F-4D97-AF65-F5344CB8AC3E}">
        <p14:creationId xmlns:p14="http://schemas.microsoft.com/office/powerpoint/2010/main" val="158008721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B30459-2A37-4FD0-AAEE-302D12F095D4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6896100" y="2057400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91DE52-61DA-4367-8E36-916E6C6C39A1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847975" y="2057400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80611C-76FF-4C45-8544-5CAF2003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怎么判断修好了：新旧版本一起比较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CBE481-1C6F-4E99-BB7B-3F7EFD609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29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65B25C-8B9B-4DB1-A077-01DE7F99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22383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前一句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4D8923-7EC2-439E-9F5C-12EAD685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676400"/>
            <a:ext cx="2857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C5C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修改后的这一句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595C45-7652-46DD-AFE9-CB4B9F9D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676400"/>
            <a:ext cx="22383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后一句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33176E-B86E-49E6-BCAF-84FBB6A6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先看原来正确的部分有没有受影响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454996-6E8C-4C97-831C-876F1B74A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内容不能少读或多读，原来通过的检查还要继续通过。</a:t>
            </a:r>
          </a:p>
          <a:p xmlns:a="http://schemas.openxmlformats.org/drawingml/2006/main">
            <a: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这一句和前后句的连接也要重新检查。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6A36DE-C28C-41B4-8305-F30D13AC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再看这次修改有没有解决问题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324CBF-325D-4965-B7F2-88FB0648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程序确认有改善，才采用新版本。没有改善就继续保留原件。</a:t>
            </a:r>
          </a:p>
          <a:p xmlns:a="http://schemas.openxmlformats.org/drawingml/2006/main">
            <a: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像“声音是否适合人物”这样的问题，仍要靠人试听。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5C54A9-D904-4BA9-8778-EE74E3408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只修一个问题段，也要一起检查它的前后两句</a:t>
            </a:r>
          </a:p>
        </p:txBody>
      </p:sp>
    </p:spTree>
    <p:extLst>
      <p:ext uri="{BB962C8B-B14F-4D97-AF65-F5344CB8AC3E}">
        <p14:creationId xmlns:p14="http://schemas.microsoft.com/office/powerpoint/2010/main" val="20973125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DC1566-8B5F-4198-B31F-552466C56AA6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524500" y="5229225"/>
            <a:ext cx="13811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B375D6-3A37-404D-BC13-20732453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具体例子：读完又重复，怎样安全去掉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200AB2-E619-4299-B856-1C6C65E4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30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E895CB-F35E-4CA3-94C0-955631DA0765}"/>
              </a:ext>
            </a:extLst>
          </p:cNvPr>
          <p:cNvGraphicFramePr/>
          <p:nvPr/>
        </p:nvGraphicFramePr>
        <p:xfrm>
          <a:off xmlns:a="http://schemas.openxmlformats.org/drawingml/2006/main" x="609600" y="1743075"/>
          <a:ext xmlns:a="http://schemas.openxmlformats.org/drawingml/2006/main" cx="109728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91125"/>
                <a:gridCol w="5781675"/>
              </a:tblGrid>
              <a:tr h="642938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先确认什么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然后怎样处理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原文应该读的部分已经完整读完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找正文与多余重复之间的停顿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前半段内容完整，后半段只有多余重复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把两部分分别转成文字，再次核对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切的位置不会伤到正常发音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两边留出 0.1 秒保护，只去掉多余尾段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503B5F-64F6-4BC3-BEA0-E30DBA3E0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29175"/>
            <a:ext cx="457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C5C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原文该读的部分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完整保留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D16F49-591D-4E69-9C38-340D7ED5C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829175"/>
            <a:ext cx="3333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多出来的重复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确认后再去掉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21477B-2E6F-431C-AC15-E862A9D9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4386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停顿处切开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EEF497-8645-4D52-9BDC-9FD35856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默认先让人复核，只有条件明确且用户开启自动处理时才自动采用</a:t>
            </a:r>
          </a:p>
        </p:txBody>
      </p:sp>
    </p:spTree>
    <p:extLst>
      <p:ext uri="{BB962C8B-B14F-4D97-AF65-F5344CB8AC3E}">
        <p14:creationId xmlns:p14="http://schemas.microsoft.com/office/powerpoint/2010/main" val="74013278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64C731-1C23-4244-9485-385D536DAF4E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524750" y="2286000"/>
            <a:ext cx="12001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930314-7D35-46E8-B796-809B2125E747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467100" y="2286000"/>
            <a:ext cx="12001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A70466-D709-4AAE-91C6-9BFF8B756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原音和修改版都保存，随时能查清改了什么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00F52E-2EF5-427A-9992-D4D787C0D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31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8D114A-BC2A-4295-804B-E79E8683A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2857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生成时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记下正文和声音设置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AD88A1-87B0-4C64-8225-8D5FA3F00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38325"/>
            <a:ext cx="2857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生成后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保存原始录音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4F1E7B-1D77-45AB-AA84-7E18FB12D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838325"/>
            <a:ext cx="2857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修改后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另存新版本和修改记录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6AF42E-B3B2-4A22-9AD3-C02A18E8C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9475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同样的内容和设置，可以复用已有录音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A0FCA0-23AE-4602-BBB1-8142CBEE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调语速、剪重复等处理另存文件，原来的录音不会被覆盖。</a:t>
            </a:r>
          </a:p>
          <a:p xmlns:a="http://schemas.openxmlformats.org/drawingml/2006/main">
            <a: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最后按顺序拼成整章，并检查音频和检查单是否对应。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2BC5BF-FACB-44E9-BAA0-C445B85C0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例如：R039 去掉多余重复后，仍能找到修改前的录音进行比较。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3456DE-E364-4CAB-896D-0943C3E3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每份文件都有唯一校验记录，避免拿旧音频的试听结论套在新版本上</a:t>
            </a:r>
          </a:p>
        </p:txBody>
      </p:sp>
    </p:spTree>
    <p:extLst>
      <p:ext uri="{BB962C8B-B14F-4D97-AF65-F5344CB8AC3E}">
        <p14:creationId xmlns:p14="http://schemas.microsoft.com/office/powerpoint/2010/main" val="59191683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EFB764-09E2-4B79-8C22-CC23E22A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实际完成的案例：《Flipped》首章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BD9DB6-B22C-45CF-B120-63AD884CE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32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C75601-1181-4626-A74E-43393628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19275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14,311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87B524-E104-454D-AC45-E9EF97E4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80035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原文字符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EF3A4D-1F29-4E75-86AC-B79188CBD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19275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2D5208-C7FB-4A4A-8127-DEA58CD4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80035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人物与角色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B4B819-AED2-4ADC-B844-17BFEFE74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19275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100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E0BEC9-2865-41B5-84EA-482A4E1A0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80035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生成的小段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C2B29C-3B74-401F-A201-7500D00E7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819275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99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F8FB43-C348-4FCF-9EA2-4D7B5EE27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80035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小段连接处</a:t>
            </a:r>
          </a:p>
        </p:txBody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6B363C-B9D0-4E61-8558-E1D6A145AE81}"/>
              </a:ext>
            </a:extLst>
          </p:cNvPr>
          <p:cNvGraphicFramePr/>
          <p:nvPr/>
        </p:nvGraphicFramePr>
        <p:xfrm>
          <a:off xmlns:a="http://schemas.openxmlformats.org/drawingml/2006/main" x="609600" y="3743325"/>
          <a:ext xmlns:a="http://schemas.openxmlformats.org/drawingml/2006/main" cx="10972800" cy="1952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8686800"/>
              </a:tblGrid>
              <a:tr h="4881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阶段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已经做了什么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首次生成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完成约 15 分 32 秒的原始版本，保留原音频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调整 Bryce 声音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根据已确认的参考音，增加 67 次生成请求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修正具体问题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处理重复和长停顿等问题，最新版本约 17 分 34 秒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51A20F-C945-4341-A266-01FCECD9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版本时长不同，不能直接说明谁更好，已确认的局部也不代表整章全部通过</a:t>
            </a:r>
          </a:p>
        </p:txBody>
      </p:sp>
    </p:spTree>
    <p:extLst>
      <p:ext uri="{BB962C8B-B14F-4D97-AF65-F5344CB8AC3E}">
        <p14:creationId xmlns:p14="http://schemas.microsoft.com/office/powerpoint/2010/main" val="68528161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75DEB9-A29A-4371-9732-2E47045F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哪些问题已经试听确认修好了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8DB75B-3369-4C38-A58B-E6594508E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33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ECBA6F-4598-453B-9275-EB7663EF337F}"/>
              </a:ext>
            </a:extLst>
          </p:cNvPr>
          <p:cNvGraphicFramePr/>
          <p:nvPr/>
        </p:nvGraphicFramePr>
        <p:xfrm>
          <a:off xmlns:a="http://schemas.openxmlformats.org/drawingml/2006/main" x="609600" y="1724025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191000"/>
                <a:gridCol w="4400550"/>
              </a:tblGrid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问题位置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做了什么修改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已经确认的范围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R039 句尾重复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留下完整正文，删多余重复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保留的正常语音没改，局部试听通过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R018 多读 No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只留下原文要求的三次 No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前后片段已核对，局部试听通过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J076 停顿太长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只剪掉多余的无声部分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两句之间约 1 秒，试听通过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R034 开头反复读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C’mon 改用 Come on! 来读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发音及与前后句的连接试听通过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2907C3-6528-4CC9-8299-4CDABDE0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447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已保存 10 个试听接受的修复案例，全部来自同一本书的同一章。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C1EDC0-D143-44CD-A0B9-F06E51CE3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这些案例能说明具体怎么修，还不能算出对其他书籍的修复成功率</a:t>
            </a:r>
          </a:p>
        </p:txBody>
      </p:sp>
    </p:spTree>
    <p:extLst>
      <p:ext uri="{BB962C8B-B14F-4D97-AF65-F5344CB8AC3E}">
        <p14:creationId xmlns:p14="http://schemas.microsoft.com/office/powerpoint/2010/main" val="981760097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AB2D67-3BE8-4FC9-A81B-87A8C3FCC028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143750" y="2176463"/>
            <a:ext cx="14859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E19553-9C99-4217-8816-BE39FEC16447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133725" y="2176463"/>
            <a:ext cx="14859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6B01C0-767D-498F-84EE-9C813E236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让人少重复听，接下来再验证人物好不好认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B09158-1CBD-48E0-AA7E-16CACEE6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34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2D1B22-1C25-429C-AF37-8FC5E2CF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25241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133 条问题提示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EA5457-4685-4756-843A-C1B5F5FA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771650"/>
            <a:ext cx="25241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整理为 48 个片段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2F9F51-29FD-415B-8C2F-1316D392B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771650"/>
            <a:ext cx="2952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合成 9 段试听内容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6FB25C-7EBD-46B8-B05E-D7C1F1EB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同一段录音被反复提示，就合在一起听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245DC4-FAAA-4774-8274-58781498F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每个问题都保留，只合并重复的试听范围。</a:t>
            </a:r>
          </a:p>
          <a:p xmlns:a="http://schemas.openxmlformats.org/drawingml/2006/main">
            <a: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原来重叠片段加起来约 27 分钟，合并后约 16 分钟。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415936-7261-4E94-9241-EE6976B75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“听出是谁”的题目已经准备好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75F005-E775-4714-91D9-5851CECB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36 道题，使用九段已做试听检查的录音。</a:t>
            </a:r>
          </a:p>
          <a:p xmlns:a="http://schemas.openxmlformats.org/drawingml/2006/main">
            <a: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目前还没有听众答题结果，不能说自动分配已经更容易辨认。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91939C-E1B8-4342-8982-B9A1F609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本批自动分配与随机分配恰好相同，不能用这批材料比较二者优劣</a:t>
            </a:r>
          </a:p>
        </p:txBody>
      </p:sp>
    </p:spTree>
    <p:extLst>
      <p:ext uri="{BB962C8B-B14F-4D97-AF65-F5344CB8AC3E}">
        <p14:creationId xmlns:p14="http://schemas.microsoft.com/office/powerpoint/2010/main" val="53119402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012D14-559B-44A4-98C1-42E690CED1F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639175" y="2352675"/>
            <a:ext cx="6572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8953FB-0515-422A-B5BA-96E3C0650331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743575" y="2352675"/>
            <a:ext cx="6572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1BCDCF-9658-424A-95B6-29EE81FF6505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847975" y="2352675"/>
            <a:ext cx="6572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9FD0EB-55C3-4253-A2C3-B76200E3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网页操作保护：重新拆分后，要重新确认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F9BDBA-FB01-420F-8684-8A29C5E5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35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9E6E52-2F9A-4749-8D82-E2EEE679C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22383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上传书籍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选择要做的章节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5B010F-FCDE-4B0E-84C2-3E036D673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05000"/>
            <a:ext cx="22383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重新拆分文字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旧的确认立即失效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21B04D-3F15-4E1F-BF8F-CA5876B29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05000"/>
            <a:ext cx="22383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检查人物和声音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重新点击确认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BB649A-F229-4696-99D5-13303C53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05000"/>
            <a:ext cx="22383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开始生成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查看和下载结果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BBF285-5B26-4676-8779-6862B26F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避免“内容已改，仍按旧安排生成”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5E659A-BB73-4F27-9C68-53234D6C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97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重新拆分时，不能拿上一次的确认继续生成。</a:t>
            </a:r>
          </a:p>
          <a:p xmlns:a="http://schemas.openxmlformats.org/drawingml/2006/main">
            <a:pPr>
              <a:buNone/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同一本书的保存、确认和开始生成，程序会协调顺序，避免互相冲突。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BEF781-47EA-4365-AAE3-7A1303C8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关闭进度显示，也不会把仍在工作的任务误当成已经结束。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DCEB0D-F226-43EF-BB25-D8610F9B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后台流程已经测试，新控件在浏览器中的实际操作体验仍需最后确认</a:t>
            </a:r>
          </a:p>
        </p:txBody>
      </p:sp>
    </p:spTree>
    <p:extLst>
      <p:ext uri="{BB962C8B-B14F-4D97-AF65-F5344CB8AC3E}">
        <p14:creationId xmlns:p14="http://schemas.microsoft.com/office/powerpoint/2010/main" val="28469969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07E137-5332-4E91-9931-B99AA9C89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资源库：试听完成的章节并下载成果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52FD16-47A9-4958-B801-BDE3CB974E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4a5a50405c49d8"/>
          <a:srcRect xmlns:a="http://schemas.openxmlformats.org/drawingml/2006/main" l="10303" t="26123" r="12121" b="14316"/>
          <a:stretch xmlns:a="http://schemas.openxmlformats.org/drawingml/2006/main"/>
        </p:blipFill>
        <p:spPr>
          <a:xfrm xmlns:a="http://schemas.openxmlformats.org/drawingml/2006/main">
            <a:off x="609600" y="1476375"/>
            <a:ext cx="5048250" cy="44958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A6B425-D5C8-4746-813B-3B868A269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85900"/>
            <a:ext cx="539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按书籍或批次查看文件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8E4A4B-7127-46E8-886E-3EE0734F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43100"/>
            <a:ext cx="53911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左侧可筛选并选择文件。</a:t>
            </a:r>
          </a:p>
          <a:p xmlns:a="http://schemas.openxmlformats.org/drawingml/2006/main">
            <a: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音频和对应文本都能保留下来。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BA7F06-38A3-441C-8D75-A83D8684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67050"/>
            <a:ext cx="539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先听章节，再下载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04C17C-5905-4FE8-8BCF-04860E2D7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24250"/>
            <a:ext cx="53911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右侧选择章节即可加载播放器，</a:t>
            </a:r>
          </a:p>
          <a:p xmlns:a="http://schemas.openxmlformats.org/drawingml/2006/main">
            <a: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可调节播放速度，也能下载单个文件。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EAFDBB-C31A-4D3B-83DE-AD7D4BF3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48200"/>
            <a:ext cx="539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需要一起带走时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22BCCD-22B0-4993-8AA3-8AAFD889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05400"/>
            <a:ext cx="53911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切换到 ZIP 打包，将选中的文件</a:t>
            </a:r>
          </a:p>
          <a:p xmlns:a="http://schemas.openxmlformats.org/drawingml/2006/main">
            <a: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整理为一个压缩包。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C7C660-DEC4-49CF-BBC6-1C58FCE7A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截图使用已有《小王子》文件。播放器已加载约 3 分 32 秒音频，本轮未重新生成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42E5A3-21D7-402A-BFD1-E86A0A3E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28469969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E9048C-8C59-4301-BD7C-FDF7F185E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现在做到哪一步，接下来先做什么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2E8074-A517-4A57-80CB-17B6CCB5E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37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97B6C7-0D51-4FB6-A516-F3A994F80E0C}"/>
              </a:ext>
            </a:extLst>
          </p:cNvPr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10972800" cy="33051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5048250"/>
                <a:gridCol w="3924300"/>
              </a:tblGrid>
              <a:tr h="66103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方面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目前已经做了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下一步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66103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整套制作流程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选章节、分人物、选声音、生成和查问题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先把 MiMo 网页使用流程做好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103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实际使用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完成首章生成，修过重复和长停顿等问题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完成这一版整章试听，再扩大使用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66103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研究准备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有修复案例，也有 36 道人物辨认题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换更多书，找听众做比较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103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其他语音服务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原转换器支持多种服务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新的适配与论文实验暂缓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988A46-5805-41D8-8440-6BBC15BB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953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最近保存的程序测试：674 项，644 项通过，30 项因环境跳过。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8A5AFE-A345-457E-A0C2-8942BBB6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程序测试说明功能运行情况，实际听感和论文效果还需要另外验证</a:t>
            </a:r>
          </a:p>
        </p:txBody>
      </p:sp>
    </p:spTree>
    <p:extLst>
      <p:ext uri="{BB962C8B-B14F-4D97-AF65-F5344CB8AC3E}">
        <p14:creationId xmlns:p14="http://schemas.microsoft.com/office/powerpoint/2010/main" val="880117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2026-10-18T09:48:51.8830000Z</dcterms:created>
  <dcterms:modified xsi:type="dcterms:W3CDTF">2026-10-18T09:48:51.8830000Z</dcterms:modified>
</coreProperties>
</file>