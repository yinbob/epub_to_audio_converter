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45a6ae487949d6" /><Relationship Type="http://schemas.openxmlformats.org/officeDocument/2006/relationships/extended-properties" Target="/docProps/app.xml" Id="R5697ff30c9bc4215" /><Relationship Type="http://schemas.openxmlformats.org/officeDocument/2006/relationships/officeDocument" Target="/ppt/presentation.xml" Id="R7dd6b4053a994e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a55b30fa2b4654"/>
  </p:sldMasterIdLst>
  <p:notesMasterIdLst>
    <p:notesMasterId xmlns:r="http://schemas.openxmlformats.org/officeDocument/2006/relationships" r:id="R4eb1c56cd7aa448d"/>
  </p:notesMasterIdLst>
  <p:sldIdLst>
    <p:sldId xmlns:r="http://schemas.openxmlformats.org/officeDocument/2006/relationships" id="256" r:id="R8586cc2328d8414b"/>
    <p:sldId xmlns:r="http://schemas.openxmlformats.org/officeDocument/2006/relationships" id="257" r:id="Ra1663287301140ff"/>
    <p:sldId xmlns:r="http://schemas.openxmlformats.org/officeDocument/2006/relationships" id="258" r:id="Rb1af98d5ed9b459a"/>
    <p:sldId xmlns:r="http://schemas.openxmlformats.org/officeDocument/2006/relationships" id="259" r:id="R8918b94128924a93"/>
    <p:sldId xmlns:r="http://schemas.openxmlformats.org/officeDocument/2006/relationships" id="260" r:id="Ra4e979f952744fdc"/>
    <p:sldId xmlns:r="http://schemas.openxmlformats.org/officeDocument/2006/relationships" id="261" r:id="Rd763b219f2504a85"/>
    <p:sldId xmlns:r="http://schemas.openxmlformats.org/officeDocument/2006/relationships" id="262" r:id="Rb0f68bfa0004491d"/>
    <p:sldId xmlns:r="http://schemas.openxmlformats.org/officeDocument/2006/relationships" id="263" r:id="R799bb26238ef4965"/>
    <p:sldId xmlns:r="http://schemas.openxmlformats.org/officeDocument/2006/relationships" id="264" r:id="Ra114147e9bd74eb5"/>
    <p:sldId xmlns:r="http://schemas.openxmlformats.org/officeDocument/2006/relationships" id="265" r:id="R4b82e5ed772d4189"/>
    <p:sldId xmlns:r="http://schemas.openxmlformats.org/officeDocument/2006/relationships" id="266" r:id="R61636e075f1347bd"/>
    <p:sldId xmlns:r="http://schemas.openxmlformats.org/officeDocument/2006/relationships" id="267" r:id="R00fea449eb5440c7"/>
    <p:sldId xmlns:r="http://schemas.openxmlformats.org/officeDocument/2006/relationships" id="268" r:id="Re05f29cc220a431e"/>
    <p:sldId xmlns:r="http://schemas.openxmlformats.org/officeDocument/2006/relationships" id="269" r:id="R66d5a53a4a9b4969"/>
    <p:sldId xmlns:r="http://schemas.openxmlformats.org/officeDocument/2006/relationships" id="270" r:id="Ra87d5c99b0ef4e0d"/>
    <p:sldId xmlns:r="http://schemas.openxmlformats.org/officeDocument/2006/relationships" id="271" r:id="R124a933b4231485d"/>
    <p:sldId xmlns:r="http://schemas.openxmlformats.org/officeDocument/2006/relationships" id="272" r:id="R73320c2de03841e7"/>
    <p:sldId xmlns:r="http://schemas.openxmlformats.org/officeDocument/2006/relationships" id="273" r:id="Rdcaa0a70e31a41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e9fc78aeb64eb2" /><Relationship Type="http://schemas.openxmlformats.org/officeDocument/2006/relationships/slideMaster" Target="/ppt/slideMasters/slideMaster1.xml" Id="R26a55b30fa2b4654" /><Relationship Type="http://schemas.openxmlformats.org/officeDocument/2006/relationships/notesMaster" Target="/ppt/notesMasters/notesMaster1.xml" Id="R4eb1c56cd7aa448d" /><Relationship Type="http://schemas.openxmlformats.org/officeDocument/2006/relationships/presProps" Target="/ppt/presProps.xml" Id="R7c45be08ef924cef" /><Relationship Type="http://schemas.openxmlformats.org/officeDocument/2006/relationships/tableStyles" Target="/ppt/tableStyles.xml" Id="R5ba267087e464117" /><Relationship Type="http://schemas.openxmlformats.org/officeDocument/2006/relationships/slide" Target="/ppt/slides/slide1.xml" Id="R8586cc2328d8414b" /><Relationship Type="http://schemas.openxmlformats.org/officeDocument/2006/relationships/slide" Target="/ppt/slides/slide2.xml" Id="Ra1663287301140ff" /><Relationship Type="http://schemas.openxmlformats.org/officeDocument/2006/relationships/slide" Target="/ppt/slides/slide3.xml" Id="Rb1af98d5ed9b459a" /><Relationship Type="http://schemas.openxmlformats.org/officeDocument/2006/relationships/slide" Target="/ppt/slides/slide4.xml" Id="R8918b94128924a93" /><Relationship Type="http://schemas.openxmlformats.org/officeDocument/2006/relationships/slide" Target="/ppt/slides/slide5.xml" Id="Ra4e979f952744fdc" /><Relationship Type="http://schemas.openxmlformats.org/officeDocument/2006/relationships/slide" Target="/ppt/slides/slide6.xml" Id="Rd763b219f2504a85" /><Relationship Type="http://schemas.openxmlformats.org/officeDocument/2006/relationships/slide" Target="/ppt/slides/slide7.xml" Id="Rb0f68bfa0004491d" /><Relationship Type="http://schemas.openxmlformats.org/officeDocument/2006/relationships/slide" Target="/ppt/slides/slide8.xml" Id="R799bb26238ef4965" /><Relationship Type="http://schemas.openxmlformats.org/officeDocument/2006/relationships/slide" Target="/ppt/slides/slide9.xml" Id="Ra114147e9bd74eb5" /><Relationship Type="http://schemas.openxmlformats.org/officeDocument/2006/relationships/slide" Target="/ppt/slides/slide10.xml" Id="R4b82e5ed772d4189" /><Relationship Type="http://schemas.openxmlformats.org/officeDocument/2006/relationships/slide" Target="/ppt/slides/slide11.xml" Id="R61636e075f1347bd" /><Relationship Type="http://schemas.openxmlformats.org/officeDocument/2006/relationships/slide" Target="/ppt/slides/slide12.xml" Id="R00fea449eb5440c7" /><Relationship Type="http://schemas.openxmlformats.org/officeDocument/2006/relationships/slide" Target="/ppt/slides/slide13.xml" Id="Re05f29cc220a431e" /><Relationship Type="http://schemas.openxmlformats.org/officeDocument/2006/relationships/slide" Target="/ppt/slides/slide14.xml" Id="R66d5a53a4a9b4969" /><Relationship Type="http://schemas.openxmlformats.org/officeDocument/2006/relationships/slide" Target="/ppt/slides/slide15.xml" Id="Ra87d5c99b0ef4e0d" /><Relationship Type="http://schemas.openxmlformats.org/officeDocument/2006/relationships/slide" Target="/ppt/slides/slide16.xml" Id="R124a933b4231485d" /><Relationship Type="http://schemas.openxmlformats.org/officeDocument/2006/relationships/slide" Target="/ppt/slides/slide17.xml" Id="R73320c2de03841e7" /><Relationship Type="http://schemas.openxmlformats.org/officeDocument/2006/relationships/slide" Target="/ppt/slides/slide18.xml" Id="Rdcaa0a70e31a41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5dffdb90d34b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a70fce832042f9" /><Relationship Type="http://schemas.openxmlformats.org/officeDocument/2006/relationships/notesMaster" Target="/ppt/notesMasters/notesMaster1.xml" Id="R797134d8830c47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b94009a35b4a25" /><Relationship Type="http://schemas.openxmlformats.org/officeDocument/2006/relationships/notesMaster" Target="/ppt/notesMasters/notesMaster1.xml" Id="R682c01a53b324b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a5f31c7db64668" /><Relationship Type="http://schemas.openxmlformats.org/officeDocument/2006/relationships/notesMaster" Target="/ppt/notesMasters/notesMaster1.xml" Id="Ra809d90111604b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59615b6a914f73" /><Relationship Type="http://schemas.openxmlformats.org/officeDocument/2006/relationships/notesMaster" Target="/ppt/notesMasters/notesMaster1.xml" Id="R7a9bf616ed794e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f5db409e284987" /><Relationship Type="http://schemas.openxmlformats.org/officeDocument/2006/relationships/notesMaster" Target="/ppt/notesMasters/notesMaster1.xml" Id="R4683f2982d6c4f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d3c27ca0b14205" /><Relationship Type="http://schemas.openxmlformats.org/officeDocument/2006/relationships/notesMaster" Target="/ppt/notesMasters/notesMaster1.xml" Id="R76513f2bbcb04e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c23ed4e5a2459d" /><Relationship Type="http://schemas.openxmlformats.org/officeDocument/2006/relationships/notesMaster" Target="/ppt/notesMasters/notesMaster1.xml" Id="R7e2ce4bb061c49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9fbe746a1a41cd" /><Relationship Type="http://schemas.openxmlformats.org/officeDocument/2006/relationships/notesMaster" Target="/ppt/notesMasters/notesMaster1.xml" Id="Rb4c47b91571042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4191154f274478" /><Relationship Type="http://schemas.openxmlformats.org/officeDocument/2006/relationships/notesMaster" Target="/ppt/notesMasters/notesMaster1.xml" Id="R1bd8b623d9804e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4903c951f64171" /><Relationship Type="http://schemas.openxmlformats.org/officeDocument/2006/relationships/notesMaster" Target="/ppt/notesMasters/notesMaster1.xml" Id="R4af3440f9e0549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8bb13ffe3840f2" /><Relationship Type="http://schemas.openxmlformats.org/officeDocument/2006/relationships/notesMaster" Target="/ppt/notesMasters/notesMaster1.xml" Id="R0fd153230f314d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dcef40e5834f5c" /><Relationship Type="http://schemas.openxmlformats.org/officeDocument/2006/relationships/notesMaster" Target="/ppt/notesMasters/notesMaster1.xml" Id="R849ab3843ab343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5df951e889467f" /><Relationship Type="http://schemas.openxmlformats.org/officeDocument/2006/relationships/notesMaster" Target="/ppt/notesMasters/notesMaster1.xml" Id="R98f1f36448c8414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b9ef564c9149fc" /><Relationship Type="http://schemas.openxmlformats.org/officeDocument/2006/relationships/notesMaster" Target="/ppt/notesMasters/notesMaster1.xml" Id="Ra3bc4cf589c54f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0d5c58703544162" /><Relationship Type="http://schemas.openxmlformats.org/officeDocument/2006/relationships/notesMaster" Target="/ppt/notesMasters/notesMaster1.xml" Id="R16843d07b1bd47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6c3917346647f0" /><Relationship Type="http://schemas.openxmlformats.org/officeDocument/2006/relationships/notesMaster" Target="/ppt/notesMasters/notesMaster1.xml" Id="R647aac0dd7a64cc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e797096a40949ad" /><Relationship Type="http://schemas.openxmlformats.org/officeDocument/2006/relationships/notesMaster" Target="/ppt/notesMasters/notesMaster1.xml" Id="Rc087222f8a3649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dd75dd8b8b4317" /><Relationship Type="http://schemas.openxmlformats.org/officeDocument/2006/relationships/notesMaster" Target="/ppt/notesMasters/notesMaster1.xml" Id="Rddb11ef9f7664a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图片：docs/presentation_build/assets/home.png，2026-10-12既有项目界面截图，仅展示产品形态，非最新控件验收。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/Users/yinzh/PycharmProjects/EPUB_to_Audio_Converter-1/docs/论文创新点与实现方案.md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/Users/yinzh/PycharmProjects/EPUB_to_Audio_Converter-1/docs/validation/narration_identity_20261017/README.md</a:t>
            </a:r>
          </a:p>
          <a:p xmlns:a="http://schemas.openxmlformats.org/drawingml/2006/main">
            <a:r>
              <a:t>/Users/yinzh/PycharmProjects/EPUB_to_Audio_Converter-1/audiobook_generator/role_script/validator.py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/Users/yinzh/PycharmProjects/EPUB_to_Audio_Converter-1/audiobook_generator/audio_core/reading.py</a:t>
            </a:r>
          </a:p>
          <a:p xmlns:a="http://schemas.openxmlformats.org/drawingml/2006/main">
            <a:r>
              <a:t>/Users/yinzh/PycharmProjects/EPUB_to_Audio_Converter-1/audiobook_generator/audio_core/english_reading.py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/Users/yinzh/PycharmProjects/EPUB_to_Audio_Converter-1/docs/MiMo参考音克隆接入与验收.md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/Users/yinzh/PycharmProjects/EPUB_to_Audio_Converter-1/audiobook_generator/tts_providers/mimo_voice.py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  <a:p xmlns:a="http://schemas.openxmlformats.org/drawingml/2006/main">
            <a:r>
              <a:t>/Users/yinzh/PycharmProjects/EPUB_to_Audio_Converter-1/audiobook_generator/audio_core/tail_repeat.py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/Users/yinzh/PycharmProjects/EPUB_to_Audio_Converter-1/audiobook_generator/audio_core/review_queue.py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/Users/yinzh/PycharmProjects/EPUB_to_Audio_Converter-1/docs/validation/webui_spawn_workflow_20261017/README.md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1832cdd1f49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b94a3c34340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69e965db94b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33bfad9584a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767023f69045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9bc357616846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051D5A-C154-4A1B-80CB-44467202B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34F89C-1E0C-436D-9F15-ED624DB914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04783A-E445-4D83-875E-59A0DDACA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7743FD-0021-469A-A1E6-4CF541D83E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991709-074D-4258-8BDA-E9CE2EA37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E86B0B-F572-435B-9E69-FC72F9316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779511-7F2D-4CA9-8FEE-36A5DADB90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8A53BE-8BEC-48D3-B083-2507CAB2AE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DFC57A-FBE1-428B-9F6B-8E47CFA76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815CE8-FA01-4762-9850-D4E0CD004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d1a74cc7ed4166" /><Relationship Type="http://schemas.openxmlformats.org/officeDocument/2006/relationships/slideLayout" Target="/ppt/slideLayouts/slideLayout1.xml" Id="Rb4d659ec6eb74048" /><Relationship Type="http://schemas.openxmlformats.org/officeDocument/2006/relationships/slideLayout" Target="/ppt/slideLayouts/slideLayout2.xml" Id="Rdbb7ba3a3c7149b4" /><Relationship Type="http://schemas.openxmlformats.org/officeDocument/2006/relationships/slideLayout" Target="/ppt/slideLayouts/slideLayout3.xml" Id="R7962ec092214468f" /><Relationship Type="http://schemas.openxmlformats.org/officeDocument/2006/relationships/slideLayout" Target="/ppt/slideLayouts/slideLayout4.xml" Id="Re31fbd0d63c9494d" /><Relationship Type="http://schemas.openxmlformats.org/officeDocument/2006/relationships/slideLayout" Target="/ppt/slideLayouts/slideLayout5.xml" Id="Ra66b7999027b4b84" /><Relationship Type="http://schemas.openxmlformats.org/officeDocument/2006/relationships/slideLayout" Target="/ppt/slideLayouts/slideLayout6.xml" Id="R666c3ae7558f45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d659ec6eb74048"/>
    <p:sldLayoutId xmlns:r="http://schemas.openxmlformats.org/officeDocument/2006/relationships" id="2147483650" r:id="Rdbb7ba3a3c7149b4"/>
    <p:sldLayoutId xmlns:r="http://schemas.openxmlformats.org/officeDocument/2006/relationships" id="2147483651" r:id="R7962ec092214468f"/>
    <p:sldLayoutId xmlns:r="http://schemas.openxmlformats.org/officeDocument/2006/relationships" id="2147483652" r:id="Re31fbd0d63c9494d"/>
    <p:sldLayoutId xmlns:r="http://schemas.openxmlformats.org/officeDocument/2006/relationships" id="2147483653" r:id="Ra66b7999027b4b84"/>
    <p:sldLayoutId xmlns:r="http://schemas.openxmlformats.org/officeDocument/2006/relationships" id="2147483654" r:id="R666c3ae7558f45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d1deaaf2864c3d" /><Relationship Type="http://schemas.openxmlformats.org/officeDocument/2006/relationships/notesSlide" Target="/ppt/notesSlides/notesSlide1.xml" Id="Rfb67772c285d41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4e815f83c04759" /><Relationship Type="http://schemas.openxmlformats.org/officeDocument/2006/relationships/image" Target="/ppt/media/image.jpeg" Id="R7adb295156424ae1" /><Relationship Type="http://schemas.openxmlformats.org/officeDocument/2006/relationships/notesSlide" Target="/ppt/notesSlides/notesSlide2.xml" Id="Rf9982931306b42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14558b33d4320" /><Relationship Type="http://schemas.openxmlformats.org/officeDocument/2006/relationships/notesSlide" Target="/ppt/notesSlides/notesSlide3.xml" Id="Rb4d4737e3bb445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cfcb3f7914c51" /><Relationship Type="http://schemas.openxmlformats.org/officeDocument/2006/relationships/notesSlide" Target="/ppt/notesSlides/notesSlide4.xml" Id="R4208d353711044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f2f8d80aed4645" /><Relationship Type="http://schemas.openxmlformats.org/officeDocument/2006/relationships/notesSlide" Target="/ppt/notesSlides/notesSlide5.xml" Id="R4b863eb3ab174a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aebd7282324396" /><Relationship Type="http://schemas.openxmlformats.org/officeDocument/2006/relationships/notesSlide" Target="/ppt/notesSlides/notesSlide6.xml" Id="Rb4fa6e5e7b0a4a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a1255eedd745d1" /><Relationship Type="http://schemas.openxmlformats.org/officeDocument/2006/relationships/notesSlide" Target="/ppt/notesSlides/notesSlide7.xml" Id="R8d6623d6412b4d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7a3b185b924f86" /><Relationship Type="http://schemas.openxmlformats.org/officeDocument/2006/relationships/notesSlide" Target="/ppt/notesSlides/notesSlide8.xml" Id="Re7ec4dd3491f42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f34f7b5cb4066" /><Relationship Type="http://schemas.openxmlformats.org/officeDocument/2006/relationships/notesSlide" Target="/ppt/notesSlides/notesSlide9.xml" Id="R590401d198a147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fd486a2d8a4979" /><Relationship Type="http://schemas.openxmlformats.org/officeDocument/2006/relationships/notesSlide" Target="/ppt/notesSlides/notesSlide10.xml" Id="Re644c392324a4a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4749f95974be9" /><Relationship Type="http://schemas.openxmlformats.org/officeDocument/2006/relationships/notesSlide" Target="/ppt/notesSlides/notesSlide11.xml" Id="Re6ab2bab034b47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34349f026f49c2" /><Relationship Type="http://schemas.openxmlformats.org/officeDocument/2006/relationships/notesSlide" Target="/ppt/notesSlides/notesSlide12.xml" Id="R59ba52588e1e4e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da79bd273d463d" /><Relationship Type="http://schemas.openxmlformats.org/officeDocument/2006/relationships/notesSlide" Target="/ppt/notesSlides/notesSlide13.xml" Id="R0edcb24645ad4f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64ba9f6bea45e6" /><Relationship Type="http://schemas.openxmlformats.org/officeDocument/2006/relationships/notesSlide" Target="/ppt/notesSlides/notesSlide14.xml" Id="R5b8be4ab9ed84c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52e25fd0f84bfe" /><Relationship Type="http://schemas.openxmlformats.org/officeDocument/2006/relationships/notesSlide" Target="/ppt/notesSlides/notesSlide15.xml" Id="R2a21760cf26f45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6b7f0b62a040c4" /><Relationship Type="http://schemas.openxmlformats.org/officeDocument/2006/relationships/notesSlide" Target="/ppt/notesSlides/notesSlide16.xml" Id="R532d47f8ecac45a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017069661c474d" /><Relationship Type="http://schemas.openxmlformats.org/officeDocument/2006/relationships/notesSlide" Target="/ppt/notesSlides/notesSlide17.xml" Id="Ra8b7da18582845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5702dd3d64a1f" /><Relationship Type="http://schemas.openxmlformats.org/officeDocument/2006/relationships/notesSlide" Target="/ppt/notesSlides/notesSlide18.xml" Id="R1543e3d5d34a43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002E2-C8E2-40CF-AA6B-C4D0D3A3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多角色有声书生成与质量控制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22FAD-1A9C-4AF6-8D27-6344322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BB423-5E05-46F3-BA1C-7981F17E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项目进展与创新实现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FC4D1-A565-4C88-B7AA-C3581807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原文可追溯的角色编排</a:t>
            </a:r>
          </a:p>
          <a:p xmlns:a="http://schemas.openxmlformats.org/drawingml/2006/main">
            <a: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面向黑盒 TTS 的资源受限修复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D9FA3-0D84-409B-9B87-8F8BA9F6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97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阶段汇报    2026 年 10 月 18 日</a:t>
            </a:r>
          </a:p>
        </p:txBody>
      </p:sp>
    </p:spTree>
    <p:extLst>
      <p:ext uri="{BB962C8B-B14F-4D97-AF65-F5344CB8AC3E}">
        <p14:creationId xmlns:p14="http://schemas.microsoft.com/office/powerpoint/2010/main" val="1258712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16ED0-1AC5-4DA8-817B-6BA5645A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项目目标与产品形态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F2083-9FC4-45E0-9431-461DF91B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7B420-5982-4D91-9105-EA03592BA3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b295156424ae1"/>
          <a:stretch xmlns:a="http://schemas.openxmlformats.org/drawingml/2006/main"/>
        </p:blipFill>
        <p:spPr>
          <a:xfrm xmlns:a="http://schemas.openxmlformats.org/drawingml/2006/main">
            <a:off x="609600" y="1691271"/>
            <a:ext cx="6953250" cy="391360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27384-F957-49DC-8D15-61119D8C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面向长篇阅读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9C03B-9F75-41A2-9CFB-59C94774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1932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电子书解析、章节选择、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旁白与人物分声。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D85A6-0251-433C-B499-A7BE6A1E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623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面向制作返工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A4E3B-84E4-46C5-B12E-A86BE6C8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29075"/>
            <a:ext cx="361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定位问题片段，保留原件，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减少整章重复生成。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062B5-3D7E-4303-AAF7-19052D74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左图为 10 月 12 日既有界面实拍，新增工作流采用后续流程图说明</a:t>
            </a:r>
          </a:p>
        </p:txBody>
      </p:sp>
    </p:spTree>
    <p:extLst>
      <p:ext uri="{BB962C8B-B14F-4D97-AF65-F5344CB8AC3E}">
        <p14:creationId xmlns:p14="http://schemas.microsoft.com/office/powerpoint/2010/main" val="1545605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5F83B-4CCD-40C4-82B3-4D20BAEA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目前已经实现的能力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47067-9FEA-439E-99B3-327B1638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34009-979C-40D5-BB9F-44A5B774566D}"/>
              </a:ext>
            </a:extLst>
          </p:cNvPr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143500"/>
                <a:gridCol w="3924300"/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已实现能力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当前范围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书籍与剧本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章节解析、人物与别名、原文区间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中英文文本，人工可纠正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声音编排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内置声音、固定描述、参考音克隆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角色参数与声音锁定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音频生产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持久缓存、PCM 组装、编码复检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统一核心仅接 MiMo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质量闭环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四维筛查、局部修复、报告与试听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规则策略及局部案例验证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网页工作流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章节选择、确认保护、资源库下载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后台链路已核验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7248B-AB43-4674-90B3-51DAE9C9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原有转换器支持多引擎；新统一核心与混合声音工作流本轮聚焦 MiMo</a:t>
            </a:r>
          </a:p>
        </p:txBody>
      </p:sp>
    </p:spTree>
    <p:extLst>
      <p:ext uri="{BB962C8B-B14F-4D97-AF65-F5344CB8AC3E}">
        <p14:creationId xmlns:p14="http://schemas.microsoft.com/office/powerpoint/2010/main" val="64362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1680F-8E04-4F48-8130-5421C532847A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5743575" y="43053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5FE60-72FD-41AB-BF1E-D59BB68B414E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639175" y="43053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EF578-9527-4B37-9D5A-340E9EBD226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0415588" y="2752725"/>
            <a:ext cx="0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D5BE1-BECD-4326-9C49-810C2C785CA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39175" y="230505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90ABFF-6842-4A59-AD3A-AB0CA82EEA0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43575" y="230505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4F9FA-A266-45C1-87C0-AE44B5DBF19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30505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499FD-A9CD-4761-8B43-67122248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统一生成流程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95CF2-2FCB-4C8F-B7C1-F9FBBB88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E69EE-6478-4EF9-A034-F366CDD1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书籍原文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章节与来源区间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7ECCE-5592-4CE4-95F9-35999B42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5737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角色剧本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归属与声音配置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81E77-4AE7-4EB0-AAE1-0559EC21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5737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朗读计划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规范化与分块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F3C0A-6273-4C76-A5B1-C02F9174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5737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MiMo 合成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请求与原始样本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5E9C8-AB81-4355-9434-2D3D62F6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5762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质量检查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块、接缝、角色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F6611-93C6-44DF-AF21-73FE7074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受限修复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候选比较与复检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F451D2-ED62-4345-85E4-CA2C3A06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57625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章节输出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音频与质量报告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D63AA-1C47-45F5-9589-2723438F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原文映射、音频指纹和请求账本贯穿执行过程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4386A-96C2-4FF9-9590-D362B86F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普通旁白与角色朗读复用同一核心，质量状态与文件生成状态分别记录</a:t>
            </a:r>
          </a:p>
        </p:txBody>
      </p:sp>
    </p:spTree>
    <p:extLst>
      <p:ext uri="{BB962C8B-B14F-4D97-AF65-F5344CB8AC3E}">
        <p14:creationId xmlns:p14="http://schemas.microsoft.com/office/powerpoint/2010/main" val="1168513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45D71B-3A65-4BD9-885C-5A8FEDAC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创新点与实现层次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4825CE-F5B6-416A-875E-79BDF6C0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DC776-A0F8-49CB-92DC-04A34CE119B9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962400"/>
                <a:gridCol w="3962400"/>
              </a:tblGrid>
              <a:tr h="73818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候选创新方向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具体解决的问题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实现基础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原文约束的角色编排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剧本改写、身份混淆、视角换章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来源区间、实体与叙述证据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资源受限的音频修复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重复、长停顿与无控制的返工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分层质检、请求账本、候选选择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面向辨识的混合选角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有限声音资源与相似角色混淆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共同探针、互动图、声音卡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FBDBB-49AC-4E8C-BB09-EDF359F8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共用基础：朗读规范化、跨块连续性、质量评估与证据记录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48B2F-EFEC-4562-BE26-F3B353EB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这些是可研究的方法方向；新颖性和效果仍需相关工作对照与独立实验</a:t>
            </a:r>
          </a:p>
        </p:txBody>
      </p:sp>
    </p:spTree>
    <p:extLst>
      <p:ext uri="{BB962C8B-B14F-4D97-AF65-F5344CB8AC3E}">
        <p14:creationId xmlns:p14="http://schemas.microsoft.com/office/powerpoint/2010/main" val="188369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6DEBB-A494-4800-9280-E445D88CB05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986713" y="2809875"/>
            <a:ext cx="881063" cy="990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C050E-032B-4D02-9D7F-243D2CB29F1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48375" y="2362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03AA0-6D82-475C-8B62-0617C433229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43225" y="2362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811AE-25E9-412E-B39B-28113956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创新一：原文约束与叙述声音身份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6C79E-32B0-4BD4-ADD1-2892E90C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A30B4-6C2F-4C3D-A96B-78BD0E67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2333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本章原文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稳定人物 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266E1-65C0-4C83-8B78-C8E53A97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14525"/>
            <a:ext cx="2333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模型提出归属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叙述或对白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12F02-B635-4A7B-9B65-CDB3F6DD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14525"/>
            <a:ext cx="2333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本地校验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逐字覆盖与引文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6AC30-D5FB-40B8-B290-801F21E6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00475"/>
            <a:ext cx="4095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人物自述与本人对白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共用声音档案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AC153-E6C4-4FC7-A603-C7F91B35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505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证据不足时保留默认旁白并提示复核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B8EA6-38BD-4D1A-B6C3-39ADCF2C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每章独立判断叙述视角</a:t>
            </a:r>
          </a:p>
          <a:p xmlns:a="http://schemas.openxmlformats.org/drawingml/2006/main">
            <a: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不把上一章的叙述者直接沿用到下一章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EC3B5-F03A-447C-989B-8E33A7F0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Flipped 两章已做真实文字诊断性复核；不能据此报告自动归属准确率</a:t>
            </a:r>
          </a:p>
        </p:txBody>
      </p:sp>
    </p:spTree>
    <p:extLst>
      <p:ext uri="{BB962C8B-B14F-4D97-AF65-F5344CB8AC3E}">
        <p14:creationId xmlns:p14="http://schemas.microsoft.com/office/powerpoint/2010/main" val="1058803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DB561-1E1C-4C01-8DAD-CFFBCB82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朗读规范化与内容比较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189DA-A7ED-4FE6-BF01-19AE7BA6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5FA1A-B590-455E-8100-6D96F3C4085A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286250"/>
                <a:gridCol w="4686300"/>
              </a:tblGrid>
              <a:tr h="6286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示例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实现原则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书籍原文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增长 3.5%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原文与来源位置保持不变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合成读法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增长百分之三点五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明确规则或用户词典，记录转换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内容核验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 books / twenty books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有限等价比较，英文保留词界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歧义内容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编号、独立年份、专名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保留复核，避免擅自改写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059F3-7DE5-446F-98AE-6C3850B9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中文按字计算 CER，英文按词计算 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D48E8-20E7-48E6-A0BB-96D86BC1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ASR 同字转写不能证明多音字读音正确；读法词典也不能代替实际试听</a:t>
            </a:r>
          </a:p>
        </p:txBody>
      </p:sp>
    </p:spTree>
    <p:extLst>
      <p:ext uri="{BB962C8B-B14F-4D97-AF65-F5344CB8AC3E}">
        <p14:creationId xmlns:p14="http://schemas.microsoft.com/office/powerpoint/2010/main" val="19037364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B0D23-9297-4427-BFC8-1472BB7A4262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4619625" y="3048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E504F-051B-4240-A118-7CB0C2BC77E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476500" y="26670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D702A-7D06-4052-BDB2-77B31CFD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创新二：角色互动图与混合选角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FA5F0-5842-4580-BD60-BCB53D3C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13924-9C51-4E92-8524-953BC42D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角色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AF081-9D4E-44EC-B168-2DC24B4F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860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角色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9E6AE-E28A-4E06-93C2-01AE068F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角色 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00FF2-3375-4EB0-8B38-157570D9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192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频繁对话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5C2A8-2B86-4A88-BBBA-E10F5883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292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互动频次形成边权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9F5CD6-40CC-4786-9273-735EF35A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声音分配目标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CD336-827B-4F1E-888B-C073E787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4312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优先拉开频繁互动角色的声音差异。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6F17D-3503-4041-BABF-C9586394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146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约束与资源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2D88F-DC10-4C65-BBFE-DFC4141C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8137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保留人工锁定，结合适配评分；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内置声音不足时使用固定声音卡。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75CFD-8267-4FDA-9542-2F146DD4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2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求解方法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4B3B4-DA43-4688-ACAC-8148D500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19625"/>
            <a:ext cx="504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小规模精确枚举，超限搜索回退。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39ED08-2C24-4725-83A9-695D0116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图为方法示意，边权未填入实验数值；声纹距离只是听众混淆风险的代理</a:t>
            </a:r>
          </a:p>
        </p:txBody>
      </p:sp>
    </p:spTree>
    <p:extLst>
      <p:ext uri="{BB962C8B-B14F-4D97-AF65-F5344CB8AC3E}">
        <p14:creationId xmlns:p14="http://schemas.microsoft.com/office/powerpoint/2010/main" val="6022901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F95C6-E7DE-4141-9F22-7E590DC3E80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229475" y="546735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AE459-91C5-4948-920E-6EDE3673AFF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14700" y="5467350"/>
            <a:ext cx="1581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C50D6-791C-4389-B9F9-C4D328A0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三种声音模式的统一实现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B6F3E-1CE2-4D5B-9E90-8CAB573B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70868-568A-4E56-A77C-946DA14DA61C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048125"/>
                <a:gridCol w="4924425"/>
              </a:tblGrid>
              <a:tr h="714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声音条件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路由与稳定性控制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内置声音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 voice 名称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tts，保留有效角色配置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声音设计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固定描述与表演指令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voicedesign，声音卡 ID 与版本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参考音克隆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 WAV 与 SHA256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voiceclone，核对实际参考字节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E37AD-C5A6-42C8-8A76-E2E7A276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14350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角色档案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DEE66-C985-4863-A829-E4BB4782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4350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统一请求解析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8A55B-1727-43F0-A4AD-7E284EC7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14350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模型与缓存条件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4FC27-DC93-450D-9AB7-D8DD5FD7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生成条件参考与质量比对参考分开管理；更换声音版本后不能沿用旧验收</a:t>
            </a:r>
          </a:p>
        </p:txBody>
      </p:sp>
    </p:spTree>
    <p:extLst>
      <p:ext uri="{BB962C8B-B14F-4D97-AF65-F5344CB8AC3E}">
        <p14:creationId xmlns:p14="http://schemas.microsoft.com/office/powerpoint/2010/main" val="20590293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7FD4D-4DD0-47FC-99DC-7CD02F11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质量评估覆盖四个维度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CF32B-9C63-47FF-90EC-1C88E23A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15E5B0-DAE3-4B34-A098-5CA6242A0468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286250"/>
                <a:gridCol w="4876800"/>
              </a:tblGrid>
              <a:tr h="7048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实现方法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需要保留的判断边界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SenseVoice 转写与编辑对齐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ASR 差异属于疑点，可能误报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拼接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端点、能量、频谱和实际停顿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重点检查已知接缝，规则待校准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一致性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ECAPA 声纹、音高与语速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短音频证据不足，情绪会影响指标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信号与编码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削波、静音、响度、解码复检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PCM 保留不等于听感已经通过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3A612-0876-48FB-8B1C-2B6DA19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状态分别记录 passed、failed、incomplete；缺失检查不会自动计为通过</a:t>
            </a:r>
          </a:p>
        </p:txBody>
      </p:sp>
    </p:spTree>
    <p:extLst>
      <p:ext uri="{BB962C8B-B14F-4D97-AF65-F5344CB8AC3E}">
        <p14:creationId xmlns:p14="http://schemas.microsoft.com/office/powerpoint/2010/main" val="17031665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8871B-74F5-411B-80FB-BAF5CBB7D530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5981700" y="42386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C49D7-11F1-4C51-BE94-55BA2DCF06D4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820025" y="2762250"/>
            <a:ext cx="571500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C8C47-CC8C-44EF-BC9F-0911CC5B21D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857875" y="2381250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6BAA0-5A3D-4502-AE51-0B58D008DC4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00350" y="2381250"/>
            <a:ext cx="8667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98F3D-3022-4D20-9F67-66F17FE4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创新三：资源受限的局部修复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285FA-8A6E-4358-8411-AA6A9D40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A41961-DAF9-487F-90A9-3A494FC5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发现疑似问题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64D7A-022B-492B-8EDF-8EC46442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002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选择本地处理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或追加合成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94732-08EE-415F-95A1-8E13C3A5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02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检查并预留额度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E9861-05EB-4612-8792-8F3BD96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100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生成候选并复检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本块与相邻接缝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DFA8C-8EAA-4A89-A12B-E92D9AD9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100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改善且无退化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才采用候选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141B4-75AA-43C8-8CC1-C602DAF0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限制请求次数、修复次数、追加字符数和运行时间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9365A-36C5-459A-BA4F-D7408E5E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当前为规则驱动策略，不计算实际金额；失败与进行中请求同样占用额度</a:t>
            </a:r>
          </a:p>
        </p:txBody>
      </p:sp>
    </p:spTree>
    <p:extLst>
      <p:ext uri="{BB962C8B-B14F-4D97-AF65-F5344CB8AC3E}">
        <p14:creationId xmlns:p14="http://schemas.microsoft.com/office/powerpoint/2010/main" val="5043046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ED4ED-DE0B-4C82-8C73-7C8C3DEF1F5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5176838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97B89-5937-4793-A1CD-FD84EDC7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尾部重复的检测与安全裁切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D509F-8E1B-4DBF-A645-12146798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346E6-8025-40C9-A0E9-49B83EA2E4C0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86375"/>
                <a:gridCol w="5686425"/>
              </a:tblGrid>
              <a:tr h="6429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证据检查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满足条件后的处理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完整转写显示正文后附加重复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寻找有限数量的低能量停顿切点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切点前正文完整，切点后仅重复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分别转写前后片段，保留比对证据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切点两侧各有 100 ms 保护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仅导出保留完整正文的 PCM 前缀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CB5C4-9A0A-427D-95A2-0FC5D36B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00600"/>
            <a:ext cx="4572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完整正文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86B0EE-07A3-4F1E-85E6-09CF9CF1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00600"/>
            <a:ext cx="33337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852C7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重复尾段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79E54-2EF6-4A31-9DCF-B672E68E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48175"/>
            <a:ext cx="147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安全切点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26CEF-4B2B-4265-8601-21FE5C8F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默认 review；严格条件加显式 auto 才可自动采用，短词或 ASR 歧义继续人工判断</a:t>
            </a:r>
          </a:p>
        </p:txBody>
      </p:sp>
    </p:spTree>
    <p:extLst>
      <p:ext uri="{BB962C8B-B14F-4D97-AF65-F5344CB8AC3E}">
        <p14:creationId xmlns:p14="http://schemas.microsoft.com/office/powerpoint/2010/main" val="7401327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3F6C1-7CF9-4430-8B30-ACD649141529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334250" y="4352925"/>
            <a:ext cx="1771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645C2-D7B8-4737-A8AC-1DDA7D99FF18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344150" y="26860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3ED92-E87B-4C30-9B85-7ED2E8CC9B9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334250" y="2257425"/>
            <a:ext cx="1771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76907-D5E7-4A6A-B4A3-B117B3B8E212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86100" y="2257425"/>
            <a:ext cx="1771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CB35E-F3AC-4D77-97A4-B8082C30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可追溯音频产物与安全组装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A70F9-68BD-4DF0-8B70-28859E85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3E8DE-6DF4-43F1-960A-377D7B19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实际请求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模型、文本、声音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4C841-5CE6-40B1-B1A0-CE705F45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288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原始音频缓存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内容指纹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F45F1-EDBA-4863-98E9-EC06EB3C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288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本地渲染产物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操作与参数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E2182-DC46-40D2-BE22-F6EBE402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243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PCM 顺序组装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实际样本时间表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A40AE-9AC2-4354-B89A-C1DC3778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243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最终编码复检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音频与报告绑定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B3AEA4-5957-4586-821C-0F4DAB04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每次重采样形成独立样本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本地变速复用原始音频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候选、原件和人工裁决分别保存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AA619-7532-4F24-945C-B5683A5D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样本数、顺序与 SHA256 保证证据对应；同参数缓存复用不冒充新的独立生成</a:t>
            </a:r>
          </a:p>
        </p:txBody>
      </p:sp>
    </p:spTree>
    <p:extLst>
      <p:ext uri="{BB962C8B-B14F-4D97-AF65-F5344CB8AC3E}">
        <p14:creationId xmlns:p14="http://schemas.microsoft.com/office/powerpoint/2010/main" val="591916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9176E-F003-4D29-AC37-5EE4A45B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真实案例：《Flipped》首章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04F79-9534-4E77-AA37-0C430023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620BB-21E6-4741-8D5A-5CE6C8D9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14,311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0CD2A-5E4A-4BED-9D77-A0DB188D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原文字符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FBBED-3765-425E-85B8-BEE6ED0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4CAF2-53BD-4EE5-A510-32861EE0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2B500-4D17-428B-B7ED-2E29DBE6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16E13-7BF1-4F5C-82CD-3001D886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朗读块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C1E96-63C9-4B85-B66B-27FDB1E7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C1DA5-7152-4CC1-B20F-1715B1DB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接缝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EE1FC-A349-4431-BC53-013CA0E178F4}"/>
              </a:ext>
            </a:extLst>
          </p:cNvPr>
          <p:cNvGraphicFramePr/>
          <p:nvPr/>
        </p:nvGraphicFramePr>
        <p:xfrm>
          <a:off xmlns:a="http://schemas.openxmlformats.org/drawingml/2006/main" x="609600" y="3743325"/>
          <a:ext xmlns:a="http://schemas.openxmlformats.org/drawingml/2006/main" cx="10972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877300"/>
              </a:tblGrid>
              <a:tr h="4881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实际完成内容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首次整章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完成约 15 分 32 秒原始版本，保留原音频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克隆扩展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67 次新请求，Bryce 参考音克隆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局部修订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重复、停顿与发音重启处理，最新候选约 17 分 34 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F92D9-99DD-4C63-A6D1-588DFB5E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不同声音版本的时长不能直接比较质量；局部接受不代表整章或整书全部验收</a:t>
            </a:r>
          </a:p>
        </p:txBody>
      </p:sp>
    </p:spTree>
    <p:extLst>
      <p:ext uri="{BB962C8B-B14F-4D97-AF65-F5344CB8AC3E}">
        <p14:creationId xmlns:p14="http://schemas.microsoft.com/office/powerpoint/2010/main" val="6852816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ED4D5-4CC5-4943-A63C-57DEC7AB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已接受的局部修复案例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7EA46-9989-4EB4-B27A-485B52C7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54955-9016-4AE4-888D-34B465BD16BD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095750"/>
                <a:gridCol w="44005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处理方法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验证与接受范围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读完后重复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保留完整前缀，移除异常尾段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保留语音 PCM 不变，局部试听接受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R018 多次 No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保留原文要求的三次 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前后分段核验，局部试听接受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停顿过长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移除已确认静音中央部分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新上下文约 1 秒，试听接受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R034 发音重启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C’mon 展开为 Come on!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单次追加合成，发音与接缝接受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C75D1-8DDC-4FD6-B48A-E91AA2BC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已归档 10 个接受案例，全部来自同书同章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5ED96-1765-4276-BBCA-35D40C84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回顾案例具有来源依赖，不据此计算无偏成功率或声称跨书籍泛化</a:t>
            </a:r>
          </a:p>
        </p:txBody>
      </p:sp>
    </p:spTree>
    <p:extLst>
      <p:ext uri="{BB962C8B-B14F-4D97-AF65-F5344CB8AC3E}">
        <p14:creationId xmlns:p14="http://schemas.microsoft.com/office/powerpoint/2010/main" val="9817600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7F2EB-6068-4E61-A08D-92333F8B0E7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143750" y="223361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58FE4-1DFD-47B9-B38A-673C7531CD8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33725" y="223361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B671A-1287-4884-AF75-D5F0296C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集中复核与听众辨识材料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6B843-C21D-407F-A555-3ABFD55A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5D6DC-691A-411B-9A46-2CE6D725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133 条机器提示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2A854-E75A-45EF-A37C-2025C46B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2880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48 个定位窗口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3EAC3-272C-43FE-B0C6-04822EA6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2880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9 段不重叠路线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FB620-9E9B-4FD0-A082-EC6A6472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保留全部诊断，合并重叠上下文，减少同一音频反复试听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61806-1DFB-4D5A-9C9A-9CDE6F00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复核安排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82FCF-91B4-4584-9156-D3920F37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默认路线累计 973.04 秒；原重叠窗口累计 1629.20 秒。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58C93-F4B2-4A43-BCF7-9B346377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辨识先导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07C16-7DF9-402F-8D42-DF0EE13C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36 题已导出，九章材料质量预审通过，尚无真实辨识答案。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38763-31A4-4ADD-9618-00C7910A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本批互动图与随机分配相同，不能据此报告两者效果差异；播放器浏览器验收待完成</a:t>
            </a:r>
          </a:p>
        </p:txBody>
      </p:sp>
    </p:spTree>
    <p:extLst>
      <p:ext uri="{BB962C8B-B14F-4D97-AF65-F5344CB8AC3E}">
        <p14:creationId xmlns:p14="http://schemas.microsoft.com/office/powerpoint/2010/main" val="5311940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2B8D1-AE8B-4A69-A9FF-37C7F4E343A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391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8EE33-FEAB-46B6-93D5-FE1C9B65BD6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435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EB5B2-557E-47CA-AB7D-F06DF895F1A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3573B-B97F-4A85-856D-3BF52AF2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网页工作流的状态与并发保护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71E61-CE7B-4D70-A06B-36C55508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0EE62-5459-49A4-B801-D2800E1D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上传书籍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按章选择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E324D-EDFC-4B29-B7B6-D3D52BCE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240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拆分中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旧确认立即作废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3E944-AE0E-45C8-8DB4-8BDCC11D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核对声音与归属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E8C31E-0847-4900-8106-AE0D60FA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223837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生成与下载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报告和资源库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2072B-32D3-488B-8749-746B7CFC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同一书籍的保存、确认与生成启动共享操作锁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C43D7-4B93-49DC-8E85-EC7250CC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810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拆分期间拒绝旧确认启动；远端请求期间不持锁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关闭反馈流不会提前释放仍在工作的线程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后台真实 spawn 与本机 SDK 替身覆盖成功、缓存和失败分支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F1C84-9480-4AB9-BE72-707D3907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这是源码与后台链路验证；新增控件的浏览器视觉及真实操作体验仍待验收</a:t>
            </a:r>
          </a:p>
        </p:txBody>
      </p:sp>
    </p:spTree>
    <p:extLst>
      <p:ext uri="{BB962C8B-B14F-4D97-AF65-F5344CB8AC3E}">
        <p14:creationId xmlns:p14="http://schemas.microsoft.com/office/powerpoint/2010/main" val="2846996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E0E6C-8582-433C-A08D-D7E3DD6D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当前成果与后续重点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88580-117C-4826-8564-385D29B9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BDB52-00FE-4981-B3BD-DD5ED49BDA02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66875"/>
                <a:gridCol w="4953000"/>
                <a:gridCol w="4352925"/>
              </a:tblGrid>
              <a:tr h="65913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目前成果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下一步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工程核心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统一管线、角色声音、质检与局部修复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稳定 MiMo 网页上传、确认、生成和下载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真实案例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Flipped 首章、局部接受与声音小试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集中完成冻结版本核验，扩大实际使用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研究准备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36 题先导、标注与边界训练入口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独立来源、阈值校准与听众辨识实验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913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适配范围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原转换器多引擎，统一核心仅 MiMo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 TTS／VoxCPM 适配暂缓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04771-3445-4E03-8A49-5B4F442D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最新保存回归：674 项，644 通过，30 项环境跳过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45A65-08B5-446D-BBAE-D144BB1C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研究实验与新引擎适配当前暂缓；工程测试数量不能替代缺陷检出率或听众收益</a:t>
            </a:r>
          </a:p>
        </p:txBody>
      </p:sp>
    </p:spTree>
    <p:extLst>
      <p:ext uri="{BB962C8B-B14F-4D97-AF65-F5344CB8AC3E}">
        <p14:creationId xmlns:p14="http://schemas.microsoft.com/office/powerpoint/2010/main" val="88011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2026-10-18T01:36:20.5170000Z</dcterms:created>
  <dcterms:modified xsi:type="dcterms:W3CDTF">2026-10-18T01:36:20.5170000Z</dcterms:modified>
</coreProperties>
</file>