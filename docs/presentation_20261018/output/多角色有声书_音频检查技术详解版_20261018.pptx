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3ad32d22864c70" /><Relationship Type="http://schemas.openxmlformats.org/officeDocument/2006/relationships/extended-properties" Target="/docProps/app.xml" Id="Rc7ca3b3c6a3545dd" /><Relationship Type="http://schemas.openxmlformats.org/officeDocument/2006/relationships/officeDocument" Target="/ppt/presentation.xml" Id="Rbec579fbb01741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c46d76859444b1"/>
  </p:sldMasterIdLst>
  <p:notesMasterIdLst>
    <p:notesMasterId xmlns:r="http://schemas.openxmlformats.org/officeDocument/2006/relationships" r:id="R1ee998cd76974b2c"/>
  </p:notesMasterIdLst>
  <p:sldIdLst>
    <p:sldId xmlns:r="http://schemas.openxmlformats.org/officeDocument/2006/relationships" id="256" r:id="Rbfd141fe0d1d4f46"/>
    <p:sldId xmlns:r="http://schemas.openxmlformats.org/officeDocument/2006/relationships" id="257" r:id="R2c16b3addde24c1a"/>
    <p:sldId xmlns:r="http://schemas.openxmlformats.org/officeDocument/2006/relationships" id="258" r:id="R055afa1d4ea04b34"/>
    <p:sldId xmlns:r="http://schemas.openxmlformats.org/officeDocument/2006/relationships" id="259" r:id="Rc829448f648c46a4"/>
    <p:sldId xmlns:r="http://schemas.openxmlformats.org/officeDocument/2006/relationships" id="260" r:id="R741368db8cb743f9"/>
    <p:sldId xmlns:r="http://schemas.openxmlformats.org/officeDocument/2006/relationships" id="261" r:id="Rcdca7f438dee44d4"/>
    <p:sldId xmlns:r="http://schemas.openxmlformats.org/officeDocument/2006/relationships" id="262" r:id="Rc13b9a3f4d074ada"/>
    <p:sldId xmlns:r="http://schemas.openxmlformats.org/officeDocument/2006/relationships" id="263" r:id="R71fa8997f82a4ab3"/>
    <p:sldId xmlns:r="http://schemas.openxmlformats.org/officeDocument/2006/relationships" id="264" r:id="R6e22b2c18f9744a2"/>
    <p:sldId xmlns:r="http://schemas.openxmlformats.org/officeDocument/2006/relationships" id="265" r:id="Rd6c964e9d9c84c95"/>
    <p:sldId xmlns:r="http://schemas.openxmlformats.org/officeDocument/2006/relationships" id="266" r:id="R87430cc34c494fd0"/>
    <p:sldId xmlns:r="http://schemas.openxmlformats.org/officeDocument/2006/relationships" id="267" r:id="Rc7b0a2c7a67c4d56"/>
    <p:sldId xmlns:r="http://schemas.openxmlformats.org/officeDocument/2006/relationships" id="268" r:id="Rc785bcaeebfc4a5a"/>
    <p:sldId xmlns:r="http://schemas.openxmlformats.org/officeDocument/2006/relationships" id="269" r:id="Rb0aec5a8e11840d6"/>
    <p:sldId xmlns:r="http://schemas.openxmlformats.org/officeDocument/2006/relationships" id="270" r:id="Ra95a17e7f93c44ac"/>
    <p:sldId xmlns:r="http://schemas.openxmlformats.org/officeDocument/2006/relationships" id="271" r:id="Re319fc826f48431e"/>
    <p:sldId xmlns:r="http://schemas.openxmlformats.org/officeDocument/2006/relationships" id="272" r:id="Re9bb7e08a67f46b9"/>
    <p:sldId xmlns:r="http://schemas.openxmlformats.org/officeDocument/2006/relationships" id="273" r:id="Ra7a9a8ff52064438"/>
    <p:sldId xmlns:r="http://schemas.openxmlformats.org/officeDocument/2006/relationships" id="274" r:id="R45d1d68a9cad4015"/>
    <p:sldId xmlns:r="http://schemas.openxmlformats.org/officeDocument/2006/relationships" id="275" r:id="R75af6a8bd81e43a4"/>
    <p:sldId xmlns:r="http://schemas.openxmlformats.org/officeDocument/2006/relationships" id="276" r:id="R7ad4ebbc636a4d18"/>
    <p:sldId xmlns:r="http://schemas.openxmlformats.org/officeDocument/2006/relationships" id="277" r:id="Rf461a068500241fa"/>
    <p:sldId xmlns:r="http://schemas.openxmlformats.org/officeDocument/2006/relationships" id="278" r:id="R216068f3c73540b7"/>
    <p:sldId xmlns:r="http://schemas.openxmlformats.org/officeDocument/2006/relationships" id="279" r:id="Ra1009a27fb4a47b0"/>
    <p:sldId xmlns:r="http://schemas.openxmlformats.org/officeDocument/2006/relationships" id="280" r:id="Rb49096a4d3094ac5"/>
    <p:sldId xmlns:r="http://schemas.openxmlformats.org/officeDocument/2006/relationships" id="281" r:id="R236ee098806b4d97"/>
    <p:sldId xmlns:r="http://schemas.openxmlformats.org/officeDocument/2006/relationships" id="282" r:id="R1df3cc80838d470f"/>
    <p:sldId xmlns:r="http://schemas.openxmlformats.org/officeDocument/2006/relationships" id="283" r:id="R048d8bd491e84783"/>
    <p:sldId xmlns:r="http://schemas.openxmlformats.org/officeDocument/2006/relationships" id="284" r:id="R685cfff4c62f4376"/>
    <p:sldId xmlns:r="http://schemas.openxmlformats.org/officeDocument/2006/relationships" id="285" r:id="R940a937271544f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2a025cae53434b" /><Relationship Type="http://schemas.openxmlformats.org/officeDocument/2006/relationships/slideMaster" Target="/ppt/slideMasters/slideMaster1.xml" Id="Rc3c46d76859444b1" /><Relationship Type="http://schemas.openxmlformats.org/officeDocument/2006/relationships/notesMaster" Target="/ppt/notesMasters/notesMaster1.xml" Id="R1ee998cd76974b2c" /><Relationship Type="http://schemas.openxmlformats.org/officeDocument/2006/relationships/presProps" Target="/ppt/presProps.xml" Id="Rc6e59602135548f1" /><Relationship Type="http://schemas.openxmlformats.org/officeDocument/2006/relationships/tableStyles" Target="/ppt/tableStyles.xml" Id="R9a687f8565f7405d" /><Relationship Type="http://schemas.openxmlformats.org/officeDocument/2006/relationships/slide" Target="/ppt/slides/slide1.xml" Id="Rbfd141fe0d1d4f46" /><Relationship Type="http://schemas.openxmlformats.org/officeDocument/2006/relationships/slide" Target="/ppt/slides/slide2.xml" Id="R2c16b3addde24c1a" /><Relationship Type="http://schemas.openxmlformats.org/officeDocument/2006/relationships/slide" Target="/ppt/slides/slide3.xml" Id="R055afa1d4ea04b34" /><Relationship Type="http://schemas.openxmlformats.org/officeDocument/2006/relationships/slide" Target="/ppt/slides/slide4.xml" Id="Rc829448f648c46a4" /><Relationship Type="http://schemas.openxmlformats.org/officeDocument/2006/relationships/slide" Target="/ppt/slides/slide5.xml" Id="R741368db8cb743f9" /><Relationship Type="http://schemas.openxmlformats.org/officeDocument/2006/relationships/slide" Target="/ppt/slides/slide6.xml" Id="Rcdca7f438dee44d4" /><Relationship Type="http://schemas.openxmlformats.org/officeDocument/2006/relationships/slide" Target="/ppt/slides/slide7.xml" Id="Rc13b9a3f4d074ada" /><Relationship Type="http://schemas.openxmlformats.org/officeDocument/2006/relationships/slide" Target="/ppt/slides/slide8.xml" Id="R71fa8997f82a4ab3" /><Relationship Type="http://schemas.openxmlformats.org/officeDocument/2006/relationships/slide" Target="/ppt/slides/slide9.xml" Id="R6e22b2c18f9744a2" /><Relationship Type="http://schemas.openxmlformats.org/officeDocument/2006/relationships/slide" Target="/ppt/slides/slide10.xml" Id="Rd6c964e9d9c84c95" /><Relationship Type="http://schemas.openxmlformats.org/officeDocument/2006/relationships/slide" Target="/ppt/slides/slide11.xml" Id="R87430cc34c494fd0" /><Relationship Type="http://schemas.openxmlformats.org/officeDocument/2006/relationships/slide" Target="/ppt/slides/slide12.xml" Id="Rc7b0a2c7a67c4d56" /><Relationship Type="http://schemas.openxmlformats.org/officeDocument/2006/relationships/slide" Target="/ppt/slides/slide13.xml" Id="Rc785bcaeebfc4a5a" /><Relationship Type="http://schemas.openxmlformats.org/officeDocument/2006/relationships/slide" Target="/ppt/slides/slide14.xml" Id="Rb0aec5a8e11840d6" /><Relationship Type="http://schemas.openxmlformats.org/officeDocument/2006/relationships/slide" Target="/ppt/slides/slide15.xml" Id="Ra95a17e7f93c44ac" /><Relationship Type="http://schemas.openxmlformats.org/officeDocument/2006/relationships/slide" Target="/ppt/slides/slide16.xml" Id="Re319fc826f48431e" /><Relationship Type="http://schemas.openxmlformats.org/officeDocument/2006/relationships/slide" Target="/ppt/slides/slide17.xml" Id="Re9bb7e08a67f46b9" /><Relationship Type="http://schemas.openxmlformats.org/officeDocument/2006/relationships/slide" Target="/ppt/slides/slide18.xml" Id="Ra7a9a8ff52064438" /><Relationship Type="http://schemas.openxmlformats.org/officeDocument/2006/relationships/slide" Target="/ppt/slides/slide19.xml" Id="R45d1d68a9cad4015" /><Relationship Type="http://schemas.openxmlformats.org/officeDocument/2006/relationships/slide" Target="/ppt/slides/slide20.xml" Id="R75af6a8bd81e43a4" /><Relationship Type="http://schemas.openxmlformats.org/officeDocument/2006/relationships/slide" Target="/ppt/slides/slide21.xml" Id="R7ad4ebbc636a4d18" /><Relationship Type="http://schemas.openxmlformats.org/officeDocument/2006/relationships/slide" Target="/ppt/slides/slide22.xml" Id="Rf461a068500241fa" /><Relationship Type="http://schemas.openxmlformats.org/officeDocument/2006/relationships/slide" Target="/ppt/slides/slide23.xml" Id="R216068f3c73540b7" /><Relationship Type="http://schemas.openxmlformats.org/officeDocument/2006/relationships/slide" Target="/ppt/slides/slide24.xml" Id="Ra1009a27fb4a47b0" /><Relationship Type="http://schemas.openxmlformats.org/officeDocument/2006/relationships/slide" Target="/ppt/slides/slide25.xml" Id="Rb49096a4d3094ac5" /><Relationship Type="http://schemas.openxmlformats.org/officeDocument/2006/relationships/slide" Target="/ppt/slides/slide26.xml" Id="R236ee098806b4d97" /><Relationship Type="http://schemas.openxmlformats.org/officeDocument/2006/relationships/slide" Target="/ppt/slides/slide27.xml" Id="R1df3cc80838d470f" /><Relationship Type="http://schemas.openxmlformats.org/officeDocument/2006/relationships/slide" Target="/ppt/slides/slide28.xml" Id="R048d8bd491e84783" /><Relationship Type="http://schemas.openxmlformats.org/officeDocument/2006/relationships/slide" Target="/ppt/slides/slide29.xml" Id="R685cfff4c62f4376" /><Relationship Type="http://schemas.openxmlformats.org/officeDocument/2006/relationships/slide" Target="/ppt/slides/slide30.xml" Id="R940a937271544f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f556d405614e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485ee649f949c6" /><Relationship Type="http://schemas.openxmlformats.org/officeDocument/2006/relationships/notesMaster" Target="/ppt/notesMasters/notesMaster1.xml" Id="Rc14bc660770043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d21adb1b0d4586" /><Relationship Type="http://schemas.openxmlformats.org/officeDocument/2006/relationships/notesMaster" Target="/ppt/notesMasters/notesMaster1.xml" Id="Raf91bab884cb4f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6ccb349cbc4ada" /><Relationship Type="http://schemas.openxmlformats.org/officeDocument/2006/relationships/notesMaster" Target="/ppt/notesMasters/notesMaster1.xml" Id="R1cd3765f97144f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3e01e13f4249cc" /><Relationship Type="http://schemas.openxmlformats.org/officeDocument/2006/relationships/notesMaster" Target="/ppt/notesMasters/notesMaster1.xml" Id="Ra7be8fb9d25046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f2e8de9c574629" /><Relationship Type="http://schemas.openxmlformats.org/officeDocument/2006/relationships/notesMaster" Target="/ppt/notesMasters/notesMaster1.xml" Id="R95ba2a4cb83542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00f24110a54e3f" /><Relationship Type="http://schemas.openxmlformats.org/officeDocument/2006/relationships/notesMaster" Target="/ppt/notesMasters/notesMaster1.xml" Id="Rd4cd8602065144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b0110bed584b47" /><Relationship Type="http://schemas.openxmlformats.org/officeDocument/2006/relationships/notesMaster" Target="/ppt/notesMasters/notesMaster1.xml" Id="R0308dd9237f849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2dff0855da46a6" /><Relationship Type="http://schemas.openxmlformats.org/officeDocument/2006/relationships/notesMaster" Target="/ppt/notesMasters/notesMaster1.xml" Id="R73b6fe21a60f4a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8e726515824b2a" /><Relationship Type="http://schemas.openxmlformats.org/officeDocument/2006/relationships/notesMaster" Target="/ppt/notesMasters/notesMaster1.xml" Id="R3c80784298f94c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edbdadc8c24d2c" /><Relationship Type="http://schemas.openxmlformats.org/officeDocument/2006/relationships/notesMaster" Target="/ppt/notesMasters/notesMaster1.xml" Id="R5ea93a08bba540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9b3454da8b44dd" /><Relationship Type="http://schemas.openxmlformats.org/officeDocument/2006/relationships/notesMaster" Target="/ppt/notesMasters/notesMaster1.xml" Id="R1d068182e71a4e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b93f72ce2c4b38" /><Relationship Type="http://schemas.openxmlformats.org/officeDocument/2006/relationships/notesMaster" Target="/ppt/notesMasters/notesMaster1.xml" Id="Rad4a50f2e41c46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8d67fe642f413b" /><Relationship Type="http://schemas.openxmlformats.org/officeDocument/2006/relationships/notesMaster" Target="/ppt/notesMasters/notesMaster1.xml" Id="R52418283c99941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74dadc08e74447" /><Relationship Type="http://schemas.openxmlformats.org/officeDocument/2006/relationships/notesMaster" Target="/ppt/notesMasters/notesMaster1.xml" Id="Ra6a206d2d63d4b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d867eee93b4747" /><Relationship Type="http://schemas.openxmlformats.org/officeDocument/2006/relationships/notesMaster" Target="/ppt/notesMasters/notesMaster1.xml" Id="R4d1f0be9b19a45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e27f67b5ca4c57" /><Relationship Type="http://schemas.openxmlformats.org/officeDocument/2006/relationships/notesMaster" Target="/ppt/notesMasters/notesMaster1.xml" Id="R537a220be8244c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77dc19eb054dc8" /><Relationship Type="http://schemas.openxmlformats.org/officeDocument/2006/relationships/notesMaster" Target="/ppt/notesMasters/notesMaster1.xml" Id="R256f9b27a72543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b95d83c536450e" /><Relationship Type="http://schemas.openxmlformats.org/officeDocument/2006/relationships/notesMaster" Target="/ppt/notesMasters/notesMaster1.xml" Id="R94e4552e7b254f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8fb48e35514daf" /><Relationship Type="http://schemas.openxmlformats.org/officeDocument/2006/relationships/notesMaster" Target="/ppt/notesMasters/notesMaster1.xml" Id="Rc01c1d7b92d44c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d15b0e8f380433a" /><Relationship Type="http://schemas.openxmlformats.org/officeDocument/2006/relationships/notesMaster" Target="/ppt/notesMasters/notesMaster1.xml" Id="R425611cd8c4541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9eb1e1b13d43cc" /><Relationship Type="http://schemas.openxmlformats.org/officeDocument/2006/relationships/notesMaster" Target="/ppt/notesMasters/notesMaster1.xml" Id="R689b151b6ccd4b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9cebffe26e4ae1" /><Relationship Type="http://schemas.openxmlformats.org/officeDocument/2006/relationships/notesMaster" Target="/ppt/notesMasters/notesMaster1.xml" Id="Rc82a772aa988443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f1587e6f4794aeb" /><Relationship Type="http://schemas.openxmlformats.org/officeDocument/2006/relationships/notesMaster" Target="/ppt/notesMasters/notesMaster1.xml" Id="Rb0a1875f5fc741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1fb4e545ee43f5" /><Relationship Type="http://schemas.openxmlformats.org/officeDocument/2006/relationships/notesMaster" Target="/ppt/notesMasters/notesMaster1.xml" Id="R85478bd9d6c640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6a61de4beeb4e03" /><Relationship Type="http://schemas.openxmlformats.org/officeDocument/2006/relationships/notesMaster" Target="/ppt/notesMasters/notesMaster1.xml" Id="R034e2fa1633044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541340c3c7420c" /><Relationship Type="http://schemas.openxmlformats.org/officeDocument/2006/relationships/notesMaster" Target="/ppt/notesMasters/notesMaster1.xml" Id="Ra78664a40b1a47b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65b771a8544450" /><Relationship Type="http://schemas.openxmlformats.org/officeDocument/2006/relationships/notesMaster" Target="/ppt/notesMasters/notesMaster1.xml" Id="R15782263caeb460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b2226902db84add" /><Relationship Type="http://schemas.openxmlformats.org/officeDocument/2006/relationships/notesMaster" Target="/ppt/notesMasters/notesMaster1.xml" Id="Redaa0399dae543d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48f33507c543d3" /><Relationship Type="http://schemas.openxmlformats.org/officeDocument/2006/relationships/notesMaster" Target="/ppt/notesMasters/notesMaster1.xml" Id="R45e334c5c52349b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130f04b53d946e2" /><Relationship Type="http://schemas.openxmlformats.org/officeDocument/2006/relationships/notesMaster" Target="/ppt/notesMasters/notesMaster1.xml" Id="Rdd1def6aeb1042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图片：docs/presentation_build/assets/home.png，2026-10-12既有项目界面截图，仅展示产品形态，非最新控件验收。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/Users/yinzh/PycharmProjects/EPUB_to_Audio_Converter-1/docs/论文创新点与实现方案.md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S 表示本章原文。source_span 使用半开区间 [start,end)。严格来源校验要求切片内容与分段完全一致、区间连续且覆盖全章。角色归属的引文同样需要切片验证。该机制保证结构与引文可追溯，不能保证模型对说话人语义判断必然正确。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每个声音至少具有两条共同探针，先核验合成结果再允许进入声音库。对相同文本分别比较两种声音的声纹向量，计算余弦距离。跨文本汇总采用均值减0.25倍标准差，并截断为非负值。常数为当前实现值，不代表最优超参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w_ij 是角色 i、j 连续对话切换次数，旁白或至少1.5秒停顿会断开链条。f(i) 是分配的声音，P 是人工审查的角色适配惩罚，M 是相对初始分配的换声数。目标函数系数0.25、0.1、0.05是代码当前配置。完整候选空间不超过4096时精确枚举，否则按加权度贪心并最多20轮局部改配或交换。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/Users/yinzh/PycharmProjects/EPUB_to_Audio_Converter-1/docs/MiMo参考音克隆接入与验收.md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/Users/yinzh/PycharmProjects/EPUB_to_Audio_Converter-1/audiobook_generator/tts_providers/mimo_voice.py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QualityEvaluator.evaluate_chunk 分别产生 signal、content、consistency 维度。evaluate_boundary 对每组相邻片段产生 stitching、content 维度。正式管线先检查各块，再为相邻两块组装完整窗口并转写检查。三类输入以 ReadingChunk.tts_text、role_id、音频路径和角色 anchor 为准，不拿未经处理的书籍排版文本直接比对。不得把文本一致、能解码、人物一致或主观自然度合并成一个未经验证的“正确率”。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转写路径：QualityEvaluator.transcript → SenseVoiceBackend.__call__ → voxcpm_asr.transcribe_audio。FunASR AutoModel.generate(input=..., language="auto", use_itn=True)，从 result[0]["text"].split("|&gt;")[-1] 获取正文。核心后端要求已配置的本地模型目录，固定 CPU，模型版本纳入缓存指纹，不隐式下载。comparison_details 先做 Unicode NFKC、弯撇号转直撇号、normalize_reading_text、显式词典与内置数值等价，再按语言分词。英文 comparison_reading 仅支持有边界的数值/日期等价，模糊编号和缩略词不任意展开。中文按规范化后的字符比较，混合语言使用 mixed_token 并单独记录指标。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/Users/yinzh/PycharmProjects/EPUB_to_Audio_Converter-1/audiobook_generator/audio_core/backends.py</a:t>
            </a:r>
          </a:p>
          <a:p xmlns:a="http://schemas.openxmlformats.org/drawingml/2006/main">
            <a:r>
              <a:t>/Users/yinzh/PycharmProjects/EPUB_to_Audio_Converter-1/audiobook_generator/utils/voxcpm_asr.py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align_text 使用 Levenshtein 动态规划。D(i,j) 表示参考前 i 个单位与识别前 j 个单位的最小改动数。边界 D(i,0)=i，D(0,j)=j。先填表，再从右下角回溯得到 replace/delete/insert，保存 reference_index、hypothesis_index 和具体文本。中文指标 CER，英文 WER，混合文本 mixed_token_error_rate。error_rate=dist/max(1,len(reference_tokens))，多读很多时可以超过 100%，不能把 1-error_rate 直接称为音频正确率。索引定位到规范化后的字词，不等于毫秒级声学时间戳。只要出现任意差异，content 仍为 incomplete 并写 asr_mismatch，不是凭一个百分比阈值确认缺陷。本页中文例子为算法示意，不是项目实测音频。R034 的真实接受与误报裁决见 v49：要求精确 verified_tts_text、整块内容完整、无增读及音频/报告/告警指纹绑定，不能用一小段试听消除整块提示。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/Users/yinzh/PycharmProjects/EPUB_to_Audio_Converter-1/audiobook_generator/audio_core/quality_review.py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/Users/yinzh/PycharmProjects/EPUB_to_Audio_Converter-1/docs/validation/audio_core_20261017/asr_adjudication_actual_v49.json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SpeakerEncoder 使用本地 SpeechBrain ECAPA EncoderClassifier，模型权重齐全才允许运行，CPU 推理。mono_resampled 将声道取均值并用 scipy.signal.resample_poly 抗混叠重采样到 16 kHz。有效语音近似为 RMS≥0.003 的 20 ms 帧，min(总时长,有效帧时长)须≥3 s。模型输出扁平向量并 L2 归一化，QualityEvaluator.embedding 再验证有限数值、非空且范数&gt;0。distance=1−dot(e_current,e_anchor)，&gt;0.35 只触发 speaker_drift，speaker_threshold_kind=uncalibrated。consistency 不会因距离小而自动 passed。参考音优先采用有效固定配置，自动 bootstrap 参考只适用于非 design/clone、无问题且内容通过的片段；这是程序可用参考，不等于人已确认身份。比较时校验参考音 SHA256 与记录绑定，文件发生变化即拒绝沿用依据。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/Users/yinzh/PycharmProjects/EPUB_to_Audio_Converter-1/audiobook_generator/audio_core/backends.py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signal_features 的 frame_rms 默认帧宽20 ms，RMS≥0.003 估计有效发声，active=min(duration,active_seconds)。可选 SileroVAD 使用随包 ONNX 模型、16 kHz 输入与 get_speech_timestamps，默认 enable_vad=False，失败则沿用轻量估计。reading_count 用规范化参考计数，并非实测逐词时间戳。count≥5、总时长≥1 s、语言为en/zh且没有已发现的内容差异才使用语速规则。英文阈值 max_english_wpm/60，默认300词/分；中文max_rate默认4.3字/秒。abs(log(rate/reference_rate))&gt;log(1.3)，等价于ratio&gt;1.3或ratio&lt;1/1.3，绝非对称±30%。当前或参考文本对齐异常、单位不同时不做相对语速判断。pitch_summary 将音频重采样到8 kHz，320点窗口、160点步长，去均值并加Hann窗，对RMS≥0.01的帧自相关，候选lag16..133且归一化峰相关≥0.55才纳入。取中位基频和四分位距。shift=12log2(f_current/f_reference)，|shift|&gt;6且双方 voiced_frames≥50才触发pitch_drift。这是轻量估计和未校准启发式提示，不是训练过的情绪或错误发音分类器。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/Users/yinzh/PycharmProjects/EPUB_to_Audio_Converter-1/audiobook_generator/audio_core/backends.py</a:t>
            </a:r>
          </a:p>
          <a:p xmlns:a="http://schemas.openxmlformats.org/drawingml/2006/main">
            <a:r>
              <a:t>/Users/yinzh/PycharmProjects/EPUB_to_Audio_Converter-1/audiobook_generator/audio_core/models.py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boundary_features 默认 window_seconds=2.0。左右短窗口先单声道16 kHz，边缘20 ms即320点算RMS，rms_jump_db=|20log10(RMS_left/RMS_right)|。边缘各512点FFT幅度谱作L2归一化，计算欧氏距离。tail/head由完整片段的连续边缘20 ms低能量帧（RMS&lt;0.003）计数，保守估计静音。added_pause=planned−tail−head，若&gt;0，sample_jump=max(|left_last|,|right_first|)，否则=|left_last−right_first|。九个特征包括样本跳变、RMS分贝差、谱距离、左右发声标记、左右静音、计划停顿、是否同角色。默认 heuristic_labels 只产生疑似click和过长gap，两条规则如页面所列，并不直接确认cutoff或overlap。可选 boundary-logistic-v1 将9项标准化，四个独立sigmoid头预测click/cutoff/overlap/gap，训练集拟合、独立dev选阈值（先限制dev误报≤5%再最大化召回），同源变体不得跨split。真实独立评估未完成，因此即使预测完成，stitching维度也保持incomplete。完整两句ASR输入是assembled_window，与两个完整tts_text拼接比较，不是只拿各2秒。J076真实v46移除已确认静音中央1.04秒，停顿2.04→1.00秒，原语音保留，v47用户确认三处修复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/Users/yinzh/PycharmProjects/EPUB_to_Audio_Converter-1/audiobook_generator/audio_core/boundary_model.py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signal_features 解码为float32 always_2d，样本需有限且采样率有效。peak=max(abs(samples))，clipped_fraction=mean(abs(samples)&gt;=0.999)，阈值&gt;0.002。evaluate_chunk 对 samples==0、peak&lt;0.003、clipped_fraction&gt;0.002 分别生成 empty_audio/too_quiet/clipping，certainty=confirmed、severity=error、signal=failed。这里的“确认”是程序对信号阈值事实的确认，不能外推为人工自然度结论。QualityReport.status 精确逻辑：存在confirmed error则failed；否则有任意issues或任意dimension=incomplete则incomplete；否则passed。speaker未校准或缺模型、stitching未验收时不会因为没越阈值而自动passed。SHA256绑定音频，ASR缓存键同时含音频SHA、模型fingerprint和处理版本；检查前后校验文件和模型未变，避免拿旧缓存或旧人工结论套到新版本。人审结论需精确绑定报告、音频、告警及所听上下文，机器原始依据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/Users/yinzh/PycharmProjects/EPUB_to_Audio_Converter-1/audiobook_generator/audio_core/models.py</a:t>
            </a:r>
          </a:p>
          <a:p xmlns:a="http://schemas.openxmlformats.org/drawingml/2006/main">
            <a:r>
              <a:t>/Users/yinzh/PycharmProjects/EPUB_to_Audio_Converter-1/audiobook_generator/audio_core/quality_review.py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ArtifactStore使用SQLite。reserve在BEGIN IMMEDIATE事务内读取本次run的全部请求记录并检查次数、追加字符与已用时间，再插入running记录。失败与未完成记录也计入消耗，settle只更新状态。时间上限是请求发起前及修复前的检查，不宣称是操作系统级实时硬截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/Users/yinzh/PycharmProjects/EPUB_to_Audio_Converter-1/audiobook_generator/audio_core/repair.py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对应pipeline.preserves_checks与attempt_repair。复检范围是目标分块和左右相邻接缝。候选不能新增已确认严重错误，原passed维度仍须passed，已有内容对齐误差不能增加。随后对本块与边界报告的rank各分量求和，按Python元组字典序比较，只有严格改善才采用。重分块候选还必须通过内部接缝的内容与信号检查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/Users/yinzh/PycharmProjects/EPUB_to_Audio_Converter-1/audiobook_generator/audio_core/tail_repeat.py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/Users/yinzh/PycharmProjects/EPUB_to_Audio_Converter-1/audiobook_generator/audio_core/review_queue.py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/Users/yinzh/PycharmProjects/EPUB_to_Audio_Converter-1/docs/validation/webui_spawn_workflow_20261017/README.md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74fc02bdf46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87f95772341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93fe1c3aa4f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aa7bfbe454e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d547fbd504c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479ce8ac343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051D5A-C154-4A1B-80CB-44467202B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34F89C-1E0C-436D-9F15-ED624DB91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04783A-E445-4D83-875E-59A0DDACA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743FD-0021-469A-A1E6-4CF541D83E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991709-074D-4258-8BDA-E9CE2EA37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E86B0B-F572-435B-9E69-FC72F9316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779511-7F2D-4CA9-8FEE-36A5DADB9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8A53BE-8BEC-48D3-B083-2507CAB2AE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FC57A-FBE1-428B-9F6B-8E47CFA76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815CE8-FA01-4762-9850-D4E0CD00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245c7c762746f4" /><Relationship Type="http://schemas.openxmlformats.org/officeDocument/2006/relationships/slideLayout" Target="/ppt/slideLayouts/slideLayout1.xml" Id="R2f5cfc6976a34bbc" /><Relationship Type="http://schemas.openxmlformats.org/officeDocument/2006/relationships/slideLayout" Target="/ppt/slideLayouts/slideLayout2.xml" Id="R2b387cbc79e543ad" /><Relationship Type="http://schemas.openxmlformats.org/officeDocument/2006/relationships/slideLayout" Target="/ppt/slideLayouts/slideLayout3.xml" Id="Rf9971511a62c49ba" /><Relationship Type="http://schemas.openxmlformats.org/officeDocument/2006/relationships/slideLayout" Target="/ppt/slideLayouts/slideLayout4.xml" Id="Red3598b69ea24cfa" /><Relationship Type="http://schemas.openxmlformats.org/officeDocument/2006/relationships/slideLayout" Target="/ppt/slideLayouts/slideLayout5.xml" Id="R1bff8f1cb2114398" /><Relationship Type="http://schemas.openxmlformats.org/officeDocument/2006/relationships/slideLayout" Target="/ppt/slideLayouts/slideLayout6.xml" Id="Rd099e2d9d4c640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5cfc6976a34bbc"/>
    <p:sldLayoutId xmlns:r="http://schemas.openxmlformats.org/officeDocument/2006/relationships" id="2147483650" r:id="R2b387cbc79e543ad"/>
    <p:sldLayoutId xmlns:r="http://schemas.openxmlformats.org/officeDocument/2006/relationships" id="2147483651" r:id="Rf9971511a62c49ba"/>
    <p:sldLayoutId xmlns:r="http://schemas.openxmlformats.org/officeDocument/2006/relationships" id="2147483652" r:id="Red3598b69ea24cfa"/>
    <p:sldLayoutId xmlns:r="http://schemas.openxmlformats.org/officeDocument/2006/relationships" id="2147483653" r:id="R1bff8f1cb2114398"/>
    <p:sldLayoutId xmlns:r="http://schemas.openxmlformats.org/officeDocument/2006/relationships" id="2147483654" r:id="Rd099e2d9d4c640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2147442a54e26" /><Relationship Type="http://schemas.openxmlformats.org/officeDocument/2006/relationships/notesSlide" Target="/ppt/notesSlides/notesSlide1.xml" Id="R1cf411ac05a54f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f8d98b532475a" /><Relationship Type="http://schemas.openxmlformats.org/officeDocument/2006/relationships/image" Target="/ppt/media/image.jpeg" Id="R6d9b5014889142d7" /><Relationship Type="http://schemas.openxmlformats.org/officeDocument/2006/relationships/notesSlide" Target="/ppt/notesSlides/notesSlide2.xml" Id="Rd03ad50494834f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dac1b90874259" /><Relationship Type="http://schemas.openxmlformats.org/officeDocument/2006/relationships/notesSlide" Target="/ppt/notesSlides/notesSlide3.xml" Id="R8e20f19307194a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6cbf4473ce4bac" /><Relationship Type="http://schemas.openxmlformats.org/officeDocument/2006/relationships/notesSlide" Target="/ppt/notesSlides/notesSlide4.xml" Id="R3cdde5e96f1841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79fe3ed13c4fce" /><Relationship Type="http://schemas.openxmlformats.org/officeDocument/2006/relationships/notesSlide" Target="/ppt/notesSlides/notesSlide5.xml" Id="Rca7fde60181044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82fe98caa413b" /><Relationship Type="http://schemas.openxmlformats.org/officeDocument/2006/relationships/notesSlide" Target="/ppt/notesSlides/notesSlide6.xml" Id="Rd2283033e853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dd19e3f734fe9" /><Relationship Type="http://schemas.openxmlformats.org/officeDocument/2006/relationships/notesSlide" Target="/ppt/notesSlides/notesSlide7.xml" Id="R200e7264173548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6f5ec85d44742" /><Relationship Type="http://schemas.openxmlformats.org/officeDocument/2006/relationships/notesSlide" Target="/ppt/notesSlides/notesSlide8.xml" Id="R6404757c21f240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f74213c87410b" /><Relationship Type="http://schemas.openxmlformats.org/officeDocument/2006/relationships/notesSlide" Target="/ppt/notesSlides/notesSlide9.xml" Id="Rabe4f007dd0d4a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46dc5507b4c76" /><Relationship Type="http://schemas.openxmlformats.org/officeDocument/2006/relationships/notesSlide" Target="/ppt/notesSlides/notesSlide10.xml" Id="R21cf0d6ed52645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89ea250874053" /><Relationship Type="http://schemas.openxmlformats.org/officeDocument/2006/relationships/notesSlide" Target="/ppt/notesSlides/notesSlide11.xml" Id="R092b5019d5a143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baf5b65e3b4cb5" /><Relationship Type="http://schemas.openxmlformats.org/officeDocument/2006/relationships/notesSlide" Target="/ppt/notesSlides/notesSlide12.xml" Id="R54aae9d976304a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37cb1f03e4717" /><Relationship Type="http://schemas.openxmlformats.org/officeDocument/2006/relationships/notesSlide" Target="/ppt/notesSlides/notesSlide13.xml" Id="Rbf33ef2a2eee47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ff3ed918d436c" /><Relationship Type="http://schemas.openxmlformats.org/officeDocument/2006/relationships/notesSlide" Target="/ppt/notesSlides/notesSlide14.xml" Id="R06ec5ee1d21647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4b6fd92e7465a" /><Relationship Type="http://schemas.openxmlformats.org/officeDocument/2006/relationships/notesSlide" Target="/ppt/notesSlides/notesSlide15.xml" Id="R6fe0862dd29b40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3f7c1845940ff" /><Relationship Type="http://schemas.openxmlformats.org/officeDocument/2006/relationships/notesSlide" Target="/ppt/notesSlides/notesSlide16.xml" Id="R5d3019055b1e45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3433641c94d5d" /><Relationship Type="http://schemas.openxmlformats.org/officeDocument/2006/relationships/notesSlide" Target="/ppt/notesSlides/notesSlide17.xml" Id="Rb5796ec343f94c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b19077bd84e31" /><Relationship Type="http://schemas.openxmlformats.org/officeDocument/2006/relationships/notesSlide" Target="/ppt/notesSlides/notesSlide18.xml" Id="R08d496cdc41e472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313cf7338471b" /><Relationship Type="http://schemas.openxmlformats.org/officeDocument/2006/relationships/notesSlide" Target="/ppt/notesSlides/notesSlide19.xml" Id="R6886a22022b347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a07ac98204171" /><Relationship Type="http://schemas.openxmlformats.org/officeDocument/2006/relationships/notesSlide" Target="/ppt/notesSlides/notesSlide20.xml" Id="R94f759b13fae42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e078c79d24ff7" /><Relationship Type="http://schemas.openxmlformats.org/officeDocument/2006/relationships/notesSlide" Target="/ppt/notesSlides/notesSlide21.xml" Id="Rcc52b5280b0345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eba453ae040b6" /><Relationship Type="http://schemas.openxmlformats.org/officeDocument/2006/relationships/notesSlide" Target="/ppt/notesSlides/notesSlide22.xml" Id="Rc3b0311607dc45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ea0fdb97144606" /><Relationship Type="http://schemas.openxmlformats.org/officeDocument/2006/relationships/notesSlide" Target="/ppt/notesSlides/notesSlide23.xml" Id="R51506d651a614a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2ad3c5ad843e7" /><Relationship Type="http://schemas.openxmlformats.org/officeDocument/2006/relationships/notesSlide" Target="/ppt/notesSlides/notesSlide24.xml" Id="R58cdd56915884bd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765c08f5e4ce8" /><Relationship Type="http://schemas.openxmlformats.org/officeDocument/2006/relationships/notesSlide" Target="/ppt/notesSlides/notesSlide25.xml" Id="R1edac24b599543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f23c81eb34908" /><Relationship Type="http://schemas.openxmlformats.org/officeDocument/2006/relationships/notesSlide" Target="/ppt/notesSlides/notesSlide26.xml" Id="R1990ab0d97bf4f7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24e2916f440c8" /><Relationship Type="http://schemas.openxmlformats.org/officeDocument/2006/relationships/notesSlide" Target="/ppt/notesSlides/notesSlide27.xml" Id="R15cc961b1ea74e3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7457949c64b51" /><Relationship Type="http://schemas.openxmlformats.org/officeDocument/2006/relationships/notesSlide" Target="/ppt/notesSlides/notesSlide28.xml" Id="Re8304a599e924fa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65fd8972e84f2d" /><Relationship Type="http://schemas.openxmlformats.org/officeDocument/2006/relationships/notesSlide" Target="/ppt/notesSlides/notesSlide29.xml" Id="R7ad90ba8fc96466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e92842974414d" /><Relationship Type="http://schemas.openxmlformats.org/officeDocument/2006/relationships/notesSlide" Target="/ppt/notesSlides/notesSlide30.xml" Id="R461cfd6cb59a49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DBFC4-DE55-4C0A-85D2-ADECBC0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把电子书变成多角色有声书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A2C1D-B8DE-4411-8052-8EDA2E3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FA7B5-05A3-4BEE-8118-0196FA64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我们做了什么，怎样做成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F04C8-3606-487A-B0C3-D1A5D24F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给不同人物安排声音</a:t>
            </a:r>
          </a:p>
          <a:p xmlns:a="http://schemas.openxmlformats.org/drawingml/2006/main">
            <a: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找出读错的地方，尽量只修有问题的部分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9D15B-CF15-42D1-B23B-775C088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项目进展与改进思路    2026 年 10 月 18 日</a:t>
            </a:r>
          </a:p>
        </p:txBody>
      </p:sp>
    </p:spTree>
    <p:extLst>
      <p:ext uri="{BB962C8B-B14F-4D97-AF65-F5344CB8AC3E}">
        <p14:creationId xmlns:p14="http://schemas.microsoft.com/office/powerpoint/2010/main" val="1258712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04C2C-64E7-4593-B938-E46B13CAA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b5014889142d7"/>
          <a:stretch xmlns:a="http://schemas.openxmlformats.org/drawingml/2006/main"/>
        </p:blipFill>
        <p:spPr>
          <a:xfrm xmlns:a="http://schemas.openxmlformats.org/drawingml/2006/main">
            <a:off x="609600" y="1691271"/>
            <a:ext cx="6953250" cy="39136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DFAB1-72E5-4111-9D1F-F22C3C12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这个项目能帮我们做什么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C9C6B-19B8-4132-85C6-2B2699AF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C4826-CFDA-4739-ABE8-CE0B798A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把书读成有声书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0F9AF-98F2-45EA-B36A-F8F5B711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1932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上传电子书、选择章节，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让旁白和不同人物分别朗读。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B4920-4058-49FA-AF29-52B21F15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读错一小段，就修这一段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A5968-B3CF-4192-804A-64D17B19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8147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找到多读、漏读或停顿过长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的位置，尽量少重做整章。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BCF73-9E8B-46F0-B263-E0F7A5A6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左图是 10 月 12 日的实际界面，后续新增功能用流程图说明</a:t>
            </a:r>
          </a:p>
        </p:txBody>
      </p:sp>
    </p:spTree>
    <p:extLst>
      <p:ext uri="{BB962C8B-B14F-4D97-AF65-F5344CB8AC3E}">
        <p14:creationId xmlns:p14="http://schemas.microsoft.com/office/powerpoint/2010/main" val="154560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1E133-C373-43A9-8C41-47351012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目前已经做成了哪些功能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DAD03-1AA5-4D97-AB5D-2007DE3A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9A4C0-BBE1-4A3D-B9F5-5A4BE9763E1C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429250"/>
                <a:gridCol w="382905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制作步骤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已经能做什么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目前的情况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读入书籍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提取章节，整理人物和人物别名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支持中英文，允许人工修改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安排声音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选现成声音、用文字描述、模仿参考音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已选好的声音可以锁定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生成音频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逐段生成，保存结果，按顺序拼起来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新的整套流程目前接入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检查与修正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找读错、长停顿、换声等疑点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已完成部分实际问题的修正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网页操作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选章节、确认配置、查看和下载结果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后台流程已做测试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83FED-B89D-45A0-9167-3215CDC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原来的转换器仍支持多种语音服务，本轮重点做好 MiMo 的整套制作流程</a:t>
            </a:r>
          </a:p>
        </p:txBody>
      </p:sp>
    </p:spTree>
    <p:extLst>
      <p:ext uri="{BB962C8B-B14F-4D97-AF65-F5344CB8AC3E}">
        <p14:creationId xmlns:p14="http://schemas.microsoft.com/office/powerpoint/2010/main" val="64362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51689-CFE6-4057-A883-B0AFAFC3E1B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868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3400E-BBB7-42EF-A4E6-EFF6591109D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12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CC1B9-9B9E-48FC-B804-3E6842D78D7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956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7E0EC-D991-4160-9663-6C170A18B6F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52600" y="40481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C5013-B2DF-464A-8EF7-F73DC9255735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8956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B65AD-1C5A-4715-8064-D395797C7C40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7912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54EB1-C7B8-4444-99D0-2446509A067C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6868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FAE0A8-2A73-401F-B2CE-99B0A3223A8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439400" y="26479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DDE14-7C77-4EBA-A24C-A07333FB38E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868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9BC37-F752-44E1-B040-97514DE7E64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912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2C4B9-43BD-4B9B-AEC6-09884ADDDE4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956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205E3-DB26-41E7-88EE-D41361E8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从上传书籍到下载音频，具体怎么走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7718B-EF1C-47BE-912C-26BBE48A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06979-7926-4FF4-8743-0920ADC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 上传书籍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选择要朗读的章节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9759C-23CB-48B3-B1F5-8A9ABE43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2 找出说话的人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谁在讲故事或说话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E80DC-CA51-4269-8009-4020CC2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3 对照书中原文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核对是否漏字、改字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54BA5-BBEF-40D1-B085-FA389E93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4 选声音并确认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试听声音，设置语速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9DC2E-AE94-4CF8-A197-76BED6C8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5 整理实际读法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处理数字、缩写读法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D4B65-4469-4FE5-B424-086DFE15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6 按句分成小段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记录人物和停顿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A8CC9-FE63-4122-A663-BC148183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7 逐段生成并保存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MiMo 生成，可复用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82C08-F60E-4F32-8B34-B0D0F15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8 找出可疑问题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查漏读、重复和停顿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86968-813F-435E-9BA5-E43CB5F3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9 只修有问题的段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剪多余内容或重读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87AB3-89BB-4761-A71D-CC086896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10 再查前后两句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更好才保留新版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C7889-CA98-4687-8915-47BAE30F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11 拼成整章音频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检查整章能否播放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DCF60-AD00-452F-AD71-B63BD38C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12 试听确认并下载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保留问题单和原音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1252A-2B7D-457D-A5CC-BA752632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修复有次数和用时限制，拿不准的问题留给人工试听，不会当作已经通过</a:t>
            </a:r>
          </a:p>
        </p:txBody>
      </p:sp>
    </p:spTree>
    <p:extLst>
      <p:ext uri="{BB962C8B-B14F-4D97-AF65-F5344CB8AC3E}">
        <p14:creationId xmlns:p14="http://schemas.microsoft.com/office/powerpoint/2010/main" val="1168513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C4912-1CFF-4944-AE9C-EA85E5D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三个创新方向，分别解决什么问题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C00E2-0E1F-47E9-82FA-919AB45B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A7A60-E602-4938-B586-802929C1B439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62450"/>
                <a:gridCol w="4038600"/>
              </a:tblGrid>
              <a:tr h="8429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改进方向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项目中遇到的具体问题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我们的做法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谁讲故事，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就用谁的声音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《Flipped》人物用“我”讲故事，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部分文字曾被分给普通旁白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按本章原文找出讲述者，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让自述与本人对白共用声音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经常对话的人，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声音尽量不同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试用的合格英语声音只有两个，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给旁白留一个后，角色声音不够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常对话的人优先用不同声音，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不够时用固定描述补充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哪里读错，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就优先修哪里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读完又重复，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两句话之间停得太久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只处理问题段，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再检查前后句有没有受影响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3D584-FEF1-4EB1-A746-39B2516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共同目标：少弄错说话的人，少重复生成，少让人反复试听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2C883-E2E4-4AFE-95CD-7119E623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已有文字归属修正和音频修复案例，声音分配是否更好认仍需听众比较</a:t>
            </a:r>
          </a:p>
        </p:txBody>
      </p:sp>
    </p:spTree>
    <p:extLst>
      <p:ext uri="{BB962C8B-B14F-4D97-AF65-F5344CB8AC3E}">
        <p14:creationId xmlns:p14="http://schemas.microsoft.com/office/powerpoint/2010/main" val="188369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0A555-5B0F-432C-AAFF-25525B7B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创新一：谁讲故事，就用谁的声音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F2DAE-08AE-4496-9D97-AC15740D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7DFAF-26F3-48BC-899B-8AD717E5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7BFDB-9325-4FD5-BFBC-5557B30F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《Flipped》的两章分别由 Bryce 和 Juli 用“我”讲述。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早期拆分时，有些人物自述被当成了普通旁白。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BBB8B-26EE-4F99-81B6-4399E4C5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Bryce 讲故事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沿用 Bryce 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7FEDE-1629-4AD6-B313-5AFE196F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Juli 讲故事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沿用 Juli 的声音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F7477-B668-43F1-9E85-1CA4D683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909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换一章，</a:t>
            </a:r>
          </a:p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重新判断是谁在讲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B63B5-16BF-4A77-A42D-6378C621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已完成：两章的文字分配已修正，自述和本人对白共用声音配置。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6ADED-2DE3-49EB-9D5B-7DC815EE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这次检查确认的是文字和声音的分配，没有为这两章重新生成语音</a:t>
            </a:r>
          </a:p>
        </p:txBody>
      </p:sp>
    </p:spTree>
    <p:extLst>
      <p:ext uri="{BB962C8B-B14F-4D97-AF65-F5344CB8AC3E}">
        <p14:creationId xmlns:p14="http://schemas.microsoft.com/office/powerpoint/2010/main" val="1058803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141F6-C4E2-4639-BBDA-80DD0017B12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3050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A6E08-09D3-43CD-8036-09BAB549885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3050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5C002-9E8F-42BF-8567-DA6DD986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怎么做到：每一句都能回到书中核对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3109D-6666-4E16-9461-F8E45F09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FFA97-ADC6-46EF-B6E1-91836C0F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模型先判断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这句是谁在说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72E13-4E8B-4C82-941C-B61D0287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程序对照原文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检查有没有漏字或改字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7ADE8-F06E-4758-AE78-FD38DDBB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找到人物后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使用已保存的声音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BA997-0946-4387-B7D1-E3201BB1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每一段都记住它在原书中的位置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249E5-F887-437E-8050-6DD28A5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把所有小段拼回去，要能对应完整章节。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判断讲述者时，还要留下书里的原句，让人能检查理由。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2CDF6-51C5-4CFB-AC5C-30BA9E3C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找不到可靠依据时，先用普通旁白，并标出“需要复核”。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1E706-20A0-4A45-A551-8773F61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程序可以检查有没有漏字，但“到底是谁在说”仍可能需要人来确认</a:t>
            </a:r>
          </a:p>
        </p:txBody>
      </p:sp>
    </p:spTree>
    <p:extLst>
      <p:ext uri="{BB962C8B-B14F-4D97-AF65-F5344CB8AC3E}">
        <p14:creationId xmlns:p14="http://schemas.microsoft.com/office/powerpoint/2010/main" val="2103629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B1046-DBD6-4104-BFB0-EF53B587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书上怎么写，实际怎么读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46C8F-BC1F-496C-965C-EEA7302B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3C174-33D5-46D8-B4CC-99432BBB9E95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76750"/>
                <a:gridCol w="363855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书上写的内容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可以怎样处理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为什么这样做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 3.5%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读成“增长百分之三点五”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让朗读更自然，保留原文不动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/ twenty books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检查时允许这两种写法对应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避免把数字写法差异当成读错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本次修复改用 Come on! 朗读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 R034 一个词开头反复读的问题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人名、编号、多音字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拿不准就保留，交给人试听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避免程序擅自改出新错误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E8BD1-8AE8-4E18-9BDE-84E8FAB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书籍原文和“发给语音服务的读法”分开保存，修改有记录。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39260-A2D0-4C59-AA4B-C16A7C10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录音转成的文字相同，也不能证明多音字读对了，最终还要听声音</a:t>
            </a:r>
          </a:p>
        </p:txBody>
      </p:sp>
    </p:spTree>
    <p:extLst>
      <p:ext uri="{BB962C8B-B14F-4D97-AF65-F5344CB8AC3E}">
        <p14:creationId xmlns:p14="http://schemas.microsoft.com/office/powerpoint/2010/main" val="1903736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47953-093A-4063-9106-8561BAEC3E7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20000" y="39624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1BCA7-C280-4A92-9BBA-F2DCFC55EF4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39624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6758B-7A22-4996-8715-BC81BC85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创新二：经常对话的人，声音尽量不同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C1762-04F3-42F7-9F2E-3848665C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2F2CB-CFF4-4E5C-AC2A-5E2ABB2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1000F-0F12-4D8F-987D-796C89F9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试用的英语声音库里，经过试听确认的现成声音只有 Mia 和 Chloe。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旁白占用一个后，就很难给其他人物各分一种声音。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8B9BA-A0F2-4CAC-9E5A-AB59AC9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对白多的角色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优先选现成声音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49CA9-679F-4FF3-91B5-4443DE65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其他角色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用固定文字描述声音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CA859-D613-4F56-B008-1326EF8E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经常互相说话的人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优先拉开声音差别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7FBA5-B320-4855-97D1-11D88525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实际试用：用文字设定两个角色的声音，六条录音经试听确认容易区分。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5E893-B3AC-4128-AD0D-C3F53712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这里只确认了这两个角色的录音，还不能说自动分配一定比随机分配更好</a:t>
            </a:r>
          </a:p>
        </p:txBody>
      </p:sp>
    </p:spTree>
    <p:extLst>
      <p:ext uri="{BB962C8B-B14F-4D97-AF65-F5344CB8AC3E}">
        <p14:creationId xmlns:p14="http://schemas.microsoft.com/office/powerpoint/2010/main" val="602290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E589E-D947-4CF2-94F5-F5E4838DD60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2383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EEA1C-72CA-4E23-B85E-59A685ADD51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2383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6100E-9745-4142-913E-4D2A48F5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怎么做到：先让不同声音读同样的句子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F5B96-A2C4-4821-B0CD-8BD429E6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23434-4662-4FCD-8DA9-84E83017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准备相同的试听句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每种声音至少读两句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3DC6F-8C15-427C-AB7D-B372A5B2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先听内容是否完整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再记录声音特点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80DC0-B890-43B5-8FB0-AB77EEA5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比较不同声音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是否容易听成同一个人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2A066-7A55-4D83-9515-0515D8FD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为什么要读相同的句子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45169-6FC0-4FA4-A76E-26E1971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如果一个声音读问句，另一个读感叹句，差别可能来自语气。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让它们读同样的内容，比较才更公平。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DDA53-9ADC-49B1-A70E-ED0C84D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电脑怎么参与比较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57601-F5FF-4B10-99CA-34093193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程序把声音特点记成一组数字，比较它们有多相似。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换几句话再比，避免只凭一句话就认定两种声音不同。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7CBAA-8A42-44BE-A085-AEF99376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电脑给出的相似程度只是参考，最终要请听众判断能不能认出人物</a:t>
            </a:r>
          </a:p>
        </p:txBody>
      </p:sp>
    </p:spTree>
    <p:extLst>
      <p:ext uri="{BB962C8B-B14F-4D97-AF65-F5344CB8AC3E}">
        <p14:creationId xmlns:p14="http://schemas.microsoft.com/office/powerpoint/2010/main" val="695655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43FF5-19AE-4659-88CC-61091465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怎么做到：把声音优先分给最需要区分的人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E703D-72E1-4F7D-8719-1484B15F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5F600-5332-4B30-AE70-07AD9D8B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先看哪些人物经常一来一回地说话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661B0-9A6E-49B2-9998-C7C280A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程序按原文统计两个人轮流说话的次数。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对话越频繁，越优先给他们安排差别较大的声音。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857F1-6530-47A3-9349-C48B26A4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同时保留用户的选择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316CE-0C46-4124-BBF3-827CEC7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已经锁定的声音不会被自动改掉。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也可以要求旁白单独用一种声音，或不同人物不共用声音。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6616D-DD12-4713-89B5-471CBC3B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方案少就逐个比较，方案多就先做好主要人物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5EAD5-3FD7-40CE-9081-0C7783C1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先给经常说话的人分配，再尝试交换声音，看看能不能更容易区分。</a:t>
            </a:r>
          </a:p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还会考虑声音是否适合人物，尽量少改已经定好的安排。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5E446-B285-4261-9C3F-EFAA8824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这是当前程序的分配方法，是否真的更好听、更好认，需要专门做试听比较</a:t>
            </a:r>
          </a:p>
        </p:txBody>
      </p:sp>
    </p:spTree>
    <p:extLst>
      <p:ext uri="{BB962C8B-B14F-4D97-AF65-F5344CB8AC3E}">
        <p14:creationId xmlns:p14="http://schemas.microsoft.com/office/powerpoint/2010/main" val="2130953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D9868-A720-429D-B4F3-00C7120A3C1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55006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053B6-DE2B-4E71-B7EF-F4F543C602E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95700" y="55006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B4307-0805-412D-B1AD-677F5F9E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现在可以怎样给人物安排声音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1B023-B708-4F8A-AD7D-FB66FCB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89889-E2E0-4B1A-AA49-81E5FCD1903B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7381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用户要做什么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项目中的具体例子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选现成声音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直接选择服务里已有的声音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Juli 曾使用 Chloe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用文字描述声音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写清年龄感、音色和说话方式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同学群体使用固定的声音描述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模仿一段参考录音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提供参考音，让服务照着声音来读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Bryce 先试读几句，再用于整章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E083D-AA3E-4E93-8D44-5F40EF02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每个人物保存一份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声音设置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0215D-CC33-4690-A06D-C0C680F5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换章时继续使用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同一份设置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41EED-CABB-476A-950D-83155AA7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声音换过之后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重新试听确认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61687-4E09-4E82-A17F-796D82F1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模仿参考音通常称为“声音克隆”，换过声音后的录音不能沿用旧试听结论</a:t>
            </a:r>
          </a:p>
        </p:txBody>
      </p:sp>
    </p:spTree>
    <p:extLst>
      <p:ext uri="{BB962C8B-B14F-4D97-AF65-F5344CB8AC3E}">
        <p14:creationId xmlns:p14="http://schemas.microsoft.com/office/powerpoint/2010/main" val="2059029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65790-707C-40EE-B03F-079B00A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生成之后，重点检查哪几类问题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9AFC3-9E32-4CA2-885F-4158E0AE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7A042-F29A-4E1F-8863-5D1598480FB1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762500"/>
                <a:gridCol w="39243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要检查什么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程序怎样找疑点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人还需要注意什么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有没有读错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把录音转成文字，再与原文比较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文字可能识别错，不能直接删声音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两段连得顺不顺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查看句尾句首、音量和停顿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爆音、卡顿和长停顿需要试听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人物声音变没变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与该人物已确认的录音比较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情绪变化也会让声音听起来不同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文件是否正常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检查过响、长时间无声及能否播放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文件能播放，不等于每句话都合格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7B95-3389-4E58-BBB7-48711A5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每项分别标记“通过”“有问题”或“还没查清”，没查清不会自动算通过</a:t>
            </a:r>
          </a:p>
        </p:txBody>
      </p:sp>
    </p:spTree>
    <p:extLst>
      <p:ext uri="{BB962C8B-B14F-4D97-AF65-F5344CB8AC3E}">
        <p14:creationId xmlns:p14="http://schemas.microsoft.com/office/powerpoint/2010/main" val="1703166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EB7FF-9CCB-485C-9BAD-8847AEF1365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86800" y="3190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DDDDE-3C5E-4A69-B2D4-BFF4577340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91200" y="3190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A4863-F5F7-4063-AB86-11F843672B7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95600" y="3190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7DA8C-3804-4A45-8D3E-5FCA0FE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音频检查的完整过程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C550D-6DC9-4395-A8BB-BA1201F6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4D7C7-4DE9-4AF5-B4BD-DAB95568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输入：每段的实际朗读文本、人物编号、音频，以及该人物的参考录音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53C20-D455-4DA3-8E4B-17E6CBFC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读取录音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先检查信号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860D0-ACDD-4D53-A69B-413118AD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检查这一段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内容、声音和语速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A9C40-98B0-45F4-81E5-873CD3A7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检查相邻两段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连接特征和完整转写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E86BE-AD77-4CA1-A60A-5DDF715F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保存检查单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带上下文试听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0DE59-F308-451A-81E4-B3E06B06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每一项留下自己的判断依据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F9135-77CB-4869-937F-F4D09FF8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例如：多出了哪个词、声音差了多少、哪两段之间停得太久。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内容没有差异，也仍要检查人物声音和连接处。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1FA3D-C946-45BC-950D-16D03300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“正确”分成多个维度，机器筛查和人工试听分别留记录，未查清的项目继续保留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6161F-37ED-4601-ACFE-6C1D6823A9E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0859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92549-DA84-4C48-84C7-52559A947DF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0859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3343B-598B-4E1F-93FD-2B4492D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内容检查：录音怎样变成可比较的文字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95282-858B-4C74-85C5-1F5D85D9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85F9C-077D-4C6F-ABA5-3CB6E6F5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录音文件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 SenseVoice 识别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CDCE8-F15E-4FD7-8152-F72FAD34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原文与转写各做整理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统一写法，再分字或分词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5CB07-71C7-4C58-AA8C-99101A26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287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逐项比较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保存差异和原始录音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B675E-098B-4A35-81E9-584BE9AA019C}"/>
              </a:ext>
            </a:extLst>
          </p:cNvPr>
          <p:cNvGraphicFramePr/>
          <p:nvPr/>
        </p:nvGraphicFramePr>
        <p:xfrm>
          <a:off xmlns:a="http://schemas.openxmlformats.org/drawingml/2006/main" x="609600" y="3000375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5048250"/>
                <a:gridCol w="416242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具体处理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程序如何实现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为什么需要这一步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转成文字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SenseVoiceSmall 在 CPU 上运行，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自动识别语言，取出纯文本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模型目录由本地配置指定，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缺模型或转写为空就保留未查清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整理比较文本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统一全角、半角、大小写和引号，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处理支持的数字、日期与显式词典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与 twenty books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可以按同样内容比较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确定比较单位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中文按字，英文按词，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保留英文词界和缩写内部撇号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避免把 don’t 的否定含义、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人名或编号随意抹掉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7765E-7D6D-4ED9-93DB-20CFF4AA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比较基准是实际发送给语音服务的 tts_text，书籍原文、朗读改写和比较结果分别保存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561DF-D03E-4676-84D3-7331BE23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内容检查：怎样找出多读、漏读和错读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2D51F-535D-4FF2-9157-3667B32B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C23AE-C3F0-4432-927A-4F2CC0F7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程序寻找“最少需要改几处”，把两份文本对齐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8C7F6-9F91-4E77-96F6-7E7E6DEA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增加、删除、替换各记 1 次，相同内容记 0 次。这种方法叫编辑距离。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387DD-1C86-42E2-A597-964B9C7C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D(i,j) = min{ D(i−1,j)+1,  D(i,j−1)+1,  D(i−1,j−1)+[aᵢ≠bⱼ] }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7E9DB-AD6B-43C1-88DF-8BA9625E7D29}"/>
              </a:ext>
            </a:extLst>
          </p:cNvPr>
          <p:cNvGraphicFramePr/>
          <p:nvPr/>
        </p:nvGraphicFramePr>
        <p:xfrm>
          <a:off xmlns:a="http://schemas.openxmlformats.org/drawingml/2006/main" x="609600" y="3238500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5000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示意输入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逐字比较的结果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应该读的内容，共 6 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　今　天　去　学　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识别出的内容，共 8 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　今　天　今　天　去　学　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找到的差异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多出“今天”两字，差异率 = 2 ÷ 6 ≈ 33.3%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541D2-0EFF-47EE-866C-4718532B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差异率 =（替换数 + 漏读数 + 多读数）÷ 原文单位数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A1E1F-6588-4B05-9EBB-9ABAC2B2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真实 R034 曾被识别为“Comome on”，人工听整句后确认是识别误报，原机器证据仍保留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B6E5E-D46A-438A-83B3-535B7B020AB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0288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569F4-2768-4819-A142-166EF33D496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0288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93F32-4586-4A82-854D-AA48F785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人物声音检查：与同一份参考录音比较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BFBE3-4E25-4A9F-8370-FC479629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E8E38-5833-4246-AD2A-72EDB2AB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当前录音和人物参考音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分别提取声音特点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EDCE9-8123-41AB-A9DC-58B4EDF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716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ECAPA 模型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各得到一组数字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AB63F-25F6-44DA-AC06-D38908D9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716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比较两组数字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越不相似，距离越大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4F6AF-03AB-40DA-AAF4-6A140D877A5C}"/>
              </a:ext>
            </a:extLst>
          </p:cNvPr>
          <p:cNvGraphicFramePr/>
          <p:nvPr/>
        </p:nvGraphicFramePr>
        <p:xfrm>
          <a:off xmlns:a="http://schemas.openxmlformats.org/drawingml/2006/main" x="609600" y="2962275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897255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技术细节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当前实现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输入条件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转成单声道、16 kHz，每段至少 3 秒有效语音。太短就暂不判断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比较算法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向量先归一化，再算距离 d = 1 − cos(u,v)，也就是 1 − u·v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提示条件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 &gt; 0.35 时标记“疑似换声”。这个阈值尚未用独立数据校准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参考录音来源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使用固定参考音，或用内容与信号检查通过的首个合适片段建立参考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122B1-277A-43B1-9ADE-5285E5D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例如 Bryce 始终对照同一份参考音。距离低也不会自动证明人物身份一致，还要试听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AAD50-AB9F-4A61-BBA8-CF218F09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声音变化检查：语速和音调怎样计算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4876E-89C2-46BF-A5CE-FA532CFD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34DD0-AE3E-4D45-BBB9-91080C76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语速：用字词数除以实际发声时间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99F64-8D6A-4DF0-9FF1-97243428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 20 毫秒算一次声音强度，找出在发声的部分。也可启用 Silero 找人声。</a:t>
            </a:r>
          </a:p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语速 = 规范化后的字词数 ÷ 发声秒数，英文再乘 60 得到每分钟词数。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5DD55-5D84-428B-9D46-16F194E2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当前提示线：中文超过 4.3 字/秒，英文超过 300 词/分。</a:t>
            </a:r>
          </a:p>
          <a:p xmlns:a="http://schemas.openxmlformats.org/drawingml/2006/main">
            <a: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与参考音比较时，快慢倍数超过 1.3，也会提示复核。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E79AD-6249-401D-8D41-F37D8123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音调：估计每个短窗口的基频，再取中间值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85D75-7D2E-43FE-8748-7BCFBF0C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录音转为 8 kHz，以 40 毫秒窗口、20 毫秒步长做自相关，估计声音周期。</a:t>
            </a:r>
          </a:p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变化量 = 12 × log₂（当前基频 ÷ 参考基频），单位是半音。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0ACC5-8212-4795-85A2-A79E4CC7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相差超过 6 个半音，且两段各有至少 50 个有效音调窗口，才提示变化。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9C145-7F1D-4C87-BF6F-AFB209CD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这些都是筛查线。内容多读或漏读时，停止用参考字词数判断语速，情绪变化也要人工区分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7AD28-9FDC-4DF6-A6B8-11B86B4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连接处检查：句尾和下一句怎样接起来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9ED8D-E00B-4750-8A83-C617A54C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CDAE9-0874-439E-8D60-BE4DB569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声音特征看左段末尾 2 秒、右段开头 2 秒，内容核对使用完整两段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7C50A-26A8-453F-99CC-AAA2C774775F}"/>
              </a:ext>
            </a:extLst>
          </p:cNvPr>
          <p:cNvGraphicFramePr/>
          <p:nvPr/>
        </p:nvGraphicFramePr>
        <p:xfrm>
          <a:off xmlns:a="http://schemas.openxmlformats.org/drawingml/2006/main" x="609600" y="242887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619625"/>
                <a:gridCol w="43053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计算方法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当前怎样使用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是否突然“啪”一下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比较接点样本值，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有补入停顿时也检查两侧是否突变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跳变幅度 &gt; 0.15，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提示疑似爆音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音量与音色是否突变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比较两侧 20 毫秒的强度，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再比较 512 点频谱的差别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记录分贝差和频谱距离，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供复核或可选模型使用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是否停得太久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 20 毫秒低能量帧，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统计左尾和右头的无声时长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两侧无声之和超过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max(1.5秒,计划停顿+0.8秒)就提示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连接后内容是否完整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把完整左句和右句拼起来再转写，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与完整两句文字比较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有差异就保留内容疑点，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不拿短窗口去对齐整句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FAC94-939C-46B8-9C0F-CD77FAE6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实际 J076：约 2.04 秒停顿经试听确认后，才移除多余静音，调整为约 1 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0FB24-AB9B-4BE5-99F9-8657E52D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默认先用规则筛查。可选连接处分类模型仍缺独立真实缺陷验收，不能替代人工确认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B13C1-16E0-4B53-94F9-FA72CB4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信号检查与最终判断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DAAD6-74A8-4BC4-A5A8-1F07578A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C5B9C-9F9E-47EB-98CA-786B034F6465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714875"/>
                <a:gridCol w="3781425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直接能计算的指标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当前检查条件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得到什么结果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空音频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采样点数量等于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记录已确认的严重错误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音量过小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归一化样本峰值 &lt; 0.003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记录已确认的信号错误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幅度顶到上限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|样本值| ≥ 0.999 的占比 &gt; 0.2%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提示削波，记录信号错误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2F4DD-54B5-407F-9DA5-1E83128B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通过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该维度检查已完成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D61D8-45BC-489E-9D18-7A29C1E1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19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未查清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有疑点或检查未完成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89846-9950-45AB-910B-C84A79E0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9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失败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已确认严重错误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26630-E62B-4D43-B2C2-2A0AA4D5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报告记录音频 SHA256、模型版本和具体差异，音频一变就不能沿用旧结论。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A41BF-D6B0-4EDD-A31F-E165F550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“信号通过”只代表这些指标正常。整体还有疑点或未完成维度时，就继续保留未查清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307C2-1630-4CCA-9B72-F2886923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创新三：哪里读错，就优先修哪里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5334C-FDAB-4492-9402-37406B02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939AF-85D0-4954-893C-F3BDA25D6444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429125"/>
                <a:gridCol w="3209925"/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首章中的实际问题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这次怎样修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正文读完后又重复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留下完整正文，去掉后面的重复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不用把整章再生成一遍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两句之间停得太久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去掉已确认的多余无声部分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让连接处恢复到约 1 秒停顿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一个词开头读了几遍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Come on! 的读法重新生成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只增加一次生成请求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A5BA-3976-48D8-8B4C-9043406A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这几处都已做局部试听确认，原始录音仍然保留。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C1A40-67A6-4BEA-8469-68F11AED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修复一个地方之后，还要听前后两句，防止修好这里、影响旁边</a:t>
            </a:r>
          </a:p>
        </p:txBody>
      </p:sp>
    </p:spTree>
    <p:extLst>
      <p:ext uri="{BB962C8B-B14F-4D97-AF65-F5344CB8AC3E}">
        <p14:creationId xmlns:p14="http://schemas.microsoft.com/office/powerpoint/2010/main" val="504304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D2561-570B-417A-9C22-9EDD6CF41D3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718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E2F72-EE12-4999-909D-4379F673D6B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31718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CD103-0FCF-486E-B6C4-82AB9897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怎么控制重试：给制作过程设一个上限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4C57C-5CD3-4CE8-ABA6-A75E9539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9AD18-857E-4CC5-8DA8-79A8280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事先设好：最多请求几次、修几次、补读多少字、用多长时间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1F2B4-8D77-4639-9900-D26563F9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确实需要重新读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只发送问题段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5310-38C0-4400-92FA-7255B176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先检查剩余额度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登记这次尝试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5F7F9-E932-46A3-87EF-56606C11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请求语音服务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记录成功或失败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26360-A067-40F9-8C08-DB741481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失败的一次也记下来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9B630-E329-474B-A3F8-8CA5A1B9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避免网络或生成失败后反复重试，把次数悄悄用完。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上限到了就停止追加，把仍未解决的问题列出来。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883BC-F8F7-4F45-A6D8-73AB7A0E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目前按次数、文字量和时间控制，尚未直接计算花了多少元</a:t>
            </a:r>
          </a:p>
        </p:txBody>
      </p:sp>
    </p:spTree>
    <p:extLst>
      <p:ext uri="{BB962C8B-B14F-4D97-AF65-F5344CB8AC3E}">
        <p14:creationId xmlns:p14="http://schemas.microsoft.com/office/powerpoint/2010/main" val="15800872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53570-DC11-4BF1-BFA6-57493136897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96100" y="20574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EF98E-9A5F-4DEC-A2DE-25981128E63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0574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0611C-76FF-4C45-8544-5CAF2003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怎么判断修好了：新旧版本一起比较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BE481-1C6F-4E99-BB7B-3F7EFD60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5B25C-8B9B-4DB1-A077-01DE7F99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前一句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D8923-7EC2-439E-9F5C-12EAD68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修改后的这一句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95C45-7652-46DD-AFE9-CB4B9F9D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7640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后一句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3176E-B86E-49E6-BCAF-84FBB6A6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先看原来正确的部分有没有受影响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54996-6E8C-4C97-831C-876F1B74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内容不能少读或多读，原来通过的检查还要继续通过。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这一句和前后句的连接也要重新检查。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A36DE-C28C-41B4-8305-F30D13A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再看这次修改有没有解决问题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24CBF-325D-4965-B7F2-88FB0648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程序确认有改善，才采用新版本。没有改善就继续保留原件。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像“声音是否适合人物”这样的问题，仍要靠人试听。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C54A9-D904-4BA9-8778-EE74E340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只修一个问题段，也要一起检查它的前后两句</a:t>
            </a:r>
          </a:p>
        </p:txBody>
      </p:sp>
    </p:spTree>
    <p:extLst>
      <p:ext uri="{BB962C8B-B14F-4D97-AF65-F5344CB8AC3E}">
        <p14:creationId xmlns:p14="http://schemas.microsoft.com/office/powerpoint/2010/main" val="2097312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27E58-51B9-40AF-AA18-354B0C924F3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52292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375D6-3A37-404D-BC13-20732453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具体例子：读完又重复，怎样安全去掉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00AB2-E619-4299-B856-1C6C65E4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5F908-71C8-4CD1-A08A-91648548F4A1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781675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先确认什么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然后怎样处理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原文应该读的部分已经完整读完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找正文与多余重复之间的停顿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前半段内容完整，后半段只有多余重复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把两部分分别转成文字，再次核对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切的位置不会伤到正常发音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两边留出 0.1 秒保护，只去掉多余尾段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03B5F-64F6-4BC3-BEA0-E30DBA3E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原文该读的部分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完整保留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16F49-591D-4E69-9C38-340D7ED5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291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多出来的重复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确认后再去掉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1477B-2E6F-431C-AC15-E862A9D9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386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停顿处切开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EF497-8645-4D52-9BDC-9FD35856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默认先让人复核，只有条件明确且用户开启自动处理时才自动采用</a:t>
            </a:r>
          </a:p>
        </p:txBody>
      </p:sp>
    </p:spTree>
    <p:extLst>
      <p:ext uri="{BB962C8B-B14F-4D97-AF65-F5344CB8AC3E}">
        <p14:creationId xmlns:p14="http://schemas.microsoft.com/office/powerpoint/2010/main" val="7401327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FAC8E-4878-4E54-80AC-2BED1EF822E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2860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F9534-2F66-4EAC-8E06-4B20BC0120F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2860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70466-D709-4AAE-91C6-9BFF8B75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原音和修改版都保存，随时能查清改了什么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0F52E-2EF5-427A-9992-D4D787C0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D114A-BC2A-4295-804B-E79E8683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生成时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记下正文和声音设置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D88A1-87B0-4C64-8225-8D5FA3F0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保存原始录音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F1E7B-1D77-45AB-AA84-7E18FB12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修改后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另存新版本和修改记录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AF42E-B3B2-4A22-9AD3-C02A18E8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同样的内容和设置，可以复用已有录音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0FCA0-23AE-4602-BBB1-8142CBEE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调语速、剪重复等处理另存文件，原来的录音不会被覆盖。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最后按顺序拼成整章，并检查音频和检查单是否对应。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BC5BF-FACB-44E9-BAA0-C445B85C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例如：R039 去掉多余重复后，仍能找到修改前的录音进行比较。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456DE-E364-4CAB-896D-0943C3E3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每份文件都有唯一校验记录，避免拿旧音频的试听结论套在新版本上</a:t>
            </a:r>
          </a:p>
        </p:txBody>
      </p:sp>
    </p:spTree>
    <p:extLst>
      <p:ext uri="{BB962C8B-B14F-4D97-AF65-F5344CB8AC3E}">
        <p14:creationId xmlns:p14="http://schemas.microsoft.com/office/powerpoint/2010/main" val="5919168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FB764-09E2-4B79-8C22-CC23E22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实际完成的案例：《Flipped》首章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D9DB6-B22C-45CF-B120-63AD884C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75601-1181-4626-A74E-43393628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14,311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7B524-E104-454D-AC45-E9EF97E4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原文字符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F3A4D-1F29-4E75-86AC-B79188CB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D5208-C7FB-4A4A-8127-DEA58CD4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人物与角色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4B819-AED2-4ADC-B844-17BFEFE7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0BEC9-2865-41B5-84EA-482A4E1A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生成的小段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2B29C-3B74-401F-A201-7500D00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8FB43-C348-4FCF-9EA2-4D7B5EE2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小段连接处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54B3A-6E48-4B4C-9F7F-1ADBDFA6A1B9}"/>
              </a:ext>
            </a:extLst>
          </p:cNvPr>
          <p:cNvGraphicFramePr/>
          <p:nvPr/>
        </p:nvGraphicFramePr>
        <p:xfrm>
          <a:off xmlns:a="http://schemas.openxmlformats.org/drawingml/2006/main" x="609600" y="374332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488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已经做了什么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首次生成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完成约 15 分 32 秒的原始版本，保留原音频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调整 Bryce 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根据已确认的参考音，增加 67 次生成请求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修正具体问题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处理重复和长停顿等问题，最新版本约 17 分 34 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1A20F-C945-4341-A266-01FCECD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版本时长不同，不能直接说明谁更好，已确认的局部也不代表整章全部通过</a:t>
            </a:r>
          </a:p>
        </p:txBody>
      </p:sp>
    </p:spTree>
    <p:extLst>
      <p:ext uri="{BB962C8B-B14F-4D97-AF65-F5344CB8AC3E}">
        <p14:creationId xmlns:p14="http://schemas.microsoft.com/office/powerpoint/2010/main" val="6852816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5DEB9-A29A-4371-9732-2E47045F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哪些问题已经试听确认修好了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DB75B-3369-4C38-A58B-E6594508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3807E-C38B-4D14-9290-9A98A75D8A9A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9100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做了什么修改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已经确认的范围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句尾重复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留下完整正文，删多余重复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保留的正常语音没改，局部试听通过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R018 多读 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只留下原文要求的三次 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前后片段已核对，局部试听通过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停顿太长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只剪掉多余的无声部分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两句之间约 1 秒，试听通过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开头反复读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 改用 Come on! 来读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发音及与前后句的连接试听通过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907C3-6528-4CC9-8299-4CDABDE0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已保存 10 个试听接受的修复案例，全部来自同一本书的同一章。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1EDC0-D143-44CD-A0B9-F06E51C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这些案例能说明具体怎么修，还不能算出对其他书籍的修复成功率</a:t>
            </a:r>
          </a:p>
        </p:txBody>
      </p:sp>
    </p:spTree>
    <p:extLst>
      <p:ext uri="{BB962C8B-B14F-4D97-AF65-F5344CB8AC3E}">
        <p14:creationId xmlns:p14="http://schemas.microsoft.com/office/powerpoint/2010/main" val="9817600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7476F-C3E1-43D0-B71F-BE5AAC17732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43750" y="217646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55C07-16FC-4ED2-B2D8-973180A0D55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33725" y="217646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B01C0-767D-498F-84EE-9C813E2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让人少重复听，接下来再验证人物好不好认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09158-1CBD-48E0-AA7E-16CACEE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D1B22-1C25-429C-AF37-8FC5E2CF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133 条问题提示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A5457-4685-4756-843A-C1B5F5F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7165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整理为 48 个片段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F9F51-29FD-415B-8C2F-1316D392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合成 9 段试听内容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FB25C-7EBD-46B8-B05E-D7C1F1EB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同一段录音被反复提示，就合在一起听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45DC4-FAAA-4774-8274-58781498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每个问题都保留，只合并重复的试听范围。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原来重叠片段加起来约 27 分钟，合并后约 16 分钟。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5936-7261-4E94-9241-EE6976B7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“听出是谁”的题目已经准备好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5F005-E775-4714-91D9-5851CECB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36 道题，使用九段已做试听检查的录音。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目前还没有听众答题结果，不能说自动分配已经更容易辨认。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1939C-E1B8-4342-8982-B9A1F609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本批自动分配与随机分配恰好相同，不能用这批材料比较二者优劣</a:t>
            </a:r>
          </a:p>
        </p:txBody>
      </p:sp>
    </p:spTree>
    <p:extLst>
      <p:ext uri="{BB962C8B-B14F-4D97-AF65-F5344CB8AC3E}">
        <p14:creationId xmlns:p14="http://schemas.microsoft.com/office/powerpoint/2010/main" val="5311940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168FB-9D36-4976-A189-9106FCF14A8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00B2C-2EAB-4321-8046-FAC57F8AA8E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D7433-D85E-4F12-B43D-72A9D5A2ADE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FD0EB-55C3-4253-A2C3-B76200E3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网页操作保护：重新拆分后，要重新确认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9BDBA-FB01-420F-8684-8A29C5E5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E6E52-2F9A-4749-8D82-E2EEE679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上传书籍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选择要做的章节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B010F-FCDE-4B0E-84C2-3E036D67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重新拆分文字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旧的确认立即失效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1B04D-3F15-4E1F-BF8F-CA5876B2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检查人物和声音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重新点击确认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B649A-F229-4696-99D5-13303C5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开始生成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查看和下载结果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BF285-5B26-4676-8779-6862B26F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避免“内容已改，仍按旧安排生成”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E659A-BB73-4F27-9C68-53234D6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重新拆分时，不能拿上一次的确认继续生成。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同一本书的保存、确认和开始生成，程序会协调顺序，避免互相冲突。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EF781-47EA-4365-AAE3-7A1303C8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关闭进度显示，也不会把仍在工作的任务误当成已经结束。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CEB0D-F226-43EF-BB25-D8610F9B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后台流程已经测试，新控件在浏览器中的实际操作体验仍需最后确认</a:t>
            </a:r>
          </a:p>
        </p:txBody>
      </p:sp>
    </p:spTree>
    <p:extLst>
      <p:ext uri="{BB962C8B-B14F-4D97-AF65-F5344CB8AC3E}">
        <p14:creationId xmlns:p14="http://schemas.microsoft.com/office/powerpoint/2010/main" val="2846996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9048C-8C59-4301-BD7C-FDF7F185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现在做到哪一步，接下来先做什么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E8074-A517-4A57-80CB-17B6CCB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524A9-D77D-4338-B339-A75B74E61CC5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48250"/>
                <a:gridCol w="392430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目前已经做了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整套制作流程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选章节、分人物、选声音、生成和查问题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先把 MiMo 网页使用流程做好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实际使用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完成首章生成，修过重复和长停顿等问题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完成这一版整章试听，再扩大使用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研究准备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有修复案例，也有 36 道人物辨认题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换更多书，找听众做比较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其他语音服务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原转换器支持多种服务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新的适配与论文实验暂缓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88A46-5805-41D8-8440-6BBC15BB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最近保存的程序测试：674 项，644 项通过，30 项因环境跳过。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A5AFE-A345-457E-A0C2-8942BBB6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程序测试说明功能运行情况，实际听感和论文效果还需要另外验证</a:t>
            </a:r>
          </a:p>
        </p:txBody>
      </p:sp>
    </p:spTree>
    <p:extLst>
      <p:ext uri="{BB962C8B-B14F-4D97-AF65-F5344CB8AC3E}">
        <p14:creationId xmlns:p14="http://schemas.microsoft.com/office/powerpoint/2010/main" val="8801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2026-10-18T07:36:16.4860000Z</dcterms:created>
  <dcterms:modified xsi:type="dcterms:W3CDTF">2026-10-18T07:36:16.4860000Z</dcterms:modified>
</coreProperties>
</file>