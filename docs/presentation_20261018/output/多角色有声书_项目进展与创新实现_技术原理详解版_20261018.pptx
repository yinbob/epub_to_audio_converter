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e698aaa2b4292" /><Relationship Type="http://schemas.openxmlformats.org/officeDocument/2006/relationships/extended-properties" Target="/docProps/app.xml" Id="Rd21cfb13fafc4526" /><Relationship Type="http://schemas.openxmlformats.org/officeDocument/2006/relationships/officeDocument" Target="/ppt/presentation.xml" Id="R7400ab551fd543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1f88bbb6554d97"/>
  </p:sldMasterIdLst>
  <p:notesMasterIdLst>
    <p:notesMasterId xmlns:r="http://schemas.openxmlformats.org/officeDocument/2006/relationships" r:id="R4083d99ac32b42ca"/>
  </p:notesMasterIdLst>
  <p:sldIdLst>
    <p:sldId xmlns:r="http://schemas.openxmlformats.org/officeDocument/2006/relationships" id="256" r:id="Rbf4476e3a6f54bc4"/>
    <p:sldId xmlns:r="http://schemas.openxmlformats.org/officeDocument/2006/relationships" id="257" r:id="R2c77cd6157314f98"/>
    <p:sldId xmlns:r="http://schemas.openxmlformats.org/officeDocument/2006/relationships" id="258" r:id="R305bbeb6372c4cbf"/>
    <p:sldId xmlns:r="http://schemas.openxmlformats.org/officeDocument/2006/relationships" id="259" r:id="R6258c474b0024d32"/>
    <p:sldId xmlns:r="http://schemas.openxmlformats.org/officeDocument/2006/relationships" id="260" r:id="Re2273b5ccfc54f31"/>
    <p:sldId xmlns:r="http://schemas.openxmlformats.org/officeDocument/2006/relationships" id="261" r:id="R6b4da86d93e745a1"/>
    <p:sldId xmlns:r="http://schemas.openxmlformats.org/officeDocument/2006/relationships" id="262" r:id="R515d74eb11d048fa"/>
    <p:sldId xmlns:r="http://schemas.openxmlformats.org/officeDocument/2006/relationships" id="263" r:id="Rc95fdb98c4854eac"/>
    <p:sldId xmlns:r="http://schemas.openxmlformats.org/officeDocument/2006/relationships" id="264" r:id="Rbc0e61c3e3264658"/>
    <p:sldId xmlns:r="http://schemas.openxmlformats.org/officeDocument/2006/relationships" id="265" r:id="R77c1ec5ae96148a9"/>
    <p:sldId xmlns:r="http://schemas.openxmlformats.org/officeDocument/2006/relationships" id="266" r:id="Redfe15df4f0143c6"/>
    <p:sldId xmlns:r="http://schemas.openxmlformats.org/officeDocument/2006/relationships" id="267" r:id="Rb6112dff34854072"/>
    <p:sldId xmlns:r="http://schemas.openxmlformats.org/officeDocument/2006/relationships" id="268" r:id="Rae751489e9ab4e3c"/>
    <p:sldId xmlns:r="http://schemas.openxmlformats.org/officeDocument/2006/relationships" id="269" r:id="R05946c7e6e8648aa"/>
    <p:sldId xmlns:r="http://schemas.openxmlformats.org/officeDocument/2006/relationships" id="270" r:id="R28b91d8340384455"/>
    <p:sldId xmlns:r="http://schemas.openxmlformats.org/officeDocument/2006/relationships" id="271" r:id="Re94030d897b84e8e"/>
    <p:sldId xmlns:r="http://schemas.openxmlformats.org/officeDocument/2006/relationships" id="272" r:id="R05791db56642400e"/>
    <p:sldId xmlns:r="http://schemas.openxmlformats.org/officeDocument/2006/relationships" id="273" r:id="Rb574f67af8594e28"/>
    <p:sldId xmlns:r="http://schemas.openxmlformats.org/officeDocument/2006/relationships" id="274" r:id="R56508931b2614e95"/>
    <p:sldId xmlns:r="http://schemas.openxmlformats.org/officeDocument/2006/relationships" id="275" r:id="R661c23366e6245bc"/>
    <p:sldId xmlns:r="http://schemas.openxmlformats.org/officeDocument/2006/relationships" id="276" r:id="R0fd1df376fb14420"/>
    <p:sldId xmlns:r="http://schemas.openxmlformats.org/officeDocument/2006/relationships" id="277" r:id="R1edbe498300648f2"/>
    <p:sldId xmlns:r="http://schemas.openxmlformats.org/officeDocument/2006/relationships" id="278" r:id="Rbf8bf985f09548d6"/>
    <p:sldId xmlns:r="http://schemas.openxmlformats.org/officeDocument/2006/relationships" id="279" r:id="Re88758534a6142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78ddb41c6b4cad" /><Relationship Type="http://schemas.openxmlformats.org/officeDocument/2006/relationships/slideMaster" Target="/ppt/slideMasters/slideMaster1.xml" Id="Rf91f88bbb6554d97" /><Relationship Type="http://schemas.openxmlformats.org/officeDocument/2006/relationships/notesMaster" Target="/ppt/notesMasters/notesMaster1.xml" Id="R4083d99ac32b42ca" /><Relationship Type="http://schemas.openxmlformats.org/officeDocument/2006/relationships/presProps" Target="/ppt/presProps.xml" Id="Rcfe36d76ed3b4c8d" /><Relationship Type="http://schemas.openxmlformats.org/officeDocument/2006/relationships/tableStyles" Target="/ppt/tableStyles.xml" Id="R572fca4c1eb34aa3" /><Relationship Type="http://schemas.openxmlformats.org/officeDocument/2006/relationships/slide" Target="/ppt/slides/slide1.xml" Id="Rbf4476e3a6f54bc4" /><Relationship Type="http://schemas.openxmlformats.org/officeDocument/2006/relationships/slide" Target="/ppt/slides/slide2.xml" Id="R2c77cd6157314f98" /><Relationship Type="http://schemas.openxmlformats.org/officeDocument/2006/relationships/slide" Target="/ppt/slides/slide3.xml" Id="R305bbeb6372c4cbf" /><Relationship Type="http://schemas.openxmlformats.org/officeDocument/2006/relationships/slide" Target="/ppt/slides/slide4.xml" Id="R6258c474b0024d32" /><Relationship Type="http://schemas.openxmlformats.org/officeDocument/2006/relationships/slide" Target="/ppt/slides/slide5.xml" Id="Re2273b5ccfc54f31" /><Relationship Type="http://schemas.openxmlformats.org/officeDocument/2006/relationships/slide" Target="/ppt/slides/slide6.xml" Id="R6b4da86d93e745a1" /><Relationship Type="http://schemas.openxmlformats.org/officeDocument/2006/relationships/slide" Target="/ppt/slides/slide7.xml" Id="R515d74eb11d048fa" /><Relationship Type="http://schemas.openxmlformats.org/officeDocument/2006/relationships/slide" Target="/ppt/slides/slide8.xml" Id="Rc95fdb98c4854eac" /><Relationship Type="http://schemas.openxmlformats.org/officeDocument/2006/relationships/slide" Target="/ppt/slides/slide9.xml" Id="Rbc0e61c3e3264658" /><Relationship Type="http://schemas.openxmlformats.org/officeDocument/2006/relationships/slide" Target="/ppt/slides/slide10.xml" Id="R77c1ec5ae96148a9" /><Relationship Type="http://schemas.openxmlformats.org/officeDocument/2006/relationships/slide" Target="/ppt/slides/slide11.xml" Id="Redfe15df4f0143c6" /><Relationship Type="http://schemas.openxmlformats.org/officeDocument/2006/relationships/slide" Target="/ppt/slides/slide12.xml" Id="Rb6112dff34854072" /><Relationship Type="http://schemas.openxmlformats.org/officeDocument/2006/relationships/slide" Target="/ppt/slides/slide13.xml" Id="Rae751489e9ab4e3c" /><Relationship Type="http://schemas.openxmlformats.org/officeDocument/2006/relationships/slide" Target="/ppt/slides/slide14.xml" Id="R05946c7e6e8648aa" /><Relationship Type="http://schemas.openxmlformats.org/officeDocument/2006/relationships/slide" Target="/ppt/slides/slide15.xml" Id="R28b91d8340384455" /><Relationship Type="http://schemas.openxmlformats.org/officeDocument/2006/relationships/slide" Target="/ppt/slides/slide16.xml" Id="Re94030d897b84e8e" /><Relationship Type="http://schemas.openxmlformats.org/officeDocument/2006/relationships/slide" Target="/ppt/slides/slide17.xml" Id="R05791db56642400e" /><Relationship Type="http://schemas.openxmlformats.org/officeDocument/2006/relationships/slide" Target="/ppt/slides/slide18.xml" Id="Rb574f67af8594e28" /><Relationship Type="http://schemas.openxmlformats.org/officeDocument/2006/relationships/slide" Target="/ppt/slides/slide19.xml" Id="R56508931b2614e95" /><Relationship Type="http://schemas.openxmlformats.org/officeDocument/2006/relationships/slide" Target="/ppt/slides/slide20.xml" Id="R661c23366e6245bc" /><Relationship Type="http://schemas.openxmlformats.org/officeDocument/2006/relationships/slide" Target="/ppt/slides/slide21.xml" Id="R0fd1df376fb14420" /><Relationship Type="http://schemas.openxmlformats.org/officeDocument/2006/relationships/slide" Target="/ppt/slides/slide22.xml" Id="R1edbe498300648f2" /><Relationship Type="http://schemas.openxmlformats.org/officeDocument/2006/relationships/slide" Target="/ppt/slides/slide23.xml" Id="Rbf8bf985f09548d6" /><Relationship Type="http://schemas.openxmlformats.org/officeDocument/2006/relationships/slide" Target="/ppt/slides/slide24.xml" Id="Re88758534a6142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aa4ebdae5e43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216818fcef4695" /><Relationship Type="http://schemas.openxmlformats.org/officeDocument/2006/relationships/notesMaster" Target="/ppt/notesMasters/notesMaster1.xml" Id="Rf5770dfe40d348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a2de267422432d" /><Relationship Type="http://schemas.openxmlformats.org/officeDocument/2006/relationships/notesMaster" Target="/ppt/notesMasters/notesMaster1.xml" Id="R33694384fa414e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81ba8c45a941ab" /><Relationship Type="http://schemas.openxmlformats.org/officeDocument/2006/relationships/notesMaster" Target="/ppt/notesMasters/notesMaster1.xml" Id="R9bf5de29bf5947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8a278a574744f0" /><Relationship Type="http://schemas.openxmlformats.org/officeDocument/2006/relationships/notesMaster" Target="/ppt/notesMasters/notesMaster1.xml" Id="R059f9212bc2e48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bec3a8b2bf4cdf" /><Relationship Type="http://schemas.openxmlformats.org/officeDocument/2006/relationships/notesMaster" Target="/ppt/notesMasters/notesMaster1.xml" Id="Re732094c554844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f571968d20472a" /><Relationship Type="http://schemas.openxmlformats.org/officeDocument/2006/relationships/notesMaster" Target="/ppt/notesMasters/notesMaster1.xml" Id="R72efd84d12b143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9c9fed42a746ee" /><Relationship Type="http://schemas.openxmlformats.org/officeDocument/2006/relationships/notesMaster" Target="/ppt/notesMasters/notesMaster1.xml" Id="R47432aec161246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bcdf7cab1845da" /><Relationship Type="http://schemas.openxmlformats.org/officeDocument/2006/relationships/notesMaster" Target="/ppt/notesMasters/notesMaster1.xml" Id="Rd304f45e5ea54c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481cdbe95f40db" /><Relationship Type="http://schemas.openxmlformats.org/officeDocument/2006/relationships/notesMaster" Target="/ppt/notesMasters/notesMaster1.xml" Id="Rf1a850f5b7394a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3b6eb2b9c04f13" /><Relationship Type="http://schemas.openxmlformats.org/officeDocument/2006/relationships/notesMaster" Target="/ppt/notesMasters/notesMaster1.xml" Id="Ra0a6bd5df4ef46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ae03b5165d4b25" /><Relationship Type="http://schemas.openxmlformats.org/officeDocument/2006/relationships/notesMaster" Target="/ppt/notesMasters/notesMaster1.xml" Id="R6f1155802e3248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731ab58d024774" /><Relationship Type="http://schemas.openxmlformats.org/officeDocument/2006/relationships/notesMaster" Target="/ppt/notesMasters/notesMaster1.xml" Id="R31b6526df7e644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5b6ccb6c7f4668" /><Relationship Type="http://schemas.openxmlformats.org/officeDocument/2006/relationships/notesMaster" Target="/ppt/notesMasters/notesMaster1.xml" Id="Rf40d6c0066774d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01c8c124a54f2e" /><Relationship Type="http://schemas.openxmlformats.org/officeDocument/2006/relationships/notesMaster" Target="/ppt/notesMasters/notesMaster1.xml" Id="R06f32ffad2934a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b93998eddb42bd" /><Relationship Type="http://schemas.openxmlformats.org/officeDocument/2006/relationships/notesMaster" Target="/ppt/notesMasters/notesMaster1.xml" Id="Rfda2dca337e946c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e978928ca41490d" /><Relationship Type="http://schemas.openxmlformats.org/officeDocument/2006/relationships/notesMaster" Target="/ppt/notesMasters/notesMaster1.xml" Id="Re7fdd1bebd0c409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fa919457a094918" /><Relationship Type="http://schemas.openxmlformats.org/officeDocument/2006/relationships/notesMaster" Target="/ppt/notesMasters/notesMaster1.xml" Id="Rdf39ea30aa254a7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b2716dcc4dc4b1a" /><Relationship Type="http://schemas.openxmlformats.org/officeDocument/2006/relationships/notesMaster" Target="/ppt/notesMasters/notesMaster1.xml" Id="R5f187c946dc440b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bac5bad9ee7474e" /><Relationship Type="http://schemas.openxmlformats.org/officeDocument/2006/relationships/notesMaster" Target="/ppt/notesMasters/notesMaster1.xml" Id="R52f6f215f206442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51fc155b6e2486b" /><Relationship Type="http://schemas.openxmlformats.org/officeDocument/2006/relationships/notesMaster" Target="/ppt/notesMasters/notesMaster1.xml" Id="R62bb335e0e144be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41db64119ae420e" /><Relationship Type="http://schemas.openxmlformats.org/officeDocument/2006/relationships/notesMaster" Target="/ppt/notesMasters/notesMaster1.xml" Id="Re66e623e714e422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df826e1ba1c4c54" /><Relationship Type="http://schemas.openxmlformats.org/officeDocument/2006/relationships/notesMaster" Target="/ppt/notesMasters/notesMaster1.xml" Id="Rb5ba283641e5451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166fb6e6c094c10" /><Relationship Type="http://schemas.openxmlformats.org/officeDocument/2006/relationships/notesMaster" Target="/ppt/notesMasters/notesMaster1.xml" Id="R6ad4c9c91763429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26e0f981ab7476b" /><Relationship Type="http://schemas.openxmlformats.org/officeDocument/2006/relationships/notesMaster" Target="/ppt/notesMasters/notesMaster1.xml" Id="Rb3bd171d437d43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图片：docs/presentation_build/assets/home.png，2026-10-12既有项目界面截图，仅展示产品形态，非最新控件验收。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/Users/yinzh/PycharmProjects/EPUB_to_Audio_Converter-1/docs/论文创新点与实现方案.md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/Users/yinzh/PycharmProjects/EPUB_to_Audio_Converter-1/docs/validation/narration_identity_20261017/README.md</a:t>
            </a:r>
          </a:p>
          <a:p xmlns:a="http://schemas.openxmlformats.org/drawingml/2006/main">
            <a:r>
              <a:t>/Users/yinzh/PycharmProjects/EPUB_to_Audio_Converter-1/audiobook_generator/role_script/validator.py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S 表示本章原文。source_span 使用半开区间 [start,end)。严格来源校验要求切片内容与分段完全一致、区间连续且覆盖全章。角色归属的引文同样需要切片验证。该机制保证结构与引文可追溯，不能保证模型对说话人语义判断必然正确。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/Users/yinzh/PycharmProjects/EPUB_to_Audio_Converter-1/audiobook_generator/role_script/validator.py</a:t>
            </a:r>
          </a:p>
          <a:p xmlns:a="http://schemas.openxmlformats.org/drawingml/2006/main">
            <a:r>
              <a:t>/Users/yinzh/PycharmProjects/EPUB_to_Audio_Converter-1/docs/validation/narration_identity_20261017/README.md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/Users/yinzh/PycharmProjects/EPUB_to_Audio_Converter-1/audiobook_generator/audio_core/reading.py</a:t>
            </a:r>
          </a:p>
          <a:p xmlns:a="http://schemas.openxmlformats.org/drawingml/2006/main">
            <a:r>
              <a:t>/Users/yinzh/PycharmProjects/EPUB_to_Audio_Converter-1/audiobook_generator/audio_core/english_reading.py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每个声音至少具有两条共同探针，先核验合成结果再允许进入声音库。对相同文本分别比较两种声音的声纹向量，计算余弦距离。跨文本汇总采用均值减0.25倍标准差，并截断为非负值。常数为当前实现值，不代表最优超参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w_ij 是角色 i、j 连续对话切换次数，旁白或至少1.5秒停顿会断开链条。f(i) 是分配的声音，P 是人工审查的角色适配惩罚，M 是相对初始分配的换声数。目标函数系数0.25、0.1、0.05是代码当前配置。完整候选空间不超过4096时精确枚举，否则按加权度贪心并最多20轮局部改配或交换。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/Users/yinzh/PycharmProjects/EPUB_to_Audio_Converter-1/docs/MiMo参考音克隆接入与验收.md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  <a:p xmlns:a="http://schemas.openxmlformats.org/drawingml/2006/main">
            <a:r>
              <a:t>/Users/yinzh/PycharmProjects/EPUB_to_Audio_Converter-1/audiobook_generator/tts_providers/mimo_voice.py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内容对齐采用动态规划编辑距离，中文按字、英文按词。S/D/I/N分别为替换/删除/插入/参考单位数。声纹漂移比较当前音频与角色参考，不同于选角阶段跨声音探针比较。接缝使用端点跳变、RMS差、频谱距离、语音端点、两侧静音、计划停顿和是否同一说话人共9维特征。可选多标签逻辑模型接口已实现，但本页不声称已得到真实数据泛化收益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/Users/yinzh/PycharmProjects/EPUB_to_Audio_Converter-1/audiobook_generator/audio_core/boundary_model.py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ArtifactStore使用SQLite。reserve在BEGIN IMMEDIATE事务内读取本次run的全部请求记录并检查次数、追加字符与已用时间，再插入running记录。失败与未完成记录也计入消耗，settle只更新状态。时间上限是请求发起前及修复前的检查，不宣称是操作系统级实时硬截止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/Users/yinzh/PycharmProjects/EPUB_to_Audio_Converter-1/audiobook_generator/audio_core/repair.py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对应pipeline.preserves_checks与attempt_repair。复检范围是目标分块和左右相邻接缝。候选不能新增已确认严重错误，原passed维度仍须passed，已有内容对齐误差不能增加。随后对本块与边界报告的rank各分量求和，按Python元组字典序比较，只有严格改善才采用。重分块候选还必须通过内部接缝的内容与信号检查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/Users/yinzh/PycharmProjects/EPUB_to_Audio_Converter-1/docs/MiMo尾部重复检测与裁切.md</a:t>
            </a:r>
          </a:p>
          <a:p xmlns:a="http://schemas.openxmlformats.org/drawingml/2006/main">
            <a:r>
              <a:t>/Users/yinzh/PycharmProjects/EPUB_to_Audio_Converter-1/audiobook_generator/audio_core/tail_repeat.py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/Users/yinzh/PycharmProjects/EPUB_to_Audio_Converter-1/audiobook_generator/audio_core/audio.py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/Users/yinzh/PycharmProjects/EPUB_to_Audio_Converter-1/docs/MiMo尾部重复检测与裁切.md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/Users/yinzh/PycharmProjects/EPUB_to_Audio_Converter-1/audiobook_generator/audio_core/review_queue.py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/Users/yinzh/PycharmProjects/EPUB_to_Audio_Converter-1/docs/validation/role_resplit_guard_20261018/README.md</a:t>
            </a:r>
          </a:p>
          <a:p xmlns:a="http://schemas.openxmlformats.org/drawingml/2006/main">
            <a:r>
              <a:t>/Users/yinzh/PycharmProjects/EPUB_to_Audio_Converter-1/docs/validation/webui_spawn_workflow_20261017/README.md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/Users/yinzh/PycharmProjects/EPUB_to_Audio_Converter-1/docs/validation/role_resplit_guard_20261018/README.md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c89f88b6d049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0f2acc8014c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99476ef4a49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f9507687d43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26b7e4e6b74c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32f44f9dd849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051D5A-C154-4A1B-80CB-44467202B1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34F89C-1E0C-436D-9F15-ED624DB914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04783A-E445-4D83-875E-59A0DDACA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7743FD-0021-469A-A1E6-4CF541D83E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991709-074D-4258-8BDA-E9CE2EA373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E86B0B-F572-435B-9E69-FC72F9316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779511-7F2D-4CA9-8FEE-36A5DADB90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08A53BE-8BEC-48D3-B083-2507CAB2AE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DFC57A-FBE1-428B-9F6B-8E47CFA76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815CE8-FA01-4762-9850-D4E0CD004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330aede079412b" /><Relationship Type="http://schemas.openxmlformats.org/officeDocument/2006/relationships/slideLayout" Target="/ppt/slideLayouts/slideLayout1.xml" Id="Rddbd29c4bb7743ab" /><Relationship Type="http://schemas.openxmlformats.org/officeDocument/2006/relationships/slideLayout" Target="/ppt/slideLayouts/slideLayout2.xml" Id="R498a51d5ad4248ff" /><Relationship Type="http://schemas.openxmlformats.org/officeDocument/2006/relationships/slideLayout" Target="/ppt/slideLayouts/slideLayout3.xml" Id="R97ada4dde53a488d" /><Relationship Type="http://schemas.openxmlformats.org/officeDocument/2006/relationships/slideLayout" Target="/ppt/slideLayouts/slideLayout4.xml" Id="R68709c1ee0ca4b51" /><Relationship Type="http://schemas.openxmlformats.org/officeDocument/2006/relationships/slideLayout" Target="/ppt/slideLayouts/slideLayout5.xml" Id="R2bb27e1b4bc241f0" /><Relationship Type="http://schemas.openxmlformats.org/officeDocument/2006/relationships/slideLayout" Target="/ppt/slideLayouts/slideLayout6.xml" Id="R16a432cc4e7742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bd29c4bb7743ab"/>
    <p:sldLayoutId xmlns:r="http://schemas.openxmlformats.org/officeDocument/2006/relationships" id="2147483650" r:id="R498a51d5ad4248ff"/>
    <p:sldLayoutId xmlns:r="http://schemas.openxmlformats.org/officeDocument/2006/relationships" id="2147483651" r:id="R97ada4dde53a488d"/>
    <p:sldLayoutId xmlns:r="http://schemas.openxmlformats.org/officeDocument/2006/relationships" id="2147483652" r:id="R68709c1ee0ca4b51"/>
    <p:sldLayoutId xmlns:r="http://schemas.openxmlformats.org/officeDocument/2006/relationships" id="2147483653" r:id="R2bb27e1b4bc241f0"/>
    <p:sldLayoutId xmlns:r="http://schemas.openxmlformats.org/officeDocument/2006/relationships" id="2147483654" r:id="R16a432cc4e7742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e1c6a6d5ff4937" /><Relationship Type="http://schemas.openxmlformats.org/officeDocument/2006/relationships/notesSlide" Target="/ppt/notesSlides/notesSlide1.xml" Id="Rcf8474f6f2cf41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e964280fde478b" /><Relationship Type="http://schemas.openxmlformats.org/officeDocument/2006/relationships/image" Target="/ppt/media/image.jpeg" Id="Rdd2e07d4fec147ba" /><Relationship Type="http://schemas.openxmlformats.org/officeDocument/2006/relationships/notesSlide" Target="/ppt/notesSlides/notesSlide2.xml" Id="R75049fd3a85542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701909da0949b0" /><Relationship Type="http://schemas.openxmlformats.org/officeDocument/2006/relationships/notesSlide" Target="/ppt/notesSlides/notesSlide3.xml" Id="R972a3613410640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c6211ad1954b93" /><Relationship Type="http://schemas.openxmlformats.org/officeDocument/2006/relationships/notesSlide" Target="/ppt/notesSlides/notesSlide4.xml" Id="Rd175a71f91c542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8493da10104db6" /><Relationship Type="http://schemas.openxmlformats.org/officeDocument/2006/relationships/notesSlide" Target="/ppt/notesSlides/notesSlide5.xml" Id="Rff302d970f5546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8f1a0d20064ee5" /><Relationship Type="http://schemas.openxmlformats.org/officeDocument/2006/relationships/notesSlide" Target="/ppt/notesSlides/notesSlide6.xml" Id="R113497fba43740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031ca75f024a3c" /><Relationship Type="http://schemas.openxmlformats.org/officeDocument/2006/relationships/notesSlide" Target="/ppt/notesSlides/notesSlide7.xml" Id="R57ce6755ae6347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ac8a25ef0a49c3" /><Relationship Type="http://schemas.openxmlformats.org/officeDocument/2006/relationships/notesSlide" Target="/ppt/notesSlides/notesSlide8.xml" Id="R826b2487839f45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2ebc9e283b403a" /><Relationship Type="http://schemas.openxmlformats.org/officeDocument/2006/relationships/notesSlide" Target="/ppt/notesSlides/notesSlide9.xml" Id="R7c8c4ed27e5346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ca70ff0123408d" /><Relationship Type="http://schemas.openxmlformats.org/officeDocument/2006/relationships/notesSlide" Target="/ppt/notesSlides/notesSlide10.xml" Id="R54e9aa761eb643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02aa217f974d0f" /><Relationship Type="http://schemas.openxmlformats.org/officeDocument/2006/relationships/notesSlide" Target="/ppt/notesSlides/notesSlide11.xml" Id="Rb5f679b8f09249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62d232d0154b3c" /><Relationship Type="http://schemas.openxmlformats.org/officeDocument/2006/relationships/notesSlide" Target="/ppt/notesSlides/notesSlide12.xml" Id="Raeeea76475cf44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938e6f09064d41" /><Relationship Type="http://schemas.openxmlformats.org/officeDocument/2006/relationships/notesSlide" Target="/ppt/notesSlides/notesSlide13.xml" Id="Re79eea1bb4584d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23ca793a7640c3" /><Relationship Type="http://schemas.openxmlformats.org/officeDocument/2006/relationships/notesSlide" Target="/ppt/notesSlides/notesSlide14.xml" Id="R40f8c68951e1424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a79d96c18245c8" /><Relationship Type="http://schemas.openxmlformats.org/officeDocument/2006/relationships/notesSlide" Target="/ppt/notesSlides/notesSlide15.xml" Id="R5839267e411140c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38ae5bf964949" /><Relationship Type="http://schemas.openxmlformats.org/officeDocument/2006/relationships/notesSlide" Target="/ppt/notesSlides/notesSlide16.xml" Id="R823bcd0e797f490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4b48e84d854029" /><Relationship Type="http://schemas.openxmlformats.org/officeDocument/2006/relationships/notesSlide" Target="/ppt/notesSlides/notesSlide17.xml" Id="R2c57c4aa01a2404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f165da44174e40" /><Relationship Type="http://schemas.openxmlformats.org/officeDocument/2006/relationships/notesSlide" Target="/ppt/notesSlides/notesSlide18.xml" Id="R82694a7be5154b5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8f744a95634013" /><Relationship Type="http://schemas.openxmlformats.org/officeDocument/2006/relationships/notesSlide" Target="/ppt/notesSlides/notesSlide19.xml" Id="R95ef05eb9103434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f7b0dfa3ae4752" /><Relationship Type="http://schemas.openxmlformats.org/officeDocument/2006/relationships/notesSlide" Target="/ppt/notesSlides/notesSlide20.xml" Id="R65e419a137af43f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a2ad56d9804a0f" /><Relationship Type="http://schemas.openxmlformats.org/officeDocument/2006/relationships/notesSlide" Target="/ppt/notesSlides/notesSlide21.xml" Id="R1728638c04ac448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09461e30e144a6" /><Relationship Type="http://schemas.openxmlformats.org/officeDocument/2006/relationships/notesSlide" Target="/ppt/notesSlides/notesSlide22.xml" Id="Rc47bcf497ce3414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308971c1e42a4" /><Relationship Type="http://schemas.openxmlformats.org/officeDocument/2006/relationships/notesSlide" Target="/ppt/notesSlides/notesSlide23.xml" Id="R1d2293023f0b40f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6542c30efb469b" /><Relationship Type="http://schemas.openxmlformats.org/officeDocument/2006/relationships/notesSlide" Target="/ppt/notesSlides/notesSlide24.xml" Id="R05c8d6d287f449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002E2-C8E2-40CF-AA6B-C4D0D3A3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多角色有声书生成与质量控制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22FAD-1A9C-4AF6-8D27-63443220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BB423-5E05-46F3-BA1C-7981F17E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项目进展与创新实现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FC4D1-A565-4C88-B7AA-C3581807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rPr>
              <a:t>原文可追溯的角色编排</a:t>
            </a:r>
          </a:p>
          <a:p xmlns:a="http://schemas.openxmlformats.org/drawingml/2006/main">
            <a:pPr>
              <a:buNone/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rPr>
              <a:t>面向黑盒 TTS 的资源受限修复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D9FA3-0D84-409B-9B87-8F8BA9F6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97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rPr>
              <a:t>阶段汇报    2026 年 10 月 18 日</a:t>
            </a:r>
          </a:p>
        </p:txBody>
      </p:sp>
    </p:spTree>
    <p:extLst>
      <p:ext uri="{BB962C8B-B14F-4D97-AF65-F5344CB8AC3E}">
        <p14:creationId xmlns:p14="http://schemas.microsoft.com/office/powerpoint/2010/main" val="12587120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16ED0-1AC5-4DA8-817B-6BA5645A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项目目标与产品形态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F2083-9FC4-45E0-9431-461DF91B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52B8C-4ADB-4CD3-B58A-F2EB2A2EEC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e07d4fec147ba"/>
          <a:stretch xmlns:a="http://schemas.openxmlformats.org/drawingml/2006/main"/>
        </p:blipFill>
        <p:spPr>
          <a:xfrm xmlns:a="http://schemas.openxmlformats.org/drawingml/2006/main">
            <a:off x="609600" y="1691271"/>
            <a:ext cx="6953250" cy="391360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27384-F957-49DC-8D15-61119D8C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526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面向长篇阅读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9C03B-9F75-41A2-9CFB-59C94774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1932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电子书解析、章节选择、</a:t>
            </a:r>
          </a:p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旁白与人物分声。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D85A6-0251-433C-B499-A7BE6A1E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623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面向制作返工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A4E3B-84E4-46C5-B12E-A86BE6C8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2907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定位问题片段，保留原件，</a:t>
            </a:r>
          </a:p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减少整章重复生成。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062B5-3D7E-4303-AAF7-19052D74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左图为 10 月 12 日既有界面实拍，新增工作流采用后续流程图说明</a:t>
            </a:r>
          </a:p>
        </p:txBody>
      </p:sp>
    </p:spTree>
    <p:extLst>
      <p:ext uri="{BB962C8B-B14F-4D97-AF65-F5344CB8AC3E}">
        <p14:creationId xmlns:p14="http://schemas.microsoft.com/office/powerpoint/2010/main" val="1545605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5F83B-4CCD-40C4-82B3-4D20BAEA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目前已经实现的能力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47067-9FEA-439E-99B3-327B1638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04031-EAE6-4BF7-A6E6-2B7F343216C9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5143500"/>
                <a:gridCol w="3924300"/>
              </a:tblGrid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已实现能力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当前范围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书籍与剧本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章节解析、人物与别名、原文区间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中英文文本，人工可纠正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声音编排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内置声音、固定描述、参考音克隆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角色参数与声音锁定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音频生产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持久缓存、PCM 组装、编码复检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统一核心仅接 MiMo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质量闭环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四维筛查、局部修复、报告与试听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规则策略及局部案例验证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网页工作流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章节选择、确认保护、资源库下载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后台链路已核验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7248B-AB43-4674-90B3-51DAE9C9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原有转换器支持多引擎；新统一核心与混合声音工作流本轮聚焦 MiMo</a:t>
            </a:r>
          </a:p>
        </p:txBody>
      </p:sp>
    </p:spTree>
    <p:extLst>
      <p:ext uri="{BB962C8B-B14F-4D97-AF65-F5344CB8AC3E}">
        <p14:creationId xmlns:p14="http://schemas.microsoft.com/office/powerpoint/2010/main" val="64362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B40E0-741B-43F3-93FB-5581AEDB9FF8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5743575" y="430530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13878-96B2-457F-80D6-6C5B714F02D3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8639175" y="430530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587A7-86C1-4542-93AE-C786BACCAD17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0415588" y="2752725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3EB40-CDAD-4CDB-AE9E-F33BC347623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39175" y="230505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8B3A2-549E-47C4-89F1-DA7CFDD8FEE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43575" y="230505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27B07-ADA3-4AF4-80D2-46BB146486C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47975" y="230505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C499FD-A9CD-4761-8B43-67122248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统一生成流程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95CF2-2FCB-4C8F-B7C1-F9FBBB88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E69EE-6478-4EF9-A034-F366CDD1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书籍原文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章节与来源区间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7ECCE-5592-4CE4-95F9-35999B42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57375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角色剧本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归属与声音配置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81E77-4AE7-4EB0-AAE1-0559EC21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57375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朗读计划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规范化与分块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F3C0A-6273-4C76-A5B1-C02F9174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57375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MiMo 合成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请求与原始样本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5E9C8-AB81-4355-9434-2D3D62F6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57625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质量检查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块、接缝、角色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F6611-93C6-44DF-AF21-73FE7074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57625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受限修复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候选比较与复检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451D2-ED62-4345-85E4-CA2C3A06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57625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章节输出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音频与质量报告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D63AA-1C47-45F5-9589-2723438F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原文映射、音频指纹和请求账本贯穿执行过程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4386A-96C2-4FF9-9590-D362B86F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普通旁白与角色朗读复用同一核心，质量状态与文件生成状态分别记录</a:t>
            </a:r>
          </a:p>
        </p:txBody>
      </p:sp>
    </p:spTree>
    <p:extLst>
      <p:ext uri="{BB962C8B-B14F-4D97-AF65-F5344CB8AC3E}">
        <p14:creationId xmlns:p14="http://schemas.microsoft.com/office/powerpoint/2010/main" val="1168513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5D71B-3A65-4BD9-885C-5A8FEDAC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创新点与实现层次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825CE-F5B6-416A-875E-79BDF6C0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E4F09-FA95-4AFB-A1BD-BDC33DEECEA7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73818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候选创新方向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具体解决的问题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实现基础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原文约束的角色编排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剧本改写、身份混淆、视角换章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来源区间、实体与叙述证据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资源受限的音频修复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重复、长停顿与无控制的返工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分层质检、请求账本、候选选择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面向辨识的混合选角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有限声音资源与相似角色混淆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共同探针、互动图、声音卡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FBDBB-49AC-4E8C-BB09-EDF359F8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共用基础：朗读规范化、跨块连续性、质量评估与证据记录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48B2F-EFEC-4562-BE26-F3B353EB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这些是可研究的方法方向；新颖性和效果仍需相关工作对照与独立实验</a:t>
            </a:r>
          </a:p>
        </p:txBody>
      </p:sp>
    </p:spTree>
    <p:extLst>
      <p:ext uri="{BB962C8B-B14F-4D97-AF65-F5344CB8AC3E}">
        <p14:creationId xmlns:p14="http://schemas.microsoft.com/office/powerpoint/2010/main" val="188369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DD079-158A-4609-A9ED-AEAE2950EFBD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986713" y="2809875"/>
            <a:ext cx="881063" cy="990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4A25A-B72B-4FFB-97D2-D92DA3E6359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048375" y="2362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E64B5-20C3-43B4-9296-026EEE6D011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43225" y="2362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811AE-25E9-412E-B39B-28113956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创新一：原文约束与叙述声音身份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6C79E-32B0-4BD4-ADD1-2892E90C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A30B4-6C2F-4C3D-A96B-78BD0E67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2333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本章原文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稳定人物 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266E1-65C0-4C83-8B78-C8E53A97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14525"/>
            <a:ext cx="2333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模型提出归属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叙述或对白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12F02-B635-4A7B-9B65-CDB3F6DD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14525"/>
            <a:ext cx="2333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本地校验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逐字覆盖与引文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6AC30-D5FB-40B8-B290-801F21E6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00475"/>
            <a:ext cx="4095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人物自述与本人对白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共用声音档案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AC153-E6C4-4FC7-A603-C7F91B35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50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证据不足时保留默认旁白并提示复核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B8EA6-38BD-4D1A-B6C3-39ADCF2C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每章独立判断叙述视角</a:t>
            </a:r>
          </a:p>
          <a:p xmlns:a="http://schemas.openxmlformats.org/drawingml/2006/main">
            <a:pPr>
              <a:buNone/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不把上一章的叙述者直接沿用到下一章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EC3B5-F03A-447C-989B-8E33A7F0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Flipped 两章已做真实文字诊断性复核；不能据此报告自动归属准确率</a:t>
            </a:r>
          </a:p>
        </p:txBody>
      </p:sp>
    </p:spTree>
    <p:extLst>
      <p:ext uri="{BB962C8B-B14F-4D97-AF65-F5344CB8AC3E}">
        <p14:creationId xmlns:p14="http://schemas.microsoft.com/office/powerpoint/2010/main" val="1058803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C67A2-B35B-4676-A07B-B719018CDF9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77125" y="312420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47C52-2A77-4897-B55D-9E6D3A38E97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71850" y="312420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91347-F1EE-46F0-A7A9-DB00024C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技术原理：原文区间与身份约束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A6F92-ECB3-4C33-9882-2DE7E82E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9E192-9DD7-4859-B83D-B14E8223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分段文本 = S[start:end]     相邻分段 end = 下一段 start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E34B2-6DB5-44D5-B364-DA8752FF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模型输出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文本区间与人物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0A4C3-A696-4F2F-B398-068D1D9E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本地校验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完整覆盖与引文匹配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C7216-9573-4ED0-AA37-9936847A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声音解析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人物 ID 绑定档案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F67B2-8B8C-4DB2-9904-E4919934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叙述身份与声音配置分开保存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1ABBA-4E97-4444-B3F7-11149B86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每章单独记录叙述者及原文证据。确认人物自述后，让叙述与该人物对白复用同一声音档案。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BCB95-8D87-43EB-BAC1-AED15BA0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区间覆盖可发现增删或错位；说话人语义仍需证据与人工复核</a:t>
            </a:r>
          </a:p>
        </p:txBody>
      </p:sp>
    </p:spTree>
    <p:extLst>
      <p:ext uri="{BB962C8B-B14F-4D97-AF65-F5344CB8AC3E}">
        <p14:creationId xmlns:p14="http://schemas.microsoft.com/office/powerpoint/2010/main" val="21036296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DB561-1E1C-4C01-8DAD-CFFBCB82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朗读规范化与内容比较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189DA-A7ED-4FE6-BF01-19AE7BA6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2E061-ECF2-48BC-8974-6E9D560228E0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286250"/>
                <a:gridCol w="4686300"/>
              </a:tblGrid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示例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实现原则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书籍原文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增长 3.5%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原文与来源位置保持不变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合成读法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增长百分之三点五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明确规则或用户词典，记录转换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内容核验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 books / twenty books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有限等价比较，英文保留词界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歧义内容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编号、独立年份、专名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保留复核，避免擅自改写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059F3-7DE5-446F-98AE-6C3850B9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中文按字计算 CER，英文按词计算 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D48E8-20E7-48E6-A0BB-96D86BC1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ASR 同字转写不能证明多音字读音正确；读法词典也不能代替实际试听</a:t>
            </a:r>
          </a:p>
        </p:txBody>
      </p:sp>
    </p:spTree>
    <p:extLst>
      <p:ext uri="{BB962C8B-B14F-4D97-AF65-F5344CB8AC3E}">
        <p14:creationId xmlns:p14="http://schemas.microsoft.com/office/powerpoint/2010/main" val="1903736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B7F6C-BEBB-4F66-A828-6D8EAD2C45FB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4619625" y="30480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4F2B9-5B6E-4932-9C73-768E0254B12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476500" y="266700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6D702A-7D06-4052-BDB2-77B31CFD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创新二：角色互动图与混合选角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FA5F0-5842-4580-BD60-BCB53D3C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13924-9C51-4E92-8524-953BC42D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角色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AF081-9D4E-44EC-B168-2DC24B4F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8600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角色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9E6AE-E28A-4E06-93C2-01AE068F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角色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00FF2-3375-4EB0-8B38-157570D9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192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频繁对话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5C2A8-2B86-4A88-BBBA-E10F5883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292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互动频次形成边权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F5CD6-40CC-4786-9273-735EF35A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764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声音分配目标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CD336-827B-4F1E-888B-C073E787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43125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优先拉开频繁互动角色的声音差异。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6F17D-3503-4041-BABF-C9586394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146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约束与资源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2D88F-DC10-4C65-BBFE-DFC4141C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81375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保留人工锁定，结合适配评分；</a:t>
            </a:r>
          </a:p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内置声音不足时使用固定声音卡。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75CFD-8267-4FDA-9542-2F146DD4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2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求解方法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4B3B4-DA43-4688-ACAC-8148D500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19625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小规模精确枚举，超限搜索回退。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39ED08-2C24-4725-83A9-695D0116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图为方法示意，边权未填入实验数值；声纹距离只是听众混淆风险的代理</a:t>
            </a:r>
          </a:p>
        </p:txBody>
      </p:sp>
    </p:spTree>
    <p:extLst>
      <p:ext uri="{BB962C8B-B14F-4D97-AF65-F5344CB8AC3E}">
        <p14:creationId xmlns:p14="http://schemas.microsoft.com/office/powerpoint/2010/main" val="6022901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20DB6-FC47-4704-B27E-1B5E17E5EF4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77125" y="214312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DB1FD-8170-438B-B2AA-06EFCA540436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71850" y="214312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DCBFA-1127-4CF9-91F2-CAC4D3A4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技术原理：共同探针与声音距离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B4F7B-EB64-4350-957D-9DEA848E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2E5A2-0F31-4BEF-BD02-028A7B99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276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相同探针文本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每种声音都朗读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8FBF6-170B-42F1-BB27-1774002B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04975"/>
            <a:ext cx="276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核验探针音频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提取声纹向量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8D455-2AF1-45C7-A5D2-950DFB5F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04975"/>
            <a:ext cx="276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逐文本比较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再汇总跨文本距离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2507E-DFA6-4FE8-A113-D78019C9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单条探针：dₖ = 1 − cos(eᵤₖ, eᵥₖ)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81B1A-D788-4115-A7C9-2BF00127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声音距离：d(u,v) = max(0, mean(dₖ) − 0.25 × std(dₖ))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6C627-788E-4B71-8F83-ECAE882D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相同文本减少语言内容差异的干扰。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跨文本距离波动越大，扣减越多，优先保留稳定的声音区分。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642FE-66FA-48DD-8430-3DD744BD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至少两条共同探针且 verified=true；声纹距离属于混淆风险代理，需听众实验验证</a:t>
            </a:r>
          </a:p>
        </p:txBody>
      </p:sp>
    </p:spTree>
    <p:extLst>
      <p:ext uri="{BB962C8B-B14F-4D97-AF65-F5344CB8AC3E}">
        <p14:creationId xmlns:p14="http://schemas.microsoft.com/office/powerpoint/2010/main" val="6956552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8AEFD-59E6-4533-8D48-0AB82D49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技术原理：互动图选角的目标函数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02571-D9E3-4705-A2DE-4F56F621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29369-51C0-4013-A7A8-EFB24613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最小化 J(f) = Σ wᵢⱼ × exp(−d(f(i),f(j)) / 0.25)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FCEC2-CD21-481A-9C15-0D50BF0F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                         + 0.1 × Σ P(i,f(i)) + 0.05 × M(f)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6BD16-2ED0-4A26-B3CE-CF3D3186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互动权重决定优先级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BD3D2-6AFC-4FAA-AF17-ABD1CC84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相邻角色轮换累计边权。频繁对话的角色若声音接近，会产生更大的混淆惩罚。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FF4FE-7E6A-4D91-982C-515D0F33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硬约束与搜索范围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C61CE-0AD8-432C-AAFF-6F92A43B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锁定声音必须保留，可启用旁白独占和声音不复用。</a:t>
            </a:r>
          </a:p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分配方案数 ≤4096 时枚举，超限采用贪心及局部交换。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8AE8E-0747-45D9-8086-D35A5993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f 为角色到声音的映射，P 为适配惩罚，M 为换声数；最优性只针对当前代理目标</a:t>
            </a:r>
          </a:p>
        </p:txBody>
      </p:sp>
    </p:spTree>
    <p:extLst>
      <p:ext uri="{BB962C8B-B14F-4D97-AF65-F5344CB8AC3E}">
        <p14:creationId xmlns:p14="http://schemas.microsoft.com/office/powerpoint/2010/main" val="2130953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C8D09-07B4-4BCA-9C71-4AFB9D7E086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229475" y="5467350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E577E-46CD-44FA-942C-4C9B7D8FDBB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14700" y="5467350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C50D6-791C-4389-B9F9-C4D328A0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三种声音模式的统一实现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B6F3E-1CE2-4D5B-9E90-8CAB573B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BF08B-2CD4-4C23-B438-0D2A6511EBBB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048125"/>
                <a:gridCol w="4924425"/>
              </a:tblGrid>
              <a:tr h="7143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声音条件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路由与稳定性控制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内置声音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 voice 名称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tts，保留有效角色配置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声音设计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固定描述与表演指令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voicedesign，声音卡 ID 与版本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参考音克隆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参考 WAV 与 SHA256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voiceclone，核对实际参考字节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E37AD-C5A6-42C8-8A76-E2E7A276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14350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角色档案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DEE66-C985-4863-A829-E4BB4782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4350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统一请求解析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8A55B-1727-43F0-A4AD-7E284EC7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14350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模型与缓存条件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4FC27-DC93-450D-9AB7-D8DD5FD7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生成条件参考与质量比对参考分开管理；更换声音版本后不能沿用旧验收</a:t>
            </a:r>
          </a:p>
        </p:txBody>
      </p:sp>
    </p:spTree>
    <p:extLst>
      <p:ext uri="{BB962C8B-B14F-4D97-AF65-F5344CB8AC3E}">
        <p14:creationId xmlns:p14="http://schemas.microsoft.com/office/powerpoint/2010/main" val="20590293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7FD4D-4DD0-47FC-99DC-7CD02F11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质量评估覆盖四个维度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CF32B-9C63-47FF-90EC-1C88E23A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5C54F-F77C-44AB-80B2-E3D3B65708F0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286250"/>
                <a:gridCol w="4876800"/>
              </a:tblGrid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实现方法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需要保留的判断边界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SenseVoice 转写与编辑对齐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ASR 差异属于疑点，可能误报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拼接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端点、能量、频谱和实际停顿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重点检查已知接缝，规则待校准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一致性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ECAPA 声纹、音高与语速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短音频证据不足，情绪会影响指标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信号与编码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削波、静音、响度、解码复检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PCM 保留不等于听感已经通过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3A612-0876-48FB-8B1C-2B6DA19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状态分别记录 passed、failed、incomplete；缺失检查不会自动计为通过</a:t>
            </a:r>
          </a:p>
        </p:txBody>
      </p:sp>
    </p:spTree>
    <p:extLst>
      <p:ext uri="{BB962C8B-B14F-4D97-AF65-F5344CB8AC3E}">
        <p14:creationId xmlns:p14="http://schemas.microsoft.com/office/powerpoint/2010/main" val="17031665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0422E-D5E9-4442-BB44-C53A541784B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896100" y="52387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482EB-DAA9-4202-8EB8-D163E39B309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47975" y="52387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F08F4-0304-4DDF-BB10-8814A131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技术原理：异常指标与接缝上下文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6718E-0AC1-431A-97C6-DEE1EDED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4F1B8-3541-4E8E-A0A0-B8AEDB57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内容缺陷定位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FC2E1-0FAC-409D-B40C-7E7A67EA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CER / WER = (S + D + I) / N</a:t>
            </a:r>
          </a:p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转写后对齐到参考文本，分别定位替换、漏读和多读。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F0D89-4013-4E65-BF3F-E5CA5261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声音一致性筛查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DB29E-E6FB-43DC-918D-E168F14B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声纹漂移 = 1 − cos(e当前, e参考)</a:t>
            </a:r>
          </a:p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结合音高偏移与语速变化提示复核，短音频证据不足时保留未完成状态。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2AF15-2609-485F-AC8D-C59B12C9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238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左块尾部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D8690-C407-4C2B-B9DC-F0B7250D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5775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已知接缝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9 维声学特征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EDE64-81D2-4E31-BECC-438C9EA7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57750"/>
            <a:ext cx="2238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右块开头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536F6-0258-45A8-98A1-891CFBBB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S/D/I 为替换/删除/插入，N 为参考字词数；ASR 与启发式阈值仅提供疑点证据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C0C00-3BF3-4448-9116-4DDBFAAB2D35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5981700" y="42386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6B787-CEF2-4C48-833F-88F50811BBEB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820025" y="2762250"/>
            <a:ext cx="571500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8774C-7420-4791-B387-029ED498891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857875" y="2381250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2BC63-AD55-4623-BB45-25E96C68D98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00350" y="2381250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98F3D-3022-4D20-9F67-66F17FE4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创新三：资源受限的局部修复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285FA-8A6E-4358-8411-AA6A9D40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41961-DAF9-487F-90A9-3A494FC5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发现疑似问题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64D7A-022B-492B-8EDF-8EC46442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002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选择本地处理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或追加合成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94732-08EE-415F-95A1-8E13C3A5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002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检查并预留额度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E9861-05EB-4612-8792-8F3BD966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1000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生成候选并复检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本块与相邻接缝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DFA8C-8EAA-4A89-A12B-E92D9AD9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1000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改善且无退化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才采用候选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141B4-75AA-43C8-8CC1-C602DAF0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限制请求次数、修复次数、追加字符数和运行时间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9365A-36C5-459A-BA4F-D7408E5E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当前为规则驱动策略，不计算实际金额；失败与进行中请求同样占用额度</a:t>
            </a:r>
          </a:p>
        </p:txBody>
      </p:sp>
    </p:spTree>
    <p:extLst>
      <p:ext uri="{BB962C8B-B14F-4D97-AF65-F5344CB8AC3E}">
        <p14:creationId xmlns:p14="http://schemas.microsoft.com/office/powerpoint/2010/main" val="5043046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588F8-AA14-47F8-AB4D-7A628FCC021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77125" y="314325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E5236-209C-48AC-94FA-0CF9D0AD627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71850" y="314325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B0025-63F9-4866-A491-7EEC456A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技术原理：请求账本与资源预留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FA68F-08C0-4D29-90EE-7422352A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DA902-ADB7-4212-B27F-1A3A07AE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资源状态 B =（总请求数，修复请求数，修复字符数，已用时间）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4F841-7E77-4D39-B5F5-29ACE256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追加合成动作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重采样或内容修复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0BD57-A8BA-4587-BB14-D7EBBC0E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SQLite 事务内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检查额度并登记 running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69E4A-A1DA-4431-8ECE-F95FED90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860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调用黑盒 TTS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回填成功或失败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4D2A8-DEDF-4127-ABF3-79FBBF97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预留机制防止重复重试绕过限制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ACC1C-F2E1-4B1B-9277-9BEF4A53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请求发出前先记账，失败和未完成请求同样占用次数。</a:t>
            </a:r>
          </a:p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追加合成还要检查修复字符额度与单块重试上限。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74834-A87A-4413-B6BF-317EBE6E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本地动作另有限次控制；时间在执行前检查，资源统计尚未折算为实际金额</a:t>
            </a:r>
          </a:p>
        </p:txBody>
      </p:sp>
    </p:spTree>
    <p:extLst>
      <p:ext uri="{BB962C8B-B14F-4D97-AF65-F5344CB8AC3E}">
        <p14:creationId xmlns:p14="http://schemas.microsoft.com/office/powerpoint/2010/main" val="15800872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B8393-7DDB-46BC-8B57-357C32CD2AA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896100" y="20383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BA74F-8879-45D0-AD37-D2D7B45540D6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47975" y="20383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E9D98-7E92-43E6-9093-B18B2B2C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技术原理：候选比较与无退化约束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E6AA4-FC53-4004-B8FF-D9073131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7DB60-E660-4020-B79D-6DE7843B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238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左邻块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A0D26-0AAA-4FCE-9EDB-653E1064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修复候选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B59B3-D7A8-448A-AB01-063351B8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657350"/>
            <a:ext cx="2238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右邻块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885F4-7234-455B-923C-0D1A5F2A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第一步：本块与两侧接缝共同复检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FF3B9-20FA-45F3-87F6-AD0D4CC8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不增加已确认严重错误，保住原已通过维度，内容对齐误差不升高。</a:t>
            </a:r>
          </a:p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重分块还要检查新产生的内部接缝。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44E51-6D1D-4D0D-9524-E438B22A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第二步：按优先级严格比较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AE4483-B4A4-45DB-B1AE-A722D0C9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累计报告按严重错误、接缝、一致性、内容、信号及误差排序。</a:t>
            </a:r>
          </a:p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只有无退化且排序改善才替换，否则保留原件与候选记录。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7E068-B31E-4773-B410-C19DA836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检查保证依赖当前检测覆盖范围；机器规则改善仍需局部试听及最终人工验收</a:t>
            </a:r>
          </a:p>
        </p:txBody>
      </p:sp>
    </p:spTree>
    <p:extLst>
      <p:ext uri="{BB962C8B-B14F-4D97-AF65-F5344CB8AC3E}">
        <p14:creationId xmlns:p14="http://schemas.microsoft.com/office/powerpoint/2010/main" val="2097312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423FC-4852-442A-9631-037CB8E83CD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24500" y="5176838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97B89-5937-4793-A1CD-FD84EDC7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尾部重复的检测与安全裁切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D509F-8E1B-4DBF-A645-12146798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E2A2C-9274-41F3-9428-9BB47975D450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86375"/>
                <a:gridCol w="5686425"/>
              </a:tblGrid>
              <a:tr h="6429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证据检查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满足条件后的处理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完整转写显示正文后附加重复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寻找有限数量的低能量停顿切点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切点前正文完整，切点后仅重复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分别转写前后片段，保留比对证据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切点两侧各有 100 ms 保护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仅导出保留完整正文的 PCM 前缀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CB5C4-9A0A-427D-95A2-0FC5D36B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45720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完整正文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6B0EE-07A3-4F1E-85E6-09CF9CF1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00600"/>
            <a:ext cx="33337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852C7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重复尾段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79E54-2EF6-4A31-9DCF-B672E68E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48175"/>
            <a:ext cx="147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安全切点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26CEF-4B2B-4265-8601-21FE5C8F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默认 review；严格条件加显式 auto 才可自动采用，短词或 ASR 歧义继续人工判断</a:t>
            </a:r>
          </a:p>
        </p:txBody>
      </p:sp>
    </p:spTree>
    <p:extLst>
      <p:ext uri="{BB962C8B-B14F-4D97-AF65-F5344CB8AC3E}">
        <p14:creationId xmlns:p14="http://schemas.microsoft.com/office/powerpoint/2010/main" val="7401327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3491E-553E-44EB-BAF0-04999DC0646A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334250" y="4352925"/>
            <a:ext cx="1771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30DE7-1756-49E0-A23E-8A6E4E6D99D2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344150" y="26860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5C3F6-AE49-44CB-9BD0-92D7490109D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334250" y="2257425"/>
            <a:ext cx="1771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E1FDF-404E-4D57-ABF4-CD90A60CE14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86100" y="2257425"/>
            <a:ext cx="1771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CB35E-F3AC-4D77-97A4-B8082C30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可追溯音频产物与安全组装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A70F9-68BD-4DF0-8B70-28859E85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3E8DE-6DF4-43F1-960A-377D7B19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实际请求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模型、文本、声音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4C841-5CE6-40B1-B1A0-CE705F45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288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原始音频缓存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内容指纹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F45F1-EDBA-4863-98E9-EC06EB3C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288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本地渲染产物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操作与参数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E2182-DC46-40D2-BE22-F6EBE402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243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PCM 顺序组装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实际样本时间表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A40AE-9AC2-4354-B89A-C1DC3778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243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最终编码复检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音频与报告绑定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3AEA4-5957-4586-821C-0F4DAB04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每次重采样形成独立样本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本地变速复用原始音频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候选、原件和人工裁决分别保存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AA619-7532-4F24-945C-B5683A5D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样本数、顺序与 SHA256 保证证据对应；同参数缓存复用不冒充新的独立生成</a:t>
            </a:r>
          </a:p>
        </p:txBody>
      </p:sp>
    </p:spTree>
    <p:extLst>
      <p:ext uri="{BB962C8B-B14F-4D97-AF65-F5344CB8AC3E}">
        <p14:creationId xmlns:p14="http://schemas.microsoft.com/office/powerpoint/2010/main" val="5919168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9176E-F003-4D29-AC37-5EE4A45B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真实案例：《Flipped》首章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04F79-9534-4E77-AA37-0C430023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620BB-21E6-4741-8D5A-5CE6C8D9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14,311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0CD2A-5E4A-4BED-9D77-A0DB188D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原文字符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FBBED-3765-425E-85B8-BEE6ED0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4CAF2-53BD-4EE5-A510-32861EE0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角色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2B500-4D17-428B-B7ED-2E29DBE6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16E13-7BF1-4F5C-82CD-3001D886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朗读块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C1E96-63C9-4B85-B66B-27FDB1E7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C1DA5-7152-4CC1-B20F-1715B1DB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接缝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788A8-CB7E-4FB9-9DED-DBBE635F78E6}"/>
              </a:ext>
            </a:extLst>
          </p:cNvPr>
          <p:cNvGraphicFramePr/>
          <p:nvPr/>
        </p:nvGraphicFramePr>
        <p:xfrm>
          <a:off xmlns:a="http://schemas.openxmlformats.org/drawingml/2006/main" x="609600" y="3743325"/>
          <a:ext xmlns:a="http://schemas.openxmlformats.org/drawingml/2006/main" cx="109728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8877300"/>
              </a:tblGrid>
              <a:tr h="4881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实际完成内容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首次整章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完成约 15 分 32 秒原始版本，保留原音频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克隆扩展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67 次新请求，Bryce 参考音克隆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局部修订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重复、停顿与发音重启处理，最新候选约 17 分 34 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F92D9-99DD-4C63-A6D1-588DFB5E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不同声音版本的时长不能直接比较质量；局部接受不代表整章或整书全部验收</a:t>
            </a:r>
          </a:p>
        </p:txBody>
      </p:sp>
    </p:spTree>
    <p:extLst>
      <p:ext uri="{BB962C8B-B14F-4D97-AF65-F5344CB8AC3E}">
        <p14:creationId xmlns:p14="http://schemas.microsoft.com/office/powerpoint/2010/main" val="68528161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ED4D5-4CC5-4943-A63C-57DEC7AB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已接受的局部修复案例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7EA46-9989-4EB4-B27A-485B52C7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A7CF7-1B6D-43EC-AE58-1C8EBE4844B7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095750"/>
                <a:gridCol w="44005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实际问题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处理方法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验证与接受范围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R039 读完后重复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保留完整前缀，移除异常尾段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保留语音 PCM 不变，局部试听接受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R018 多次 No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保留原文要求的三次 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前后分段核验，局部试听接受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J076 停顿过长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移除已确认静音中央部分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新上下文约 1 秒，试听接受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R034 发音重启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C’mon 展开为 Come on!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单次追加合成，发音与接缝接受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C75D1-8DDC-4FD6-B48A-E91AA2BC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已归档 10 个接受案例，全部来自同书同章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5ED96-1765-4276-BBCA-35D40C84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回顾案例具有来源依赖，不据此计算无偏成功率或声称跨书籍泛化</a:t>
            </a:r>
          </a:p>
        </p:txBody>
      </p:sp>
    </p:spTree>
    <p:extLst>
      <p:ext uri="{BB962C8B-B14F-4D97-AF65-F5344CB8AC3E}">
        <p14:creationId xmlns:p14="http://schemas.microsoft.com/office/powerpoint/2010/main" val="9817600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2937A-98B7-4347-AC39-5FAC78E7180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143750" y="2233613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0151F-2850-4260-AFD2-DECC9784A73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33725" y="2233613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B671A-1287-4884-AF75-D5F0296C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集中复核与听众辨识材料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6B843-C21D-407F-A555-3ABFD55A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5D6DC-691A-411B-9A46-2CE6D725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2524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133 条机器提示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2A854-E75A-45EF-A37C-2025C46B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28800"/>
            <a:ext cx="2524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48 个定位窗口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3EAC3-272C-43FE-B0C6-04822EA6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2880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9 段不重叠路线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FB620-9E9B-4FD0-A082-EC6A6472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保留全部诊断，合并重叠上下文，减少同一音频反复试听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61806-1DFB-4D5A-9C9A-9CDE6F00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复核安排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82FCF-91B4-4584-9156-D3920F37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默认路线累计 973.04 秒；原重叠窗口累计 1629.20 秒。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58C93-F4B2-4A43-BCF7-9B346377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辨识先导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07C16-7DF9-402F-8D42-DF0EE13C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36 题已导出，九章材料质量预审通过，尚无真实辨识答案。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38763-31A4-4ADD-9618-00C7910A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本批互动图与随机分配相同，不能据此报告两者效果差异；播放器浏览器验收待完成</a:t>
            </a:r>
          </a:p>
        </p:txBody>
      </p:sp>
    </p:spTree>
    <p:extLst>
      <p:ext uri="{BB962C8B-B14F-4D97-AF65-F5344CB8AC3E}">
        <p14:creationId xmlns:p14="http://schemas.microsoft.com/office/powerpoint/2010/main" val="5311940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2E054-CB6D-4DDA-88E8-19101ACC618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391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036BE-FD01-479F-9A7C-FCA64DADF18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435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BF7AE-F201-4361-BD5D-D8B323411689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479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3573B-B97F-4A85-856D-3BF52AF2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网页工作流的状态与并发保护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71E61-CE7B-4D70-A06B-36C55508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0EE62-5459-49A4-B801-D2800E1D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238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上传书籍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按章选择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E324D-EDFC-4B29-B7B6-D3D52BCE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24050"/>
            <a:ext cx="2238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拆分中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旧确认立即作废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3E944-AE0E-45C8-8DB4-8BDCC11D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2238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核对声音与归属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重新确认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8C31E-0847-4900-8106-AE0D60FA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2238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生成与下载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报告和资源库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2072B-32D3-488B-8749-746B7CFC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同一书籍的保存、确认与生成启动共享操作锁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C43D7-4B93-49DC-8E85-EC7250CC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810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拆分期间拒绝旧确认启动；远端请求期间不持锁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关闭反馈流不会提前释放仍在工作的线程</a:t>
            </a:r>
          </a:p>
          <a:p xmlns:a="http://schemas.openxmlformats.org/drawingml/2006/main">
            <a:pPr>
              <a:buNone/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后台真实 spawn 与本机 SDK 替身覆盖成功、缓存和失败分支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F1C84-9480-4AB9-BE72-707D3907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这是源码与后台链路验证；新增控件的浏览器视觉及真实操作体验仍待验收</a:t>
            </a:r>
          </a:p>
        </p:txBody>
      </p:sp>
    </p:spTree>
    <p:extLst>
      <p:ext uri="{BB962C8B-B14F-4D97-AF65-F5344CB8AC3E}">
        <p14:creationId xmlns:p14="http://schemas.microsoft.com/office/powerpoint/2010/main" val="28469969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E0E6C-8582-433C-A08D-D7E3DD6D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当前成果与后续重点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88580-117C-4826-8564-385D29B9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FD5B2-D87D-4B6D-8C7F-60B9C146E995}"/>
              </a:ext>
            </a:extLst>
          </p:cNvPr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4953000"/>
                <a:gridCol w="4352925"/>
              </a:tblGrid>
              <a:tr h="65913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目前成果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下一步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5913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工程核心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统一管线、角色声音、质检与局部修复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 MiMo 网页上传、确认、生成和下载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913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真实案例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Flipped 首章、局部接受与声音小试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集中完成冻结版本核验，扩大实际使用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5913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研究准备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36 题先导、标注与边界训练入口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独立来源、阈值校准与听众辨识实验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913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适配范围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原转换器多引擎，统一核心仅 MiMo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 TTS／VoxCPM 适配暂缓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04771-3445-4E03-8A49-5B4F442D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最新保存回归：674 项，644 通过，30 项环境跳过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45A65-08B5-446D-BBAE-D144BB1C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研究实验与新引擎适配当前暂缓；工程测试数量不能替代缺陷检出率或听众收益</a:t>
            </a:r>
          </a:p>
        </p:txBody>
      </p:sp>
    </p:spTree>
    <p:extLst>
      <p:ext uri="{BB962C8B-B14F-4D97-AF65-F5344CB8AC3E}">
        <p14:creationId xmlns:p14="http://schemas.microsoft.com/office/powerpoint/2010/main" val="88011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2026-10-18T05:52:06.5290000Z</dcterms:created>
  <dcterms:modified xsi:type="dcterms:W3CDTF">2026-10-18T05:52:06.5290000Z</dcterms:modified>
</coreProperties>
</file>