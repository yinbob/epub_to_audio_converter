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e2e0e2a1924efa" /><Relationship Type="http://schemas.openxmlformats.org/officeDocument/2006/relationships/extended-properties" Target="/docProps/app.xml" Id="Rd49e017139a04a9c" /><Relationship Type="http://schemas.openxmlformats.org/officeDocument/2006/relationships/officeDocument" Target="/ppt/presentation.xml" Id="R83ba91ea661846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74800aa0584fdd"/>
  </p:sldMasterIdLst>
  <p:notesMasterIdLst>
    <p:notesMasterId xmlns:r="http://schemas.openxmlformats.org/officeDocument/2006/relationships" r:id="R9e8ef34767cd4796"/>
  </p:notesMasterIdLst>
  <p:sldIdLst>
    <p:sldId xmlns:r="http://schemas.openxmlformats.org/officeDocument/2006/relationships" id="256" r:id="R86585e1f44e1436e"/>
    <p:sldId xmlns:r="http://schemas.openxmlformats.org/officeDocument/2006/relationships" id="257" r:id="R5ad607003c894ae2"/>
    <p:sldId xmlns:r="http://schemas.openxmlformats.org/officeDocument/2006/relationships" id="258" r:id="Rbaa3f298100743c0"/>
    <p:sldId xmlns:r="http://schemas.openxmlformats.org/officeDocument/2006/relationships" id="259" r:id="R4e3240d53e5e4593"/>
    <p:sldId xmlns:r="http://schemas.openxmlformats.org/officeDocument/2006/relationships" id="260" r:id="Rbd11d8229f0a4457"/>
    <p:sldId xmlns:r="http://schemas.openxmlformats.org/officeDocument/2006/relationships" id="261" r:id="R5970a7e1081c4af8"/>
    <p:sldId xmlns:r="http://schemas.openxmlformats.org/officeDocument/2006/relationships" id="262" r:id="R3ee9ae31ba8248fb"/>
    <p:sldId xmlns:r="http://schemas.openxmlformats.org/officeDocument/2006/relationships" id="263" r:id="Re2694a5d1f904bc4"/>
    <p:sldId xmlns:r="http://schemas.openxmlformats.org/officeDocument/2006/relationships" id="264" r:id="R2846c69b62984157"/>
    <p:sldId xmlns:r="http://schemas.openxmlformats.org/officeDocument/2006/relationships" id="265" r:id="R14ebff7c784142f3"/>
    <p:sldId xmlns:r="http://schemas.openxmlformats.org/officeDocument/2006/relationships" id="266" r:id="Re1a62c33d43e4d54"/>
    <p:sldId xmlns:r="http://schemas.openxmlformats.org/officeDocument/2006/relationships" id="267" r:id="R0da5c9cd5508470a"/>
    <p:sldId xmlns:r="http://schemas.openxmlformats.org/officeDocument/2006/relationships" id="268" r:id="R032d6524394740b6"/>
    <p:sldId xmlns:r="http://schemas.openxmlformats.org/officeDocument/2006/relationships" id="269" r:id="R4af980fab64e435c"/>
    <p:sldId xmlns:r="http://schemas.openxmlformats.org/officeDocument/2006/relationships" id="270" r:id="Rd284ba8ce3a54aaa"/>
    <p:sldId xmlns:r="http://schemas.openxmlformats.org/officeDocument/2006/relationships" id="271" r:id="Re0c1f3ff1e554137"/>
    <p:sldId xmlns:r="http://schemas.openxmlformats.org/officeDocument/2006/relationships" id="272" r:id="R5d74ed6b60e947df"/>
    <p:sldId xmlns:r="http://schemas.openxmlformats.org/officeDocument/2006/relationships" id="273" r:id="Rc6d21bae146a4096"/>
    <p:sldId xmlns:r="http://schemas.openxmlformats.org/officeDocument/2006/relationships" id="274" r:id="R25ca832f2d66453b"/>
    <p:sldId xmlns:r="http://schemas.openxmlformats.org/officeDocument/2006/relationships" id="275" r:id="Rd0198657fbd842d2"/>
    <p:sldId xmlns:r="http://schemas.openxmlformats.org/officeDocument/2006/relationships" id="276" r:id="Ra2c2f2aa0a494169"/>
    <p:sldId xmlns:r="http://schemas.openxmlformats.org/officeDocument/2006/relationships" id="277" r:id="R22d6eae6da8d4bbc"/>
    <p:sldId xmlns:r="http://schemas.openxmlformats.org/officeDocument/2006/relationships" id="278" r:id="R1d65a6e158e74a18"/>
    <p:sldId xmlns:r="http://schemas.openxmlformats.org/officeDocument/2006/relationships" id="279" r:id="R11e46e444d1c40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8f0ae3ba3247de" /><Relationship Type="http://schemas.openxmlformats.org/officeDocument/2006/relationships/slideMaster" Target="/ppt/slideMasters/slideMaster1.xml" Id="R7074800aa0584fdd" /><Relationship Type="http://schemas.openxmlformats.org/officeDocument/2006/relationships/notesMaster" Target="/ppt/notesMasters/notesMaster1.xml" Id="R9e8ef34767cd4796" /><Relationship Type="http://schemas.openxmlformats.org/officeDocument/2006/relationships/presProps" Target="/ppt/presProps.xml" Id="Ra9ad93b8975f44e0" /><Relationship Type="http://schemas.openxmlformats.org/officeDocument/2006/relationships/tableStyles" Target="/ppt/tableStyles.xml" Id="R08b4c5fcabd0484d" /><Relationship Type="http://schemas.openxmlformats.org/officeDocument/2006/relationships/slide" Target="/ppt/slides/slide1.xml" Id="R86585e1f44e1436e" /><Relationship Type="http://schemas.openxmlformats.org/officeDocument/2006/relationships/slide" Target="/ppt/slides/slide2.xml" Id="R5ad607003c894ae2" /><Relationship Type="http://schemas.openxmlformats.org/officeDocument/2006/relationships/slide" Target="/ppt/slides/slide3.xml" Id="Rbaa3f298100743c0" /><Relationship Type="http://schemas.openxmlformats.org/officeDocument/2006/relationships/slide" Target="/ppt/slides/slide4.xml" Id="R4e3240d53e5e4593" /><Relationship Type="http://schemas.openxmlformats.org/officeDocument/2006/relationships/slide" Target="/ppt/slides/slide5.xml" Id="Rbd11d8229f0a4457" /><Relationship Type="http://schemas.openxmlformats.org/officeDocument/2006/relationships/slide" Target="/ppt/slides/slide6.xml" Id="R5970a7e1081c4af8" /><Relationship Type="http://schemas.openxmlformats.org/officeDocument/2006/relationships/slide" Target="/ppt/slides/slide7.xml" Id="R3ee9ae31ba8248fb" /><Relationship Type="http://schemas.openxmlformats.org/officeDocument/2006/relationships/slide" Target="/ppt/slides/slide8.xml" Id="Re2694a5d1f904bc4" /><Relationship Type="http://schemas.openxmlformats.org/officeDocument/2006/relationships/slide" Target="/ppt/slides/slide9.xml" Id="R2846c69b62984157" /><Relationship Type="http://schemas.openxmlformats.org/officeDocument/2006/relationships/slide" Target="/ppt/slides/slide10.xml" Id="R14ebff7c784142f3" /><Relationship Type="http://schemas.openxmlformats.org/officeDocument/2006/relationships/slide" Target="/ppt/slides/slide11.xml" Id="Re1a62c33d43e4d54" /><Relationship Type="http://schemas.openxmlformats.org/officeDocument/2006/relationships/slide" Target="/ppt/slides/slide12.xml" Id="R0da5c9cd5508470a" /><Relationship Type="http://schemas.openxmlformats.org/officeDocument/2006/relationships/slide" Target="/ppt/slides/slide13.xml" Id="R032d6524394740b6" /><Relationship Type="http://schemas.openxmlformats.org/officeDocument/2006/relationships/slide" Target="/ppt/slides/slide14.xml" Id="R4af980fab64e435c" /><Relationship Type="http://schemas.openxmlformats.org/officeDocument/2006/relationships/slide" Target="/ppt/slides/slide15.xml" Id="Rd284ba8ce3a54aaa" /><Relationship Type="http://schemas.openxmlformats.org/officeDocument/2006/relationships/slide" Target="/ppt/slides/slide16.xml" Id="Re0c1f3ff1e554137" /><Relationship Type="http://schemas.openxmlformats.org/officeDocument/2006/relationships/slide" Target="/ppt/slides/slide17.xml" Id="R5d74ed6b60e947df" /><Relationship Type="http://schemas.openxmlformats.org/officeDocument/2006/relationships/slide" Target="/ppt/slides/slide18.xml" Id="Rc6d21bae146a4096" /><Relationship Type="http://schemas.openxmlformats.org/officeDocument/2006/relationships/slide" Target="/ppt/slides/slide19.xml" Id="R25ca832f2d66453b" /><Relationship Type="http://schemas.openxmlformats.org/officeDocument/2006/relationships/slide" Target="/ppt/slides/slide20.xml" Id="Rd0198657fbd842d2" /><Relationship Type="http://schemas.openxmlformats.org/officeDocument/2006/relationships/slide" Target="/ppt/slides/slide21.xml" Id="Ra2c2f2aa0a494169" /><Relationship Type="http://schemas.openxmlformats.org/officeDocument/2006/relationships/slide" Target="/ppt/slides/slide22.xml" Id="R22d6eae6da8d4bbc" /><Relationship Type="http://schemas.openxmlformats.org/officeDocument/2006/relationships/slide" Target="/ppt/slides/slide23.xml" Id="R1d65a6e158e74a18" /><Relationship Type="http://schemas.openxmlformats.org/officeDocument/2006/relationships/slide" Target="/ppt/slides/slide24.xml" Id="R11e46e444d1c40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df879a050343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2d7d18403b4d44" /><Relationship Type="http://schemas.openxmlformats.org/officeDocument/2006/relationships/notesMaster" Target="/ppt/notesMasters/notesMaster1.xml" Id="R8652d946464942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0368b248c742d3" /><Relationship Type="http://schemas.openxmlformats.org/officeDocument/2006/relationships/notesMaster" Target="/ppt/notesMasters/notesMaster1.xml" Id="R69c5275bf4c24e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023e335be944f2" /><Relationship Type="http://schemas.openxmlformats.org/officeDocument/2006/relationships/notesMaster" Target="/ppt/notesMasters/notesMaster1.xml" Id="R5805301988954c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dba339aaa04c10" /><Relationship Type="http://schemas.openxmlformats.org/officeDocument/2006/relationships/notesMaster" Target="/ppt/notesMasters/notesMaster1.xml" Id="Ra0388d9272d242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7ce6a909fc4fe5" /><Relationship Type="http://schemas.openxmlformats.org/officeDocument/2006/relationships/notesMaster" Target="/ppt/notesMasters/notesMaster1.xml" Id="R6a9c97facdf046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73b2ac95064973" /><Relationship Type="http://schemas.openxmlformats.org/officeDocument/2006/relationships/notesMaster" Target="/ppt/notesMasters/notesMaster1.xml" Id="Rc38ecc0d690543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cf7db96ecc480f" /><Relationship Type="http://schemas.openxmlformats.org/officeDocument/2006/relationships/notesMaster" Target="/ppt/notesMasters/notesMaster1.xml" Id="Rfed12157f64744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321050a92a45ed" /><Relationship Type="http://schemas.openxmlformats.org/officeDocument/2006/relationships/notesMaster" Target="/ppt/notesMasters/notesMaster1.xml" Id="Rc513000c532b4a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bdc81980df4645" /><Relationship Type="http://schemas.openxmlformats.org/officeDocument/2006/relationships/notesMaster" Target="/ppt/notesMasters/notesMaster1.xml" Id="R45127f191fb047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7bc13c0e424a29" /><Relationship Type="http://schemas.openxmlformats.org/officeDocument/2006/relationships/notesMaster" Target="/ppt/notesMasters/notesMaster1.xml" Id="R8963756e417846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ad2d9457f74062" /><Relationship Type="http://schemas.openxmlformats.org/officeDocument/2006/relationships/notesMaster" Target="/ppt/notesMasters/notesMaster1.xml" Id="R6f76d87b231b44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0743334dbd4fc3" /><Relationship Type="http://schemas.openxmlformats.org/officeDocument/2006/relationships/notesMaster" Target="/ppt/notesMasters/notesMaster1.xml" Id="R266b98166f0d42e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c67d0934fe4d42" /><Relationship Type="http://schemas.openxmlformats.org/officeDocument/2006/relationships/notesMaster" Target="/ppt/notesMasters/notesMaster1.xml" Id="Rf9b73653ffe649e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9fbbf1108743f0" /><Relationship Type="http://schemas.openxmlformats.org/officeDocument/2006/relationships/notesMaster" Target="/ppt/notesMasters/notesMaster1.xml" Id="Rcb2c4db5700a47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20782fe5a8448e" /><Relationship Type="http://schemas.openxmlformats.org/officeDocument/2006/relationships/notesMaster" Target="/ppt/notesMasters/notesMaster1.xml" Id="Rd71ccd16b1b0481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726728149794f99" /><Relationship Type="http://schemas.openxmlformats.org/officeDocument/2006/relationships/notesMaster" Target="/ppt/notesMasters/notesMaster1.xml" Id="R506ecfd5270748d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d89600aed264821" /><Relationship Type="http://schemas.openxmlformats.org/officeDocument/2006/relationships/notesMaster" Target="/ppt/notesMasters/notesMaster1.xml" Id="Re5d9894dbbf5467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336eaf8e4a4941" /><Relationship Type="http://schemas.openxmlformats.org/officeDocument/2006/relationships/notesMaster" Target="/ppt/notesMasters/notesMaster1.xml" Id="Rff0faddc15a64b9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f7961ddfc1d4d16" /><Relationship Type="http://schemas.openxmlformats.org/officeDocument/2006/relationships/notesMaster" Target="/ppt/notesMasters/notesMaster1.xml" Id="R3887a526d9d04eb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abb6a2f778243f4" /><Relationship Type="http://schemas.openxmlformats.org/officeDocument/2006/relationships/notesMaster" Target="/ppt/notesMasters/notesMaster1.xml" Id="R9a5bea87dbd846d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28f7e3806c741d3" /><Relationship Type="http://schemas.openxmlformats.org/officeDocument/2006/relationships/notesMaster" Target="/ppt/notesMasters/notesMaster1.xml" Id="Re20e3a8b0bd34f9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556cbc408924394" /><Relationship Type="http://schemas.openxmlformats.org/officeDocument/2006/relationships/notesMaster" Target="/ppt/notesMasters/notesMaster1.xml" Id="R095446dbe7914e1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dfe1340994e42aa" /><Relationship Type="http://schemas.openxmlformats.org/officeDocument/2006/relationships/notesMaster" Target="/ppt/notesMasters/notesMaster1.xml" Id="R6a50519f926447c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0adb0ab29ff4371" /><Relationship Type="http://schemas.openxmlformats.org/officeDocument/2006/relationships/notesMaster" Target="/ppt/notesMasters/notesMaster1.xml" Id="R952e3b2906234c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图片：docs/presentation_build/assets/home.png，2026-10-12既有项目界面截图，仅展示产品形态，非最新控件验收。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/Users/yinzh/PycharmProjects/EPUB_to_Audio_Converter-1/docs/论文创新点与实现方案.md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/Users/yinzh/PycharmProjects/EPUB_to_Audio_Converter-1/docs/validation/narration_identity_20261017/README.md</a:t>
            </a:r>
          </a:p>
          <a:p xmlns:a="http://schemas.openxmlformats.org/drawingml/2006/main">
            <a:r>
              <a:t>/Users/yinzh/PycharmProjects/EPUB_to_Audio_Converter-1/audiobook_generator/role_script/validator.py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S 表示本章原文。source_span 使用半开区间 [start,end)。严格来源校验要求切片内容与分段完全一致、区间连续且覆盖全章。角色归属的引文同样需要切片验证。该机制保证结构与引文可追溯，不能保证模型对说话人语义判断必然正确。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/Users/yinzh/PycharmProjects/EPUB_to_Audio_Converter-1/audiobook_generator/role_script/validator.py</a:t>
            </a:r>
          </a:p>
          <a:p xmlns:a="http://schemas.openxmlformats.org/drawingml/2006/main">
            <a:r>
              <a:t>/Users/yinzh/PycharmProjects/EPUB_to_Audio_Converter-1/docs/validation/narration_identity_20261017/README.md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/Users/yinzh/PycharmProjects/EPUB_to_Audio_Converter-1/audiobook_generator/audio_core/reading.py</a:t>
            </a:r>
          </a:p>
          <a:p xmlns:a="http://schemas.openxmlformats.org/drawingml/2006/main">
            <a:r>
              <a:t>/Users/yinzh/PycharmProjects/EPUB_to_Audio_Converter-1/audiobook_generator/audio_core/english_reading.py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每个声音至少具有两条共同探针，先核验合成结果再允许进入声音库。对相同文本分别比较两种声音的声纹向量，计算余弦距离。跨文本汇总采用均值减0.25倍标准差，并截断为非负值。常数为当前实现值，不代表最优超参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w_ij 是角色 i、j 连续对话切换次数，旁白或至少1.5秒停顿会断开链条。f(i) 是分配的声音，P 是人工审查的角色适配惩罚，M 是相对初始分配的换声数。目标函数系数0.25、0.1、0.05是代码当前配置。完整候选空间不超过4096时精确枚举，否则按加权度贪心并最多20轮局部改配或交换。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/Users/yinzh/PycharmProjects/EPUB_to_Audio_Converter-1/audiobook_generator/audio_core/casting.py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/Users/yinzh/PycharmProjects/EPUB_to_Audio_Converter-1/docs/MiMo参考音克隆接入与验收.md</a:t>
            </a:r>
          </a:p>
          <a:p xmlns:a="http://schemas.openxmlformats.org/drawingml/2006/main">
            <a:r>
              <a:t>/Users/yinzh/PycharmProjects/EPUB_to_Audio_Converter-1/docs/MiMo混合选角使用与验收.md</a:t>
            </a:r>
          </a:p>
          <a:p xmlns:a="http://schemas.openxmlformats.org/drawingml/2006/main">
            <a:r>
              <a:t>/Users/yinzh/PycharmProjects/EPUB_to_Audio_Converter-1/audiobook_generator/tts_providers/mimo_voice.py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内容对齐采用动态规划编辑距离，中文按字、英文按词。S/D/I/N分别为替换/删除/插入/参考单位数。声纹漂移比较当前音频与角色参考，不同于选角阶段跨声音探针比较。接缝使用端点跳变、RMS差、频谱距离、语音端点、两侧静音、计划停顿和是否同一说话人共9维特征。可选多标签逻辑模型接口已实现，但本页不声称已得到真实数据泛化收益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/Users/yinzh/PycharmProjects/EPUB_to_Audio_Converter-1/audiobook_generator/audio_core/boundary_model.py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ArtifactStore使用SQLite。reserve在BEGIN IMMEDIATE事务内读取本次run的全部请求记录并检查次数、追加字符与已用时间，再插入running记录。失败与未完成记录也计入消耗，settle只更新状态。时间上限是请求发起前及修复前的检查，不宣称是操作系统级实时硬截止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/Users/yinzh/PycharmProjects/EPUB_to_Audio_Converter-1/audiobook_generator/audio_core/repair.py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汇报截止：2026-10-18。技术补充基于项目现有代码，公式归纳当前实现，未经独立实验验证的效果不作结论。</a:t>
            </a:r>
          </a:p>
          <a:p xmlns:a="http://schemas.openxmlformats.org/drawingml/2006/main">
            <a:r>
              <a:t>对应pipeline.preserves_checks与attempt_repair。复检范围是目标分块和左右相邻接缝。候选不能新增已确认严重错误，原passed维度仍须passed，已有内容对齐误差不能增加。随后对本块与边界报告的rank各分量求和，按Python元组字典序比较，只有严格改善才采用。重分块候选还必须通过内部接缝的内容与信号检查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/Users/yinzh/PycharmProjects/EPUB_to_Audio_Converter-1/audiobook_generator/audio_core/pipeline.py</a:t>
            </a:r>
          </a:p>
          <a:p xmlns:a="http://schemas.openxmlformats.org/drawingml/2006/main">
            <a:r>
              <a:t>/Users/yinzh/PycharmProjects/EPUB_to_Audio_Converter-1/audiobook_generator/audio_core/quality.py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  <a:p xmlns:a="http://schemas.openxmlformats.org/drawingml/2006/main">
            <a:r>
              <a:t>/Users/yinzh/PycharmProjects/EPUB_to_Audio_Converter-1/audiobook_generator/audio_core/tail_repeat.py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/Users/yinzh/PycharmProjects/EPUB_to_Audio_Converter-1/audiobook_generator/audio_core/store.py</a:t>
            </a:r>
          </a:p>
          <a:p xmlns:a="http://schemas.openxmlformats.org/drawingml/2006/main">
            <a:r>
              <a:t>/Users/yinzh/PycharmProjects/EPUB_to_Audio_Converter-1/audiobook_generator/audio_core/audio.py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/Users/yinzh/PycharmProjects/EPUB_to_Audio_Converter-1/docs/MiMo尾部重复检测与裁切.md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/Users/yinzh/PycharmProjects/EPUB_to_Audio_Converter-1/docs/validation/audio_core_20261017/README.md</a:t>
            </a:r>
          </a:p>
          <a:p xmlns:a="http://schemas.openxmlformats.org/drawingml/2006/main">
            <a:r>
              <a:t>/Users/yinzh/PycharmProjects/EPUB_to_Audio_Converter-1/audiobook_generator/audio_core/review_queue.py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/Users/yinzh/PycharmProjects/EPUB_to_Audio_Converter-1/docs/validation/webui_spawn_workflow_20261017/README.md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汇报截止：2026-10-18。工程实现、局部人工验收与研究效果分开表述。</a:t>
            </a:r>
          </a:p>
          <a:p xmlns:a="http://schemas.openxmlformats.org/drawingml/2006/main">
            <a:r>
              <a:t>本地来源：</a:t>
            </a:r>
          </a:p>
          <a:p xmlns:a="http://schemas.openxmlformats.org/drawingml/2006/main">
            <a:r>
              <a:t>/Users/yinzh/PycharmProjects/EPUB_to_Audio_Converter-1/docs/项目进度与人工验收安排.md</a:t>
            </a:r>
          </a:p>
          <a:p xmlns:a="http://schemas.openxmlformats.org/drawingml/2006/main">
            <a:r>
              <a:t>/Users/yinzh/PycharmProjects/EPUB_to_Audio_Converter-1/docs/validation/role_resplit_guard_20261018/README.md</a:t>
            </a:r>
          </a:p>
          <a:p xmlns:a="http://schemas.openxmlformats.org/drawingml/2006/main">
            <a:r>
              <a:t>/Users/yinzh/PycharmProjects/EPUB_to_Audio_Converter-1/docs/MiMo统一核心使用与验收.md</a:t>
            </a:r>
          </a:p>
          <a:p xmlns:a="http://schemas.openxmlformats.org/drawingml/2006/main">
            <a:r>
              <a:t>本页改用日常表达。已有技术细节与本地来源保留在备注中。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89f041476f46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ac91df99647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6cf1f4541a4ce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9787d2e6bd4a0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b8a8db7904aa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ed43b2e51942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051D5A-C154-4A1B-80CB-44467202B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634F89C-1E0C-436D-9F15-ED624DB914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04783A-E445-4D83-875E-59A0DDACA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7743FD-0021-469A-A1E6-4CF541D83E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9991709-074D-4258-8BDA-E9CE2EA373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EE86B0B-F572-435B-9E69-FC72F9316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779511-7F2D-4CA9-8FEE-36A5DADB90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8A53BE-8BEC-48D3-B083-2507CAB2AE9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DFC57A-FBE1-428B-9F6B-8E47CFA76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815CE8-FA01-4762-9850-D4E0CD004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e7c8c44c404efd" /><Relationship Type="http://schemas.openxmlformats.org/officeDocument/2006/relationships/slideLayout" Target="/ppt/slideLayouts/slideLayout1.xml" Id="R3addb461dee34b29" /><Relationship Type="http://schemas.openxmlformats.org/officeDocument/2006/relationships/slideLayout" Target="/ppt/slideLayouts/slideLayout2.xml" Id="Rf1c90ded56aa4d7f" /><Relationship Type="http://schemas.openxmlformats.org/officeDocument/2006/relationships/slideLayout" Target="/ppt/slideLayouts/slideLayout3.xml" Id="Re0126c70794249c3" /><Relationship Type="http://schemas.openxmlformats.org/officeDocument/2006/relationships/slideLayout" Target="/ppt/slideLayouts/slideLayout4.xml" Id="Rdff0a500960049cd" /><Relationship Type="http://schemas.openxmlformats.org/officeDocument/2006/relationships/slideLayout" Target="/ppt/slideLayouts/slideLayout5.xml" Id="R119de492a2964477" /><Relationship Type="http://schemas.openxmlformats.org/officeDocument/2006/relationships/slideLayout" Target="/ppt/slideLayouts/slideLayout6.xml" Id="R65f11f63ad5144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ddb461dee34b29"/>
    <p:sldLayoutId xmlns:r="http://schemas.openxmlformats.org/officeDocument/2006/relationships" id="2147483650" r:id="Rf1c90ded56aa4d7f"/>
    <p:sldLayoutId xmlns:r="http://schemas.openxmlformats.org/officeDocument/2006/relationships" id="2147483651" r:id="Re0126c70794249c3"/>
    <p:sldLayoutId xmlns:r="http://schemas.openxmlformats.org/officeDocument/2006/relationships" id="2147483652" r:id="Rdff0a500960049cd"/>
    <p:sldLayoutId xmlns:r="http://schemas.openxmlformats.org/officeDocument/2006/relationships" id="2147483653" r:id="R119de492a2964477"/>
    <p:sldLayoutId xmlns:r="http://schemas.openxmlformats.org/officeDocument/2006/relationships" id="2147483654" r:id="R65f11f63ad5144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9ac49e9e6846f7" /><Relationship Type="http://schemas.openxmlformats.org/officeDocument/2006/relationships/notesSlide" Target="/ppt/notesSlides/notesSlide1.xml" Id="Ra51f3aeffad548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a0d6aec13c4fed" /><Relationship Type="http://schemas.openxmlformats.org/officeDocument/2006/relationships/image" Target="/ppt/media/image.jpeg" Id="R0abc92146c5e4f46" /><Relationship Type="http://schemas.openxmlformats.org/officeDocument/2006/relationships/notesSlide" Target="/ppt/notesSlides/notesSlide2.xml" Id="Rc6a6352cf38d43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9171e6522348fa" /><Relationship Type="http://schemas.openxmlformats.org/officeDocument/2006/relationships/notesSlide" Target="/ppt/notesSlides/notesSlide3.xml" Id="R97e011cbb0a14e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3075a136a94729" /><Relationship Type="http://schemas.openxmlformats.org/officeDocument/2006/relationships/notesSlide" Target="/ppt/notesSlides/notesSlide4.xml" Id="Rcc4843ae8be24a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ec5c3209e04b7a" /><Relationship Type="http://schemas.openxmlformats.org/officeDocument/2006/relationships/notesSlide" Target="/ppt/notesSlides/notesSlide5.xml" Id="R3b7fc3e8ceb84c5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bc1390c61e44fa" /><Relationship Type="http://schemas.openxmlformats.org/officeDocument/2006/relationships/notesSlide" Target="/ppt/notesSlides/notesSlide6.xml" Id="R4617bff9aba24e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9902e606df44d4" /><Relationship Type="http://schemas.openxmlformats.org/officeDocument/2006/relationships/notesSlide" Target="/ppt/notesSlides/notesSlide7.xml" Id="R60e21bb2606240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33fd88d6644bcd" /><Relationship Type="http://schemas.openxmlformats.org/officeDocument/2006/relationships/notesSlide" Target="/ppt/notesSlides/notesSlide8.xml" Id="Raff9dc05a6d447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b89ccc039e41c4" /><Relationship Type="http://schemas.openxmlformats.org/officeDocument/2006/relationships/notesSlide" Target="/ppt/notesSlides/notesSlide9.xml" Id="R44ec3cfe9e994e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73494f3c144d81" /><Relationship Type="http://schemas.openxmlformats.org/officeDocument/2006/relationships/notesSlide" Target="/ppt/notesSlides/notesSlide10.xml" Id="Rcd0938c60135465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642f7811904fac" /><Relationship Type="http://schemas.openxmlformats.org/officeDocument/2006/relationships/notesSlide" Target="/ppt/notesSlides/notesSlide11.xml" Id="Rfe484c3db4ca4a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d84b3d784742f1" /><Relationship Type="http://schemas.openxmlformats.org/officeDocument/2006/relationships/notesSlide" Target="/ppt/notesSlides/notesSlide12.xml" Id="R1abb3785958449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cbead9e0494a7b" /><Relationship Type="http://schemas.openxmlformats.org/officeDocument/2006/relationships/notesSlide" Target="/ppt/notesSlides/notesSlide13.xml" Id="R184989d84d6e4b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d4ca24823345a5" /><Relationship Type="http://schemas.openxmlformats.org/officeDocument/2006/relationships/notesSlide" Target="/ppt/notesSlides/notesSlide14.xml" Id="Re82307ed5df34f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52f879199a4bdd" /><Relationship Type="http://schemas.openxmlformats.org/officeDocument/2006/relationships/notesSlide" Target="/ppt/notesSlides/notesSlide15.xml" Id="R51815e8622cc451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63c6b16c6c4ad0" /><Relationship Type="http://schemas.openxmlformats.org/officeDocument/2006/relationships/notesSlide" Target="/ppt/notesSlides/notesSlide16.xml" Id="R2dbde54a179f47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b06e5adf824109" /><Relationship Type="http://schemas.openxmlformats.org/officeDocument/2006/relationships/notesSlide" Target="/ppt/notesSlides/notesSlide17.xml" Id="Rbe1335cbc60943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ec90e7f6c64efb" /><Relationship Type="http://schemas.openxmlformats.org/officeDocument/2006/relationships/notesSlide" Target="/ppt/notesSlides/notesSlide18.xml" Id="R27439de64a17440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5d0316f0a3450f" /><Relationship Type="http://schemas.openxmlformats.org/officeDocument/2006/relationships/notesSlide" Target="/ppt/notesSlides/notesSlide19.xml" Id="Rbcaecd68f07842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83156326a041c5" /><Relationship Type="http://schemas.openxmlformats.org/officeDocument/2006/relationships/notesSlide" Target="/ppt/notesSlides/notesSlide20.xml" Id="Rac757c25798a4ba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456cb7289d42ad" /><Relationship Type="http://schemas.openxmlformats.org/officeDocument/2006/relationships/notesSlide" Target="/ppt/notesSlides/notesSlide21.xml" Id="R77b26a4ef0594a3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1115eedc774a26" /><Relationship Type="http://schemas.openxmlformats.org/officeDocument/2006/relationships/notesSlide" Target="/ppt/notesSlides/notesSlide22.xml" Id="R3f483ba733d84bc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ee51ea6c7248cc" /><Relationship Type="http://schemas.openxmlformats.org/officeDocument/2006/relationships/notesSlide" Target="/ppt/notesSlides/notesSlide23.xml" Id="R5cc63aaff852489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1bf3b9d7c748ec" /><Relationship Type="http://schemas.openxmlformats.org/officeDocument/2006/relationships/notesSlide" Target="/ppt/notesSlides/notesSlide24.xml" Id="R95c906a70f93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23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A3AEF-348A-404E-B36F-E491F601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把电子书变成多角色有声书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1DAC5-E8E1-43D1-A5E2-03E3D91D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91119E-5534-4502-8D2C-C9875648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57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我们做了什么，怎样做成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1794D-9A39-429C-ACB3-5245B4C4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76625"/>
            <a:ext cx="1047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给不同人物安排声音</a:t>
            </a:r>
          </a:p>
          <a:p xmlns:a="http://schemas.openxmlformats.org/drawingml/2006/main">
            <a:pPr>
              <a:def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defRPr>
            </a:pPr>
            <a:r>
              <a:rPr sz="2400" b="0">
                <a:solidFill>
                  <a:srgbClr val="D2DFF7"/>
                </a:solidFill>
                <a:latin typeface="PingFang SC"/>
                <a:ea typeface="PingFang SC"/>
                <a:cs typeface="PingFang SC"/>
              </a:rPr>
              <a:t>找出读错的地方，尽量只修有问题的部分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61822-2932-4F8F-92A0-C2604A8E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197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C4D5F7"/>
                </a:solidFill>
                <a:latin typeface="PingFang SC"/>
                <a:ea typeface="PingFang SC"/>
                <a:cs typeface="PingFang SC"/>
              </a:rPr>
              <a:t>项目进展与改进思路    2026 年 10 月 18 日</a:t>
            </a:r>
          </a:p>
        </p:txBody>
      </p:sp>
    </p:spTree>
    <p:extLst>
      <p:ext uri="{BB962C8B-B14F-4D97-AF65-F5344CB8AC3E}">
        <p14:creationId xmlns:p14="http://schemas.microsoft.com/office/powerpoint/2010/main" val="1258712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D5B40-CDF6-417D-A88A-DA6F0B154F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c92146c5e4f46"/>
          <a:stretch xmlns:a="http://schemas.openxmlformats.org/drawingml/2006/main"/>
        </p:blipFill>
        <p:spPr>
          <a:xfrm xmlns:a="http://schemas.openxmlformats.org/drawingml/2006/main">
            <a:off x="609600" y="1691271"/>
            <a:ext cx="6953250" cy="391360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D394B-6D4F-4026-B32B-8F59CA4B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这个项目能帮我们做什么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742B0-0DA2-4651-9AAF-065944E6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C67DD-D3D9-4912-8149-ED496985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5260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把书读成有声书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8E458-08A7-4620-B80E-E36813E3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1932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上传电子书、选择章节，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让旁白和不同人物分别朗读。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863B9-4888-4E43-995F-475C0B7D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361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读错一小段，就修这一段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21AB3-10B0-4CCA-8840-112F563D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181475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找到多读、漏读或停顿过长</a:t>
            </a:r>
          </a:p>
          <a:p xmlns:a="http://schemas.openxmlformats.org/drawingml/2006/main">
            <a:pPr>
              <a:def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的位置，尽量少重做整章。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F5C7F0-2CCE-4FC6-A0AF-8C4FEEF1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左图是 10 月 12 日的实际界面，后续新增功能用流程图说明</a:t>
            </a:r>
          </a:p>
        </p:txBody>
      </p:sp>
    </p:spTree>
    <p:extLst>
      <p:ext uri="{BB962C8B-B14F-4D97-AF65-F5344CB8AC3E}">
        <p14:creationId xmlns:p14="http://schemas.microsoft.com/office/powerpoint/2010/main" val="1545605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A46A3-2118-4150-A647-2178789F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目前已经做成了哪些功能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B7238-937D-403F-90C3-A34C0ABD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EF170-E7F6-471C-B19A-89023E2CBE2B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5429250"/>
                <a:gridCol w="3829050"/>
              </a:tblGrid>
              <a:tr h="635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制作步骤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已经能做什么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目前的情况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读入书籍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提取章节，整理人物和人物别名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支持中英文，允许人工修改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安排声音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选现成声音、用文字描述、模仿参考音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已选好的声音可以锁定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生成音频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逐段生成，保存结果，按顺序拼起来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新的整套流程目前接入 MiMo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检查与修正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找读错、长停顿、换声等疑点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已完成部分实际问题的修正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网页操作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选章节、确认配置、查看和下载结果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后台流程已做测试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82EF4-E2DA-4E1D-AFC4-6B30D0A3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原来的转换器仍支持多种语音服务，本轮重点做好 MiMo 的整套制作流程</a:t>
            </a:r>
          </a:p>
        </p:txBody>
      </p:sp>
    </p:spTree>
    <p:extLst>
      <p:ext uri="{BB962C8B-B14F-4D97-AF65-F5344CB8AC3E}">
        <p14:creationId xmlns:p14="http://schemas.microsoft.com/office/powerpoint/2010/main" val="64362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43993A-675B-4E71-B71D-BD710724CFA4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86800" y="4953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895DB-110E-4DC1-AE3F-B204A57C9AFC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91200" y="4953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CF29D-58B0-4A36-B357-6F124DAA8E46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895600" y="495300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E85FF3-9B4E-4E22-82EA-8E32DA5D6129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752600" y="404812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6C605F-D11F-4497-B931-1B0F1C1977F3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2895600" y="3552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B1EAF2-2E11-44DC-8CF6-F1CC3A7F2B55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5791200" y="3552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9E041F-C753-4BA9-B395-5648E830719B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8686800" y="355282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525EDD-3478-48A4-A41E-FF6B0BED0958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0439400" y="264795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2B67A6-2EF3-40AB-8075-86CA12C72AB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86800" y="2152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AF9AE-3B2D-474E-9C07-934C894909E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91200" y="2152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9E86A-A134-4761-BC79-E52E08CA595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95600" y="2152650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3A1D95-D98C-439B-95F9-3AF6AD87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从上传书籍到下载音频，具体怎么走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28B29-46FF-4478-AFAB-F16290D5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9714BB-1A29-4BBE-BBD3-126DB537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 上传书籍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按目录选择要读的章节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2118E-C57F-4DC0-A645-532D89CE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2 找出说话的人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区分谁讲故事、谁说对白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EE33D-F84A-45F9-87E9-3290CBE7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3 对照书中原文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检查有没有少字或改字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C66F8-B779-4EEF-9F5E-DF301ADB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573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4 选声音并确认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试听，设置声音和语速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82F92-30C3-4F56-A0C6-05CAA806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5 整理实际读法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按规则处理数字和缩写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5BEA8-5DDD-4468-91FE-C55BDF23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6 按句分成小段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保留人物、原文和停顿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9D09D-288D-4376-B405-47C63F1C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7 逐段生成并保存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调用 MiMo，可复用旧结果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67DD0F-BF47-492C-B3AF-B485DD98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8 找出可疑问题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查多读漏读、换声和停顿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51F9F8-7A6B-4FB4-86BB-1B0E0503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9 只修有问题的段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裁重复、调停顿或重新读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0EC77-7C0F-4FB5-8490-A687BC6A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10 再查前后两句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确有改善才保留新版本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2B0AB-26D1-491A-8D40-F913B98A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11 拼成整章音频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检查导出文件能正常播放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9EF30-C2B0-4820-A3D8-A8ABB69F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5770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12 试听确认并下载</a:t>
            </a:r>
          </a:p>
          <a:p xmlns:a="http://schemas.openxmlformats.org/drawingml/2006/main">
            <a:pPr algn="ctr">
              <a:def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保留音频、问题单和原件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117147-285C-46B6-83BC-2199F229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修复有次数和用时限制，拿不准的问题留给人工试听，不会当作已经通过</a:t>
            </a:r>
          </a:p>
        </p:txBody>
      </p:sp>
    </p:spTree>
    <p:extLst>
      <p:ext uri="{BB962C8B-B14F-4D97-AF65-F5344CB8AC3E}">
        <p14:creationId xmlns:p14="http://schemas.microsoft.com/office/powerpoint/2010/main" val="1168513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1CC32-6C4C-41E5-B908-EA1B9E90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三个创新方向，分别解决什么问题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84D83-128F-4373-A738-828B3CE9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34115-1856-48B0-B037-76E81A2CC899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362450"/>
                <a:gridCol w="4038600"/>
              </a:tblGrid>
              <a:tr h="8429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改进方向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项目中遇到的具体问题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我们的做法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谁讲故事，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就用谁的声音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《Flipped》人物用“我”讲故事，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部分文字曾被分给普通旁白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按本章原文找出讲述者，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让自述与本人对白共用声音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经常对话的人，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声音尽量不同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试用的合格英语声音只有两个，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给旁白留一个后，角色声音不够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主要角色先选现成声音，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其他角色用固定的声音描述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哪里读错，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就优先修哪里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读完又重复，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两句话之间停得太久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只处理问题段，</a:t>
                      </a:r>
                    </a:p>
                    <a:p>
                      <a:r>
                        <a:rPr sz="180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再检查前后句有没有受影响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70B74-959C-4E1A-9745-9FDC0F1B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共同目标：少弄错说话的人，少重复生成，少让人反复试听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03A48-E8F5-4E5E-8F42-C7CFD481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已有文字归属修正和音频修复案例，声音分配是否更好认仍需听众比较</a:t>
            </a:r>
          </a:p>
        </p:txBody>
      </p:sp>
    </p:spTree>
    <p:extLst>
      <p:ext uri="{BB962C8B-B14F-4D97-AF65-F5344CB8AC3E}">
        <p14:creationId xmlns:p14="http://schemas.microsoft.com/office/powerpoint/2010/main" val="1883696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315397-AB7F-429D-A62C-123984B3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创新一：谁讲故事，就用谁的声音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339C5-F351-41AA-AFC7-26692D3E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A5B114-AA1C-423E-ABBC-B5CC1C93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15AE6-DA73-4A3F-9FC5-E23F62A8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《Flipped》的两章分别由 Bryce 和 Juli 用“我”讲述。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早期拆分时，有些人物自述被当成了普通旁白。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F09EBD-C11E-4B43-BCE0-3A18B8AA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Bryce 讲故事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沿用 Bryce 的声音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E2514-5C18-41CE-A8CF-9332CE0CC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Juli 讲故事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沿用 Juli 的声音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2F391-66A0-49E0-B779-17BAE975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909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换一章，</a:t>
            </a:r>
          </a:p>
          <a:p xmlns:a="http://schemas.openxmlformats.org/drawingml/2006/main">
            <a: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重新判断是谁在讲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9C95C-256F-4273-AB53-7F369D80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已完成：两章的文字分配已修正，自述和本人对白共用声音配置。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B1C4F-07BA-4620-873C-0A086978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这次检查确认的是文字和声音的分配，没有为这两章重新生成语音</a:t>
            </a:r>
          </a:p>
        </p:txBody>
      </p:sp>
    </p:spTree>
    <p:extLst>
      <p:ext uri="{BB962C8B-B14F-4D97-AF65-F5344CB8AC3E}">
        <p14:creationId xmlns:p14="http://schemas.microsoft.com/office/powerpoint/2010/main" val="10588039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8EC82E-E830-4FA8-88FE-A0146F9D377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77125" y="23050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118B3-5002-41AC-B369-40365AB83A5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71850" y="2305050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941D1-E272-45F7-B3BA-C952DE4B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怎么做到：每一句都能回到书中核对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30CC7-E329-4B83-8D4B-C476FC94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B166C-CBA3-4C2A-955B-5E13D79C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模型先判断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这句是谁在说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BF233-AC5E-42AE-ABA8-E649BB78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847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程序对照原文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检查有没有漏字或改字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43F91-AE93-450A-A297-9D32FFB8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47850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找到人物后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使用已保存的声音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0E04A-B928-4FBF-A0D8-01A70C6E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每一段都记住它在原书中的位置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B43BC-DED2-4D04-ABD1-57B07D2F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把所有小段拼回去，要能对应完整章节。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判断讲述者时，还要留下书里的原句，让人能检查理由。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8E270-757D-45C8-805B-B5A80326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找不到可靠依据时，先用普通旁白，并标出“需要复核”。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750CA-AB4D-47D0-895B-EBAE3BCB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程序可以检查有没有漏字，但“到底是谁在说”仍可能需要人来确认</a:t>
            </a:r>
          </a:p>
        </p:txBody>
      </p:sp>
    </p:spTree>
    <p:extLst>
      <p:ext uri="{BB962C8B-B14F-4D97-AF65-F5344CB8AC3E}">
        <p14:creationId xmlns:p14="http://schemas.microsoft.com/office/powerpoint/2010/main" val="21036296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25372-3F27-4A46-830F-69C6AF52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书上怎么写，实际怎么读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95FF6-2BA5-4365-84B3-D2866D3D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35060-4766-40E9-9727-C1AE12E630F5}"/>
              </a:ext>
            </a:extLst>
          </p:cNvPr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476750"/>
                <a:gridCol w="3638550"/>
              </a:tblGrid>
              <a:tr h="66103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书上写的内容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可以怎样处理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为什么这样做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增长 3.5%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读成“增长百分之三点五”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让朗读更自然，保留原文不动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 books / twenty books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检查时允许这两种写法对应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避免把数字写法差异当成读错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C’mon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本次修复改用 Come on! 朗读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解决《Flipped》R034 的发音重启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人名、编号、多音字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拿不准就保留，交给人试听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避免程序擅自改出新错误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E0911-6701-4B0A-BFC8-E81AB338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书籍原文和“发给语音服务的读法”分开保存，修改有记录。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474A7-5672-4D93-9DF9-A10A3634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看到转写文字相同，也不能证明多音字读对了，最终还要听声音</a:t>
            </a:r>
          </a:p>
        </p:txBody>
      </p:sp>
    </p:spTree>
    <p:extLst>
      <p:ext uri="{BB962C8B-B14F-4D97-AF65-F5344CB8AC3E}">
        <p14:creationId xmlns:p14="http://schemas.microsoft.com/office/powerpoint/2010/main" val="1903736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1D61D-5700-4EE3-ABA8-53C39175B11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620000" y="39624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E866C-B693-47E9-B024-13CBD4ED622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57600" y="3962400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E136E-C543-4132-A413-EA7EDC95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创新二：经常对话的人，声音尽量不同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E7B26-8146-49A1-8863-A626C2E4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4E7BF-67E8-49C6-B728-DD9A68C3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具体问题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799EF-140E-409A-8076-58771098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试用的英语声音库里，经过核验的现成声音只有 Mia 和 Chloe。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旁白占用一个后，就很难给其他人物各分一种声音。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BB4A0-D099-44A1-A806-37296B84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对白多的角色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优先选现成声音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D0877-3455-4639-9F93-8BB8796D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76625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其他角色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用固定文字描述声音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0A3F8-51FE-4E3F-B6F7-5AC9566C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76625"/>
            <a:ext cx="3048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经常互相说话的人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优先拉开声音差别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1FBCB-6FDB-4841-9300-0521E172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项目小试：两名描述声音角色的六条录音，用户确认容易区分。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856C8-26C6-456D-B21C-713249C3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小试只说明这两名角色的样本可用，不能据此认定自动分配一定优于随机分配</a:t>
            </a:r>
          </a:p>
        </p:txBody>
      </p:sp>
    </p:spTree>
    <p:extLst>
      <p:ext uri="{BB962C8B-B14F-4D97-AF65-F5344CB8AC3E}">
        <p14:creationId xmlns:p14="http://schemas.microsoft.com/office/powerpoint/2010/main" val="602290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08F5A-DF4E-4BA2-96B0-9EB12B9188B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77125" y="223837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7BF8FE-4903-42A7-91E5-6BDF8028206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371850" y="223837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2960C-6A29-4622-92B3-35F74457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怎么做到：先让不同声音读同样的句子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930D2-D65D-4BC9-9141-73BC8861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165B3-AE8B-4C46-805F-8693234C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准备相同的试听句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每种声音至少读两句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1828B-42E7-4AB2-A550-8E6390CD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7811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先听内容是否完整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再记录声音特点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0E0161-4BC2-4241-B7BC-05220A56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8117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比较不同声音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是否容易听成同一个人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337CDF-3BF4-4AB0-8302-505E5490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为什么要读相同的句子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25D370-6B73-4767-9056-AA669F0A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如果一个声音读问句，另一个读感叹句，差别可能来自语气。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让它们读同样的内容，比较才更公平。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1C3912-AECB-417A-BDED-794C1001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电脑怎么参与比较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8983A-A6C1-4B16-9E7C-BC22D008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程序把声音特点记成一组数字，比较它们有多相似。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换几句话再比，避免只凭一句话就认定两种声音不同。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E35C4F-7E64-4BC4-8F55-EACB8972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电脑给出的相似程度只是参考，最终要请听众判断能不能认出人物</a:t>
            </a:r>
          </a:p>
        </p:txBody>
      </p:sp>
    </p:spTree>
    <p:extLst>
      <p:ext uri="{BB962C8B-B14F-4D97-AF65-F5344CB8AC3E}">
        <p14:creationId xmlns:p14="http://schemas.microsoft.com/office/powerpoint/2010/main" val="6956552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4B7745-6780-4AE3-9A9C-FC03329E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怎么做到：把声音优先分给最需要区分的人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89E30-10BD-44BC-9E09-23250BB8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65F19-5395-4B9A-8873-D3E630AB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先看哪些人物经常一来一回地说话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69819-8F12-4D9D-B1BF-1504CC02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程序按原文统计人物之间的对白切换。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对话越频繁，越优先给他们安排差别较大的声音。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AB9A8-7018-4B18-82CF-B99E8185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同时保留用户的选择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4FBF6-30B8-45B0-B9B9-8D6A3D18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已经锁定的声音不会被自动改掉。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也可以要求旁白单独用一种声音，或不同人物不共用声音。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B68159-11A4-4A34-87FB-C6FC0144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方案少就逐个比较，方案多就先做好主要人物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2B79E-4935-4FCD-A8B6-6C50AF14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先给经常说话的人分配，再尝试交换声音，看看能不能更容易区分。</a:t>
            </a:r>
          </a:p>
          <a:p xmlns:a="http://schemas.openxmlformats.org/drawingml/2006/main">
            <a:pPr>
              <a:def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还会考虑声音是否适合人物，尽量少改已经定好的安排。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49396-B9BD-46A9-9C92-51A2F9A6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这是当前程序的分配方法，是否真的更好听、更好认，需要专门做试听比较</a:t>
            </a:r>
          </a:p>
        </p:txBody>
      </p:sp>
    </p:spTree>
    <p:extLst>
      <p:ext uri="{BB962C8B-B14F-4D97-AF65-F5344CB8AC3E}">
        <p14:creationId xmlns:p14="http://schemas.microsoft.com/office/powerpoint/2010/main" val="2130953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5973C-F4AF-4AE4-838E-A91EE414786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5500688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A1083-99C2-41C1-994C-5BD1C0F4317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95700" y="5500688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BADE0-CAE4-44B8-AA3F-302CC024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现在可以怎样给人物安排声音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DFC4E-1C9B-447F-9C56-CDFDC60C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E5570-A4E8-42CE-9886-604E3ECA56B2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286250"/>
                <a:gridCol w="4400550"/>
              </a:tblGrid>
              <a:tr h="73818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用户要做什么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项目中的具体例子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选现成声音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直接选择服务里已有的声音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Juli 曾使用 Chloe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用文字描述声音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写清年龄感、音色和说话方式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同学群体使用固定的声音描述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模仿一段参考录音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提供参考音，让服务照着声音来读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Bryce 已做参考音小试和首章扩展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76EA2-93B7-4411-927F-F3CA4155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911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每个人物保存一份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声音设置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B0F2E5-43FF-4178-8883-14311CB7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911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换章时继续使用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同一份设置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37742-5D32-459C-BEC7-07214855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91125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声音换过之后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重新试听确认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7F42D-2BF1-47F6-85A1-72D12A61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模仿参考音通常称为“声音克隆”，换过声音后的录音不能沿用旧试听结论</a:t>
            </a:r>
          </a:p>
        </p:txBody>
      </p:sp>
    </p:spTree>
    <p:extLst>
      <p:ext uri="{BB962C8B-B14F-4D97-AF65-F5344CB8AC3E}">
        <p14:creationId xmlns:p14="http://schemas.microsoft.com/office/powerpoint/2010/main" val="20590293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2C272-3525-40BD-9022-CEE32604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生成之后，重点检查哪几类问题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5C5AA-2F4E-4B63-B3E7-7E2F1041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57D020-49DB-4692-ADC5-43DE80948919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762500"/>
                <a:gridCol w="3924300"/>
              </a:tblGrid>
              <a:tr h="7048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要检查什么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程序怎样找疑点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人还需要注意什么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有没有读错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把录音转成文字，再与原文比较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转写也可能出错，不能直接删声音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两段连得顺不顺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查看句尾句首、音量和停顿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爆音、卡顿和长停顿需要试听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同一个人声音是否变了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与该人物已确认的录音比较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情绪变化也会让声音听起来不同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文件有没有明显问题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检查过响、长时间无声及能否播放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文件能播放，不等于每句话都合格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4CDE5-E830-4531-9ACF-23FFFD6F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每项分别标记“通过”“有问题”或“还没查清”，没查清不会自动算通过</a:t>
            </a:r>
          </a:p>
        </p:txBody>
      </p:sp>
    </p:spTree>
    <p:extLst>
      <p:ext uri="{BB962C8B-B14F-4D97-AF65-F5344CB8AC3E}">
        <p14:creationId xmlns:p14="http://schemas.microsoft.com/office/powerpoint/2010/main" val="17031665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1D4C9-566F-42D2-90A0-1E6359E9B15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20000" y="5276850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B5DD6-BF20-4D83-81D0-7E251587E5B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81350" y="5276850"/>
            <a:ext cx="1390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1D087-50C2-4764-B91D-1CB93D04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怎么找到疑点：让电脑先帮我们听一遍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2D722E-D2D1-4C3B-BC5C-F6F368EC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9A4C5-1C14-4CFF-BC4F-C1190D39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第一步，把录音变成文字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6CD740-7382-4F74-BFD7-D77A778A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一字一词地与要读的内容比较，标出多读、漏读和读成别的词的位置。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英文按词比较，中文按字比较。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40B11-2C11-43E7-AE68-A41326FC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第二步，与这个人物之前的声音比较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C11286-1B0D-49D3-878D-9F49C19C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看看声音、音调和速度有没有明显变化。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句子太短或情绪变化太大时，先提示复核，不急着判断读错。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021DD-D88D-4131-A637-53800CFF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前一句的结尾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A64CA-4C3D-46C5-9030-76EF0FF4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14900"/>
            <a:ext cx="3048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两句话连起来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检查停顿和声音突变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ED178-5176-44C3-A40A-056C5206A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91490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后一句的开头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1E9DDE-8C2D-41AD-A666-34E7828E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程序负责缩小试听范围，拿不准的地方保留录音和提示，让人最后决定</a:t>
            </a:r>
          </a:p>
        </p:txBody>
      </p:sp>
    </p:spTree>
    <p:extLst>
      <p:ext uri="{BB962C8B-B14F-4D97-AF65-F5344CB8AC3E}">
        <p14:creationId xmlns:p14="http://schemas.microsoft.com/office/powerpoint/2010/main" val="2004657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2287B-D259-4C5A-BB16-0F2611F3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创新三：哪里读错，就优先修哪里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B8D36-C2FE-4E65-8B66-8E7AF45A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470FD-69D2-410B-9383-463E13133705}"/>
              </a:ext>
            </a:extLst>
          </p:cNvPr>
          <p:cNvGraphicFramePr/>
          <p:nvPr/>
        </p:nvGraphicFramePr>
        <p:xfrm>
          <a:off xmlns:a="http://schemas.openxmlformats.org/drawingml/2006/main" x="609600" y="1762125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4429125"/>
                <a:gridCol w="3209925"/>
              </a:tblGrid>
              <a:tr h="7381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首章中的实际问题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这次怎样修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解决了什么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正文读完后又重复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留下完整正文，去掉后面的重复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不用把整章再生成一遍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两句之间停得太久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去掉已确认的多余无声部分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让连接处恢复到约 1 秒停顿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R034 一句话反复起音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Come on! 的读法重新生成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只为这一句增加一次合成请求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A335D4-6861-4BD0-A8F5-6F332609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20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这几处都已做局部试听确认，原始录音仍然保留。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8B5A8-3FE7-4BCA-AF7A-6A71EB37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修复一个地方之后，还要听前后两句，防止修好这里、影响旁边</a:t>
            </a:r>
          </a:p>
        </p:txBody>
      </p:sp>
    </p:spTree>
    <p:extLst>
      <p:ext uri="{BB962C8B-B14F-4D97-AF65-F5344CB8AC3E}">
        <p14:creationId xmlns:p14="http://schemas.microsoft.com/office/powerpoint/2010/main" val="5043046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67FF0-DB6B-4949-8329-D13C80C0F29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477125" y="31718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26AD9-E4BD-4B30-947A-3B98D5A115F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371850" y="3171825"/>
            <a:ext cx="13430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5B620-FF30-4F04-ACD0-BFAA4EF6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怎么控制重试：给制作过程设一个上限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C83F9-0DB1-4673-B40D-79F536F9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6BDC95-BA47-49C0-93B5-A2FED2A3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事先设好：最多请求几次、修几次、补读多少字、用多长时间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F7F7B-833E-43CB-B227-8E44A705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确实需要重新读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只发送问题段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080269-AB15-4CB1-9F1E-508D69FB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1462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先检查剩余额度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登记这次尝试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F6B75-3FAE-498E-8B1A-4965DE2F1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14625"/>
            <a:ext cx="2762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请求语音服务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记录成功或失败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E90E52-B677-4CCC-AB58-8016C22B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失败的一次也记下来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96FE6-1C0D-4FB9-9308-3DDC34EF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避免网络或生成失败后反复重试，把次数悄悄用完。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上限到了就停止追加，把仍未解决的问题列出来。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5D53BB-FE04-4D87-8D4E-9E8226F2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目前按次数、文字量和时间控制，尚未直接计算花了多少元</a:t>
            </a:r>
          </a:p>
        </p:txBody>
      </p:sp>
    </p:spTree>
    <p:extLst>
      <p:ext uri="{BB962C8B-B14F-4D97-AF65-F5344CB8AC3E}">
        <p14:creationId xmlns:p14="http://schemas.microsoft.com/office/powerpoint/2010/main" val="15800872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0E4A65-FF0F-418B-A167-DB8055F27E0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896100" y="20574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08F69-E12C-41E0-ABA7-91E152FAAA0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0574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483D5-D2E3-42AD-8F10-A8EF972B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怎么判断修好了：新旧版本一起比较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34AD3D-5D16-4836-A3A7-261DC4DB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1B257-A57E-4789-A716-5081B0A9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前一句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CB869-9C48-4BD0-AC83-04B9E749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6764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修改后的这一句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55981-E9B6-45AC-8568-18BBDEBA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76400"/>
            <a:ext cx="2238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后一句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893861-6C8F-41FA-BE38-13C2D3B30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先看原来正确的部分有没有受影响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43419-60D8-4932-8718-A68FC2AE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内容不能少读或多读，原来通过的检查还要继续通过。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这一句和前后句的连接也要重新检查。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0B0976-7B47-4E68-B9BF-F42A8BBDC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再看这次修改有没有解决问题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B5F106-19C7-4D0D-BC81-E3D1210B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程序确认有改善，才采用新版本。没有改善就继续保留原件。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像“声音是否适合人物”这样的问题，仍要靠人试听。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D9481-FE49-4941-9B1E-62FE6221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只修一个问题段，也要一起检查它的前后两句</a:t>
            </a:r>
          </a:p>
        </p:txBody>
      </p:sp>
    </p:spTree>
    <p:extLst>
      <p:ext uri="{BB962C8B-B14F-4D97-AF65-F5344CB8AC3E}">
        <p14:creationId xmlns:p14="http://schemas.microsoft.com/office/powerpoint/2010/main" val="20973125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AB846-A037-4079-B646-980E4347807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24500" y="5229225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35633-836B-441B-84EF-306C82F2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具体例子：读完又重复，怎样安全去掉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13B1F-2A87-4700-A307-8144053F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82D1E-2CBB-412A-8E89-3002B7C1A169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191125"/>
                <a:gridCol w="5781675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先确认什么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然后怎样处理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原文应该读的部分已经完整读完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找正文与多余重复之间的停顿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前半段内容完整，后半段只有多余重复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把两部分分别转成文字，再次核对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切的位置不会伤到正常发音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两边留出 0.1 秒保护，只去掉多余尾段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ABB82-3A31-4B1D-AB86-B03DB8BD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29175"/>
            <a:ext cx="4572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76C5C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原文该读的部分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完整保留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7C639E-D6AC-4C08-8261-5A401886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29175"/>
            <a:ext cx="3333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多出来的重复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确认后再去掉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772C9-1CC5-4E25-824F-5B9C38E7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386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停顿处切开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76B3D-12A8-4DAA-BAC7-E97A8794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默认先让人复核，只有条件明确且用户开启自动处理时才自动采用</a:t>
            </a:r>
          </a:p>
        </p:txBody>
      </p:sp>
    </p:spTree>
    <p:extLst>
      <p:ext uri="{BB962C8B-B14F-4D97-AF65-F5344CB8AC3E}">
        <p14:creationId xmlns:p14="http://schemas.microsoft.com/office/powerpoint/2010/main" val="74013278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0C09C-F537-46FF-8893-3F587E3DFC6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24750" y="22860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416F1-CCEE-49C9-B658-52E4FDE0756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67100" y="228600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EE82D-36E6-42AF-850A-3E4B5458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原音和修改版都保存，随时能查清改了什么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AA17C-E9A1-497B-8B55-2E50402F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24EB7-548A-40F8-98E3-3935169F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生成时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记下正文和声音设置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164A9-E4CB-430F-8FEB-A8DDF432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38325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生成后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保存原始录音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7BB587-10BD-4164-84D6-919E734C9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38325"/>
            <a:ext cx="285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修改后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另存新版本和修改记录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CCFA8A-0019-45AB-8B19-7B645D04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同样的内容和设置，可以复用已有录音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F938C-7635-44AB-A636-A4D26A4D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调语速、剪重复等处理另存文件，原来的录音不会被覆盖。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最后按顺序拼成整章，并检查音频和检查单是否对应。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37A3D-996C-4093-90F2-C8C1E01E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例如：R039 去掉多余重复后，仍能找到修改前的录音进行比较。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3BA4E5-02C8-48B1-A2C0-E66AD3FC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每份文件都有唯一校验记录，避免拿旧音频的试听结论套在新版本上</a:t>
            </a:r>
          </a:p>
        </p:txBody>
      </p:sp>
    </p:spTree>
    <p:extLst>
      <p:ext uri="{BB962C8B-B14F-4D97-AF65-F5344CB8AC3E}">
        <p14:creationId xmlns:p14="http://schemas.microsoft.com/office/powerpoint/2010/main" val="5919168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357A3B-1A23-44CA-BE6E-334A05C1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实际完成的案例：《Flipped》首章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9C53C-3EF0-49DE-920E-A0CD1C0F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4AED6-32DD-4369-AD1D-0A2B5664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14,311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04E53-A521-449E-A10D-F1E3EA0F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原文字符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7A65D-F4CA-46B0-A355-BA24C353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7E442-B3D7-42A7-B37B-F89FC687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人物与角色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C7045-AC70-4DBF-ACBE-D4560287C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6073B-5F02-4EB3-89E3-21845F59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生成的小段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38AFE-79FA-41F9-B982-80CA2ECD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19275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99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C4BE10-8087-4D6A-AC2F-2DAFEE21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003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小段连接处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15B7D-D5DC-48EA-83BF-2D3FEB4A1009}"/>
              </a:ext>
            </a:extLst>
          </p:cNvPr>
          <p:cNvGraphicFramePr/>
          <p:nvPr/>
        </p:nvGraphicFramePr>
        <p:xfrm>
          <a:off xmlns:a="http://schemas.openxmlformats.org/drawingml/2006/main" x="609600" y="3743325"/>
          <a:ext xmlns:a="http://schemas.openxmlformats.org/drawingml/2006/main" cx="109728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4881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已经做了什么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首次生成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完成约 15 分 32 秒的原始版本，保留原音频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调整 Bryce 声音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根据已确认的参考音，增加 67 次合成请求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488156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修正具体问题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处理重复、长停顿和反复起音，最新版本约 17 分 34 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5BADBE-C7AC-4EC3-AB5C-C3605B947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版本时长不同，不能直接说明谁更好，已确认的局部也不代表整章全部通过</a:t>
            </a:r>
          </a:p>
        </p:txBody>
      </p:sp>
    </p:spTree>
    <p:extLst>
      <p:ext uri="{BB962C8B-B14F-4D97-AF65-F5344CB8AC3E}">
        <p14:creationId xmlns:p14="http://schemas.microsoft.com/office/powerpoint/2010/main" val="68528161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19283-05BE-45ED-B53B-E3EC2950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哪些问题已经试听确认修好了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9EAEC-994E-4289-BF58-8E5D385B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31BF59-3DB4-4709-BED7-97EB207AD3E2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191000"/>
                <a:gridCol w="44005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问题位置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做了什么修改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已经确认的范围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R039 句尾重复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留下完整正文，删多余重复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保留的正常语音没改，局部试听通过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R018 多读 No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只留下原文要求的三次 No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前后片段已核对，局部试听通过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J076 停顿太长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只剪掉多余的无声部分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两句之间约 1 秒，试听通过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R034 反复起音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C’mon 改用 Come on! 来读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发音及与前后句的连接试听通过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3D3D4-25C0-4BF0-A8EC-EC277748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已保存 10 个试听接受的修复案例，全部来自同一本书的同一章。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BA69B-60E7-45EE-8289-B2F3AB15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这些案例能说明具体怎么修，还不能算出对其他书籍的修复成功率</a:t>
            </a:r>
          </a:p>
        </p:txBody>
      </p:sp>
    </p:spTree>
    <p:extLst>
      <p:ext uri="{BB962C8B-B14F-4D97-AF65-F5344CB8AC3E}">
        <p14:creationId xmlns:p14="http://schemas.microsoft.com/office/powerpoint/2010/main" val="9817600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266D2-5040-4748-A921-3273E5E2CB8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143750" y="217646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BA776-04E1-41F4-9C0D-00832CA4367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33725" y="2176463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9C9B3-D906-4E2C-A0F9-61BDC61C6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让人少重复听，接下来再验证人物好不好认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76D26-EDF1-4F0F-9B45-F5E9FA8B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30D21-AEC3-407E-AA19-F18DDDE6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133 条问题提示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620BA-5924-46B2-833F-3804D7FB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71650"/>
            <a:ext cx="25241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整理为 48 个片段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842F1-1877-46D4-AB4E-4A94EE7D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771650"/>
            <a:ext cx="295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合成 9 段试听内容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889B9-0D30-4293-836B-9BF03D5D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同一段录音被反复提示，就合在一起听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232E7-267F-422C-9D7E-70CB806B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每个问题都保留，只合并重复的试听范围。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原来重叠片段加起来约 27 分钟，合并后约 16 分钟。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8EA57F-7887-4707-A0F4-9B08CBFD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“听出是谁”的题目已经准备好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073AFD-9B3F-490B-AC65-24523085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36 道题，使用九段已做质量预审的录音。</a:t>
            </a:r>
          </a:p>
          <a:p xmlns:a="http://schemas.openxmlformats.org/drawingml/2006/main">
            <a:pPr>
              <a:def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目前还没有听众答题结果，不能说自动分配已经更容易辨认。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32B7D1-CB6C-44EB-972F-7D4F1DA0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本批自动分配与随机分配恰好相同，不能用这批材料比较二者优劣</a:t>
            </a:r>
          </a:p>
        </p:txBody>
      </p:sp>
    </p:spTree>
    <p:extLst>
      <p:ext uri="{BB962C8B-B14F-4D97-AF65-F5344CB8AC3E}">
        <p14:creationId xmlns:p14="http://schemas.microsoft.com/office/powerpoint/2010/main" val="5311940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D14204-4C85-4E82-B610-21D76DAD8FD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6391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83CD36-6BE3-41AF-9F57-1AB0C49D8CD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7435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D3B3D-A129-4E73-943A-26AFF8E8EEC2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47975" y="2352675"/>
            <a:ext cx="6572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45BDD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012AC-5011-4EFC-9826-35672EF0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网页操作保护：重新拆分后，要重新确认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C6745E-DCB0-4CE6-8822-D933F7B9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6122B9-82BF-43CB-B257-C8F1D8DC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上传书籍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选择要做的章节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00DAA-346D-4FA9-A9BB-26013E84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重新拆分文字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旧的确认立即失效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D8C94B-1509-4697-9ECD-A3CEB5E1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检查人物和声音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重新点击确认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BFC190-92D1-4982-AD20-9E4B62D09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05000"/>
            <a:ext cx="2238375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5BDD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开始生成</a:t>
            </a:r>
          </a:p>
          <a:p xmlns:a="http://schemas.openxmlformats.org/drawingml/2006/main">
            <a:pPr algn="ctr">
              <a:def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查看和下载结果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C061D-E8A2-43CE-855D-5F478AB3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57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避免“内容已改，仍按旧安排生成”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88E2BA-0160-4CA3-AA94-216112F7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重新拆分时，不能拿上一次的确认继续生成。</a:t>
            </a:r>
          </a:p>
          <a:p xmlns:a="http://schemas.openxmlformats.org/drawingml/2006/main">
            <a:pPr>
              <a:def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同一本书的保存、确认和开始生成，程序会协调顺序，避免互相冲突。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7F322-6F68-4BCA-A81F-183A1857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关闭进度显示，也不会把仍在工作的任务误当成已经结束。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12A6C-E3A0-498D-9CCD-902B6A8D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后台流程已经测试，新控件在浏览器中的实际操作体验仍需最后确认</a:t>
            </a:r>
          </a:p>
        </p:txBody>
      </p:sp>
    </p:spTree>
    <p:extLst>
      <p:ext uri="{BB962C8B-B14F-4D97-AF65-F5344CB8AC3E}">
        <p14:creationId xmlns:p14="http://schemas.microsoft.com/office/powerpoint/2010/main" val="28469969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4F6B4-240A-4EAB-9E89-00E6FF04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6243B"/>
                </a:solidFill>
                <a:latin typeface="PingFang SC"/>
                <a:ea typeface="PingFang SC"/>
                <a:cs typeface="PingFang SC"/>
              </a:rPr>
              <a:t>现在做到哪一步，接下来先做什么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88BB1A-FA86-4200-B4C9-606315D0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72225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E5B05-FF21-4D3A-A378-3B6C34F148EA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305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048250"/>
                <a:gridCol w="3924300"/>
              </a:tblGrid>
              <a:tr h="66103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目前已经做了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45BDD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下一步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T w="9525">
                      <a:solidFill>
                        <a:srgbClr val="CED8E8"/>
                      </a:solidFill>
                      <a:prstDash val="solid"/>
                    </a:lnT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EAF0FC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整套制作流程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选章节、分人物、选声音、生成和查问题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先把 MiMo 网页使用流程做好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实际使用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完成首章生成，修过重复和长停顿等问题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完成这一版整章试听，再扩大使用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研究准备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有修复案例，也有 36 道人物辨认题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换更多书，找听众做比较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103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其他语音服务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ED8E8"/>
                      </a:solidFill>
                      <a:prstDash val="solid"/>
                    </a:lnL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原转换器支持多种服务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243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新的适配与论文实验暂缓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ED8E8"/>
                      </a:solidFill>
                      <a:prstDash val="solid"/>
                    </a:lnR>
                    <a:lnB w="9525">
                      <a:solidFill>
                        <a:srgbClr val="CED8E8"/>
                      </a:solidFill>
                      <a:prstDash val="solid"/>
                    </a:lnB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F4BFB-5535-45AD-8FF0-C4786439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45BDD"/>
                </a:solidFill>
                <a:latin typeface="PingFang SC"/>
                <a:ea typeface="PingFang SC"/>
                <a:cs typeface="PingFang SC"/>
              </a:rPr>
              <a:t>最近保存的程序测试：674 项，644 项通过，30 项因环境跳过。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1C94D-2D0B-4043-9743-7E2DFD9E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defPPr>
            <a:lvl1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1pPr>
            <a:lvl2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2pPr>
            <a:lvl3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3pPr>
            <a:lvl4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4pPr>
            <a:lvl5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5pPr>
            <a:lvl6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6pPr>
            <a:lvl7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7pPr>
            <a:lvl8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8pPr>
            <a:lvl9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3627A"/>
                </a:solidFill>
                <a:latin typeface="PingFang SC"/>
                <a:ea typeface="PingFang SC"/>
                <a:cs typeface="PingFang SC"/>
              </a:rPr>
              <a:t>程序测试说明功能运行情况，实际听感和论文效果还需要另外验证</a:t>
            </a:r>
          </a:p>
        </p:txBody>
      </p:sp>
    </p:spTree>
    <p:extLst>
      <p:ext uri="{BB962C8B-B14F-4D97-AF65-F5344CB8AC3E}">
        <p14:creationId xmlns:p14="http://schemas.microsoft.com/office/powerpoint/2010/main" val="88011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2026-10-18T07:18:22.1330000Z</dcterms:created>
  <dcterms:modified xsi:type="dcterms:W3CDTF">2026-10-18T07:18:22.1330000Z</dcterms:modified>
</coreProperties>
</file>