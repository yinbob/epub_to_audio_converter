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93" r:id="rId5"/>
    <p:sldId id="258" r:id="rId6"/>
    <p:sldId id="259" r:id="rId7"/>
    <p:sldId id="262" r:id="rId8"/>
    <p:sldId id="265" r:id="rId9"/>
    <p:sldId id="263" r:id="rId10"/>
    <p:sldId id="261" r:id="rId11"/>
    <p:sldId id="266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92" r:id="rId3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/Users/yinzh/PycharmProjects/EPUB_to_Audio_Converter-1/docs/项目进度与人工验收安排.md</a:t>
            </a:r>
          </a:p>
          <a:p>
            <a:r>
              <a:t>/Users/yinzh/PycharmProjects/EPUB_to_Audio_Converter-1/docs/MiMo统一核心使用与验收.md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/Users/yinzh/PycharmProjects/EPUB_to_Audio_Converter-1/docs/MiMo统一核心使用与验收.md</a:t>
            </a:r>
          </a:p>
          <a:p>
            <a:r>
              <a:t>/Users/yinzh/PycharmProjects/EPUB_to_Audio_Converter-1/docs/项目进度与人工验收安排.md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/Users/yinzh/PycharmProjects/EPUB_to_Audio_Converter-1/docs/MiMo统一核心使用与验收.md</a:t>
            </a:r>
          </a:p>
          <a:p>
            <a:r>
              <a:t>/Users/yinzh/PycharmProjects/EPUB_to_Audio_Converter-1/audiobook_generator/audio_core/pipeline.py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/Users/yinzh/PycharmProjects/EPUB_to_Audio_Converter-1/docs/validation/narration_identity_20261017/README.md</a:t>
            </a:r>
          </a:p>
          <a:p>
            <a:r>
              <a:t>/Users/yinzh/PycharmProjects/EPUB_to_Audio_Converter-1/audiobook_generator/role_script/validator.py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/Users/yinzh/PycharmProjects/EPUB_to_Audio_Converter-1/docs/MiMo统一核心使用与验收.md</a:t>
            </a:r>
          </a:p>
          <a:p>
            <a:r>
              <a:t>/Users/yinzh/PycharmProjects/EPUB_to_Audio_Converter-1/audiobook_generator/audio_core/reading.py</a:t>
            </a:r>
          </a:p>
          <a:p>
            <a:r>
              <a:t>/Users/yinzh/PycharmProjects/EPUB_to_Audio_Converter-1/audiobook_generator/audio_core/english_reading.py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汇报截止：2026-10-18。技术补充基于项目现有代码，公式归纳当前实现，未经独立实验验证的效果不作结论。</a:t>
            </a:r>
          </a:p>
          <a:p>
            <a:r>
              <a:t>S 表示本章原文。source_span 使用半开区间 [start,end)。严格来源校验要求切片内容与分段完全一致、区间连续且覆盖全章。角色归属的引文同样需要切片验证。该机制保证结构与引文可追溯，不能保证模型对说话人语义判断必然正确。</a:t>
            </a:r>
          </a:p>
          <a:p>
            <a:r>
              <a:t>本地来源：</a:t>
            </a:r>
          </a:p>
          <a:p>
            <a:r>
              <a:t>/Users/yinzh/PycharmProjects/EPUB_to_Audio_Converter-1/audiobook_generator/role_script/validator.py</a:t>
            </a:r>
          </a:p>
          <a:p>
            <a:r>
              <a:t>/Users/yinzh/PycharmProjects/EPUB_to_Audio_Converter-1/docs/validation/narration_identity_20261017/README.md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/Users/yinzh/PycharmProjects/EPUB_to_Audio_Converter-1/docs/MiMo统一核心使用与验收.md</a:t>
            </a:r>
          </a:p>
          <a:p>
            <a:r>
              <a:t>/Users/yinzh/PycharmProjects/EPUB_to_Audio_Converter-1/docs/项目进度与人工验收安排.md</a:t>
            </a:r>
          </a:p>
          <a:p>
            <a:r>
              <a:t>/Users/yinzh/PycharmProjects/EPUB_to_Audio_Converter-1/docs/论文创新点与实现方案.md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/Users/yinzh/PycharmProjects/EPUB_to_Audio_Converter-1/docs/MiMo混合选角使用与验收.md</a:t>
            </a:r>
          </a:p>
          <a:p>
            <a:r>
              <a:t>/Users/yinzh/PycharmProjects/EPUB_to_Audio_Converter-1/audiobook_generator/audio_core/casting.py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汇报截止：2026-10-18。技术补充基于项目现有代码，公式归纳当前实现，未经独立实验验证的效果不作结论。</a:t>
            </a:r>
          </a:p>
          <a:p>
            <a:r>
              <a:t>w_ij 是角色 i、j 连续对话切换次数，旁白或至少1.5秒停顿会断开链条。f(i) 是分配的声音，P 是人工审查的角色适配惩罚，M 是相对初始分配的换声数。目标函数系数0.25、0.1、0.05是代码当前配置。完整候选空间不超过4096时精确枚举，否则按加权度贪心并最多20轮局部改配或交换。</a:t>
            </a:r>
          </a:p>
          <a:p>
            <a:r>
              <a:t>本地来源：</a:t>
            </a:r>
          </a:p>
          <a:p>
            <a:r>
              <a:t>/Users/yinzh/PycharmProjects/EPUB_to_Audio_Converter-1/audiobook_generator/audio_core/casting.py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/Users/yinzh/PycharmProjects/EPUB_to_Audio_Converter-1/docs/MiMo参考音克隆接入与验收.md</a:t>
            </a:r>
          </a:p>
          <a:p>
            <a:r>
              <a:t>/Users/yinzh/PycharmProjects/EPUB_to_Audio_Converter-1/docs/MiMo混合选角使用与验收.md</a:t>
            </a:r>
          </a:p>
          <a:p>
            <a:r>
              <a:t>/Users/yinzh/PycharmProjects/EPUB_to_Audio_Converter-1/audiobook_generator/tts_providers/mimo_voice.py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同一份已载入的V2剧本，选择Juli Baker后实际显示Chloe、英语、1.0倍速。右侧试听结果为空，因此不能称这次试听成功。固定试听会保存本地参考音，之后试听或生成可能向MiMo发送参考音，此处未触发。</a:t>
            </a:r>
          </a:p>
          <a:p/>
          <a:p>
            <a:r>
              <a:t>界面来源：http://127.0.0.1:7862/，2026-10-18 当前运行的有声书工坊。</a:t>
            </a:r>
          </a:p>
          <a:p>
            <a:r>
              <a:t>截图原图：/Users/yinzh/PycharmProjects/EPUB_to_Audio_Converter-1/docs/presentation_20261018/assets/ui_20261018/role_full.jpg</a:t>
            </a:r>
          </a:p>
          <a:p>
            <a:r>
              <a:t>代码：/Users/yinzh/PycharmProjects/EPUB_to_Audio_Converter-1/audiobook_generator/ui/web_ui.py</a:t>
            </a:r>
          </a:p>
          <a:p>
            <a:r>
              <a:t>截图使用已有本地书籍、剧本和音频，不代表本轮新生成或新验收。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/Users/yinzh/PycharmProjects/EPUB_to_Audio_Converter-1/docs/MiMo统一核心使用与验收.md</a:t>
            </a:r>
          </a:p>
          <a:p>
            <a:r>
              <a:t>/Users/yinzh/PycharmProjects/EPUB_to_Audio_Converter-1/audiobook_generator/audio_core/quality.py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QualityEvaluator.evaluate_chunk 分别产生 signal、content、consistency 维度。evaluate_boundary 对每组相邻片段产生 stitching、content 维度。正式管线先检查各块，再为相邻两块组装完整窗口并转写检查。三类输入以 ReadingChunk.tts_text、role_id、音频路径和角色 anchor 为准，不拿未经处理的书籍排版文本直接比对。不得把文本一致、能解码、人物一致或主观自然度合并成一个未经验证的“正确率”。</a:t>
            </a:r>
          </a:p>
          <a:p/>
          <a:p>
            <a:r>
              <a:t>项目源码与本地证据（截至 2026-10-18）：</a:t>
            </a:r>
          </a:p>
          <a:p>
            <a:r>
              <a:t>/Users/yinzh/PycharmProjects/EPUB_to_Audio_Converter-1/audiobook_generator/audio_core/quality.py</a:t>
            </a:r>
          </a:p>
          <a:p>
            <a:r>
              <a:t>/Users/yinzh/PycharmProjects/EPUB_to_Audio_Converter-1/audiobook_generator/audio_core/pipeline.py</a:t>
            </a:r>
          </a:p>
          <a:p>
            <a:r>
              <a:t>/Users/yinzh/PycharmProjects/EPUB_to_Audio_Converter-1/audiobook_generator/audio_core/models.py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转写路径：QualityEvaluator.transcript → SenseVoiceBackend.__call__ → voxcpm_asr.transcribe_audio。FunASR AutoModel.generate(input=..., language="auto", use_itn=True)，从 result[0]["text"].split("|&gt;")[-1] 获取正文。核心后端要求已配置的本地模型目录，固定 CPU，模型版本纳入缓存指纹，不隐式下载。comparison_details 先做 Unicode NFKC、弯撇号转直撇号、normalize_reading_text、显式词典与内置数值等价，再按语言分词。英文 comparison_reading 仅支持有边界的数值/日期等价，模糊编号和缩略词不任意展开。中文按规范化后的字符比较，混合语言使用 mixed_token 并单独记录指标。</a:t>
            </a:r>
          </a:p>
          <a:p/>
          <a:p>
            <a:r>
              <a:t>项目源码与本地证据（截至 2026-10-18）：</a:t>
            </a:r>
          </a:p>
          <a:p>
            <a:r>
              <a:t>/Users/yinzh/PycharmProjects/EPUB_to_Audio_Converter-1/audiobook_generator/audio_core/backends.py</a:t>
            </a:r>
          </a:p>
          <a:p>
            <a:r>
              <a:t>/Users/yinzh/PycharmProjects/EPUB_to_Audio_Converter-1/audiobook_generator/utils/voxcpm_asr.py</a:t>
            </a:r>
          </a:p>
          <a:p>
            <a:r>
              <a:t>/Users/yinzh/PycharmProjects/EPUB_to_Audio_Converter-1/audiobook_generator/audio_core/reading.py</a:t>
            </a:r>
          </a:p>
          <a:p>
            <a:r>
              <a:t>/Users/yinzh/PycharmProjects/EPUB_to_Audio_Converter-1/audiobook_generator/audio_core/english_reading.py</a:t>
            </a:r>
          </a:p>
          <a:p>
            <a:r>
              <a:t>/Users/yinzh/PycharmProjects/EPUB_to_Audio_Converter-1/audiobook_generator/audio_core/quality.py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align_text 使用 Levenshtein 动态规划。D(i,j) 表示参考前 i 个单位与识别前 j 个单位的最小改动数。边界 D(i,0)=i，D(0,j)=j。先填表，再从右下角回溯得到 replace/delete/insert，保存 reference_index、hypothesis_index 和具体文本。中文指标 CER，英文 WER，混合文本 mixed_token_error_rate。error_rate=dist/max(1,len(reference_tokens))，多读很多时可以超过 100%，不能把 1-error_rate 直接称为音频正确率。索引定位到规范化后的字词，不等于毫秒级声学时间戳。只要出现任意差异，content 仍为 incomplete 并写 asr_mismatch，不是凭一个百分比阈值确认缺陷。本页中文例子为算法示意，不是项目实测音频。R034 的真实接受与误报裁决见 v49：要求精确 verified_tts_text、整块内容完整、无增读及音频/报告/告警指纹绑定，不能用一小段试听消除整块提示。</a:t>
            </a:r>
          </a:p>
          <a:p/>
          <a:p>
            <a:r>
              <a:t>项目源码与本地证据（截至 2026-10-18）：</a:t>
            </a:r>
          </a:p>
          <a:p>
            <a:r>
              <a:t>/Users/yinzh/PycharmProjects/EPUB_to_Audio_Converter-1/audiobook_generator/audio_core/quality.py</a:t>
            </a:r>
          </a:p>
          <a:p>
            <a:r>
              <a:t>/Users/yinzh/PycharmProjects/EPUB_to_Audio_Converter-1/audiobook_generator/audio_core/quality_review.py</a:t>
            </a:r>
          </a:p>
          <a:p>
            <a:r>
              <a:t>/Users/yinzh/PycharmProjects/EPUB_to_Audio_Converter-1/docs/validation/audio_core_20261017/README.md</a:t>
            </a:r>
          </a:p>
          <a:p>
            <a:r>
              <a:t>/Users/yinzh/PycharmProjects/EPUB_to_Audio_Converter-1/docs/validation/audio_core_20261017/asr_adjudication_actual_v49.json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SpeakerEncoder 使用本地 SpeechBrain ECAPA EncoderClassifier，模型权重齐全才允许运行，CPU 推理。mono_resampled 将声道取均值并用 scipy.signal.resample_poly 抗混叠重采样到 16 kHz。有效语音近似为 RMS≥0.003 的 20 ms 帧，min(总时长,有效帧时长)须≥3 s。模型输出扁平向量并 L2 归一化，QualityEvaluator.embedding 再验证有限数值、非空且范数&gt;0。distance=1−dot(e_current,e_anchor)，&gt;0.35 只触发 speaker_drift，speaker_threshold_kind=uncalibrated。consistency 不会因距离小而自动 passed。参考音优先采用有效固定配置，自动 bootstrap 参考只适用于非 design/clone、无问题且内容通过的片段；这是程序可用参考，不等于人已确认身份。比较时校验参考音 SHA256 与记录绑定，文件发生变化即拒绝沿用依据。</a:t>
            </a:r>
          </a:p>
          <a:p/>
          <a:p>
            <a:r>
              <a:t>项目源码与本地证据（截至 2026-10-18）：</a:t>
            </a:r>
          </a:p>
          <a:p>
            <a:r>
              <a:t>/Users/yinzh/PycharmProjects/EPUB_to_Audio_Converter-1/audiobook_generator/audio_core/backends.py</a:t>
            </a:r>
          </a:p>
          <a:p>
            <a:r>
              <a:t>/Users/yinzh/PycharmProjects/EPUB_to_Audio_Converter-1/audiobook_generator/audio_core/quality.py</a:t>
            </a:r>
          </a:p>
          <a:p>
            <a:r>
              <a:t>/Users/yinzh/PycharmProjects/EPUB_to_Audio_Converter-1/audiobook_generator/audio_core/audio.py</a:t>
            </a:r>
          </a:p>
          <a:p>
            <a:r>
              <a:t>/Users/yinzh/PycharmProjects/EPUB_to_Audio_Converter-1/audiobook_generator/audio_core/pipeline.py</a:t>
            </a:r>
          </a:p>
          <a:p>
            <a:r>
              <a:t>/Users/yinzh/PycharmProjects/EPUB_to_Audio_Converter-1/docs/validation/audio_core_20261017/README.md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signal_features 的 frame_rms 默认帧宽20 ms，RMS≥0.003 估计有效发声，active=min(duration,active_seconds)。可选 SileroVAD 使用随包 ONNX 模型、16 kHz 输入与 get_speech_timestamps，默认 enable_vad=False，失败则沿用轻量估计。reading_count 用规范化参考计数，并非实测逐词时间戳。count≥5、总时长≥1 s、语言为en/zh且没有已发现的内容差异才使用语速规则。英文阈值 max_english_wpm/60，默认300词/分；中文max_rate默认4.3字/秒。abs(log(rate/reference_rate))&gt;log(1.3)，等价于ratio&gt;1.3或ratio&lt;1/1.3，绝非对称±30%。当前或参考文本对齐异常、单位不同时不做相对语速判断。pitch_summary 将音频重采样到8 kHz，320点窗口、160点步长，去均值并加Hann窗，对RMS≥0.01的帧自相关，候选lag16..133且归一化峰相关≥0.55才纳入。取中位基频和四分位距。shift=12log2(f_current/f_reference)，|shift|&gt;6且双方 voiced_frames≥50才触发pitch_drift。这是轻量估计和未校准启发式提示，不是训练过的情绪或错误发音分类器。</a:t>
            </a:r>
          </a:p>
          <a:p/>
          <a:p>
            <a:r>
              <a:t>项目源码与本地证据（截至 2026-10-18）：</a:t>
            </a:r>
          </a:p>
          <a:p>
            <a:r>
              <a:t>/Users/yinzh/PycharmProjects/EPUB_to_Audio_Converter-1/audiobook_generator/audio_core/audio.py</a:t>
            </a:r>
          </a:p>
          <a:p>
            <a:r>
              <a:t>/Users/yinzh/PycharmProjects/EPUB_to_Audio_Converter-1/audiobook_generator/audio_core/quality.py</a:t>
            </a:r>
          </a:p>
          <a:p>
            <a:r>
              <a:t>/Users/yinzh/PycharmProjects/EPUB_to_Audio_Converter-1/audiobook_generator/audio_core/backends.py</a:t>
            </a:r>
          </a:p>
          <a:p>
            <a:r>
              <a:t>/Users/yinzh/PycharmProjects/EPUB_to_Audio_Converter-1/audiobook_generator/audio_core/models.py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boundary_features 默认 window_seconds=2.0。左右短窗口先单声道16 kHz，边缘20 ms即320点算RMS，rms_jump_db=|20log10(RMS_left/RMS_right)|。边缘各512点FFT幅度谱作L2归一化，计算欧氏距离。tail/head由完整片段的连续边缘20 ms低能量帧（RMS&lt;0.003）计数，保守估计静音。added_pause=planned−tail−head，若&gt;0，sample_jump=max(|left_last|,|right_first|)，否则=|left_last−right_first|。九个特征包括样本跳变、RMS分贝差、谱距离、左右发声标记、左右静音、计划停顿、是否同角色。默认 heuristic_labels 只产生疑似click和过长gap，两条规则如页面所列，并不直接确认cutoff或overlap。可选 boundary-logistic-v1 将9项标准化，四个独立sigmoid头预测click/cutoff/overlap/gap，训练集拟合、独立dev选阈值（先限制dev误报≤5%再最大化召回），同源变体不得跨split。真实独立评估未完成，因此即使预测完成，stitching维度也保持incomplete。完整两句ASR输入是assembled_window，与两个完整tts_text拼接比较，不是只拿各2秒。J076真实v46移除已确认静音中央1.04秒，停顿2.04→1.00秒，原语音保留，v47用户确认三处修复正常。</a:t>
            </a:r>
          </a:p>
          <a:p/>
          <a:p>
            <a:r>
              <a:t>项目源码与本地证据（截至 2026-10-18）：</a:t>
            </a:r>
          </a:p>
          <a:p>
            <a:r>
              <a:t>/Users/yinzh/PycharmProjects/EPUB_to_Audio_Converter-1/audiobook_generator/audio_core/audio.py</a:t>
            </a:r>
          </a:p>
          <a:p>
            <a:r>
              <a:t>/Users/yinzh/PycharmProjects/EPUB_to_Audio_Converter-1/audiobook_generator/audio_core/quality.py</a:t>
            </a:r>
          </a:p>
          <a:p>
            <a:r>
              <a:t>/Users/yinzh/PycharmProjects/EPUB_to_Audio_Converter-1/audiobook_generator/audio_core/boundary_model.py</a:t>
            </a:r>
          </a:p>
          <a:p>
            <a:r>
              <a:t>/Users/yinzh/PycharmProjects/EPUB_to_Audio_Converter-1/docs/validation/audio_core_20261017/README.md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signal_features 解码为float32 always_2d，样本需有限且采样率有效。peak=max(abs(samples))，clipped_fraction=mean(abs(samples)&gt;=0.999)，阈值&gt;0.002。evaluate_chunk 对 samples==0、peak&lt;0.003、clipped_fraction&gt;0.002 分别生成 empty_audio/too_quiet/clipping，certainty=confirmed、severity=error、signal=failed。这里的“确认”是程序对信号阈值事实的确认，不能外推为人工自然度结论。QualityReport.status 精确逻辑：存在confirmed error则failed；否则有任意issues或任意dimension=incomplete则incomplete；否则passed。speaker未校准或缺模型、stitching未验收时不会因为没越阈值而自动passed。SHA256绑定音频，ASR缓存键同时含音频SHA、模型fingerprint和处理版本；检查前后校验文件和模型未变，避免拿旧缓存或旧人工结论套到新版本。人审结论需精确绑定报告、音频、告警及所听上下文，机器原始依据保留。</a:t>
            </a:r>
          </a:p>
          <a:p/>
          <a:p>
            <a:r>
              <a:t>项目源码与本地证据（截至 2026-10-18）：</a:t>
            </a:r>
          </a:p>
          <a:p>
            <a:r>
              <a:t>/Users/yinzh/PycharmProjects/EPUB_to_Audio_Converter-1/audiobook_generator/audio_core/audio.py</a:t>
            </a:r>
          </a:p>
          <a:p>
            <a:r>
              <a:t>/Users/yinzh/PycharmProjects/EPUB_to_Audio_Converter-1/audiobook_generator/audio_core/quality.py</a:t>
            </a:r>
          </a:p>
          <a:p>
            <a:r>
              <a:t>/Users/yinzh/PycharmProjects/EPUB_to_Audio_Converter-1/audiobook_generator/audio_core/models.py</a:t>
            </a:r>
          </a:p>
          <a:p>
            <a:r>
              <a:t>/Users/yinzh/PycharmProjects/EPUB_to_Audio_Converter-1/audiobook_generator/audio_core/quality_review.py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取flipped_casting_preview_20261017目录既有quality.json，run833889352480474a859cd06200d0ed5e。报告显示第5章incomplete且音频已导出。本次运行累计1次合成请求（修复1次），历史已知101次且不全，两项可能重叠不相加。页面表格可水平滚动，此截图保留位置、维度、问题三列。原机器证据不被新的界面阅读替代。</a:t>
            </a:r>
          </a:p>
          <a:p/>
          <a:p>
            <a:r>
              <a:t>界面来源：http://127.0.0.1:7862/，2026-10-18 当前运行的有声书工坊。</a:t>
            </a:r>
          </a:p>
          <a:p>
            <a:r>
              <a:t>截图原图：/Users/yinzh/PycharmProjects/EPUB_to_Audio_Converter-1/docs/presentation_20261018/assets/ui_20261018/report_full.jpg</a:t>
            </a:r>
          </a:p>
          <a:p>
            <a:r>
              <a:t>代码：/Users/yinzh/PycharmProjects/EPUB_to_Audio_Converter-1/audiobook_generator/ui/web_ui.py</a:t>
            </a:r>
          </a:p>
          <a:p>
            <a:r>
              <a:t>截图使用已有本地书籍、剧本和音频，不代表本轮新生成或新验收。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/Users/yinzh/PycharmProjects/EPUB_to_Audio_Converter-1/docs/MiMo统一核心使用与验收.md</a:t>
            </a:r>
          </a:p>
          <a:p>
            <a:r>
              <a:t>/Users/yinzh/PycharmProjects/EPUB_to_Audio_Converter-1/audiobook_generator/audio_core/store.py</a:t>
            </a:r>
          </a:p>
          <a:p>
            <a:r>
              <a:t>/Users/yinzh/PycharmProjects/EPUB_to_Audio_Converter-1/audiobook_generator/audio_core/pipeline.py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选择5:60:classmates:chunk:1与5:61:narrator:chunk:1之间的J076窗口，播放器显示约4秒。页面已加载既有J076.wav，此次未点击播放，也未做新的修复。项目历史J076曾确认停顿约2.04秒并调整至约1秒，具体历史结论见前文技术页，当前截图本身不重复证明验收结果。</a:t>
            </a:r>
          </a:p>
          <a:p/>
          <a:p>
            <a:r>
              <a:t>界面来源：http://127.0.0.1:7862/，2026-10-18 当前运行的有声书工坊。</a:t>
            </a:r>
          </a:p>
          <a:p>
            <a:r>
              <a:t>截图原图：/Users/yinzh/PycharmProjects/EPUB_to_Audio_Converter-1/docs/presentation_20261018/assets/ui_20261018/context_full.jpg</a:t>
            </a:r>
          </a:p>
          <a:p>
            <a:r>
              <a:t>代码：/Users/yinzh/PycharmProjects/EPUB_to_Audio_Converter-1/audiobook_generator/ui/web_ui.py</a:t>
            </a:r>
          </a:p>
          <a:p>
            <a:r>
              <a:t>截图使用已有本地书籍、剧本和音频，不代表本轮新生成或新验收。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汇报截止：2026-10-18。技术补充基于项目现有代码，公式归纳当前实现，未经独立实验验证的效果不作结论。</a:t>
            </a:r>
          </a:p>
          <a:p>
            <a:r>
              <a:t>ArtifactStore使用SQLite。reserve在BEGIN IMMEDIATE事务内读取本次run的全部请求记录并检查次数、追加字符与已用时间，再插入running记录。失败与未完成记录也计入消耗，settle只更新状态。时间上限是请求发起前及修复前的检查，不宣称是操作系统级实时硬截止。</a:t>
            </a:r>
          </a:p>
          <a:p>
            <a:r>
              <a:t>本地来源：</a:t>
            </a:r>
          </a:p>
          <a:p>
            <a:r>
              <a:t>/Users/yinzh/PycharmProjects/EPUB_to_Audio_Converter-1/audiobook_generator/audio_core/store.py</a:t>
            </a:r>
          </a:p>
          <a:p>
            <a:r>
              <a:t>/Users/yinzh/PycharmProjects/EPUB_to_Audio_Converter-1/audiobook_generator/audio_core/pipeline.py</a:t>
            </a:r>
          </a:p>
          <a:p>
            <a:r>
              <a:t>/Users/yinzh/PycharmProjects/EPUB_to_Audio_Converter-1/audiobook_generator/audio_core/repair.py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汇报截止：2026-10-18。技术补充基于项目现有代码，公式归纳当前实现，未经独立实验验证的效果不作结论。</a:t>
            </a:r>
          </a:p>
          <a:p>
            <a:r>
              <a:t>对应pipeline.preserves_checks与attempt_repair。复检范围是目标分块和左右相邻接缝。候选不能新增已确认严重错误，原passed维度仍须passed，已有内容对齐误差不能增加。随后对本块与边界报告的rank各分量求和，按Python元组字典序比较，只有严格改善才采用。重分块候选还必须通过内部接缝的内容与信号检查。</a:t>
            </a:r>
          </a:p>
          <a:p>
            <a:r>
              <a:t>本地来源：</a:t>
            </a:r>
          </a:p>
          <a:p>
            <a:r>
              <a:t>/Users/yinzh/PycharmProjects/EPUB_to_Audio_Converter-1/audiobook_generator/audio_core/pipeline.py</a:t>
            </a:r>
          </a:p>
          <a:p>
            <a:r>
              <a:t>/Users/yinzh/PycharmProjects/EPUB_to_Audio_Converter-1/audiobook_generator/audio_core/quality.py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/Users/yinzh/PycharmProjects/EPUB_to_Audio_Converter-1/docs/MiMo尾部重复检测与裁切.md</a:t>
            </a:r>
          </a:p>
          <a:p>
            <a:r>
              <a:t>/Users/yinzh/PycharmProjects/EPUB_to_Audio_Converter-1/audiobook_generator/audio_core/tail_repeat.py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/Users/yinzh/PycharmProjects/EPUB_to_Audio_Converter-1/docs/MiMo统一核心使用与验收.md</a:t>
            </a:r>
          </a:p>
          <a:p>
            <a:r>
              <a:t>/Users/yinzh/PycharmProjects/EPUB_to_Audio_Converter-1/audiobook_generator/audio_core/store.py</a:t>
            </a:r>
          </a:p>
          <a:p>
            <a:r>
              <a:t>/Users/yinzh/PycharmProjects/EPUB_to_Audio_Converter-1/audiobook_generator/audio_core/audio.py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/Users/yinzh/PycharmProjects/EPUB_to_Audio_Converter-1/docs/validation/audio_core_20261017/README.md</a:t>
            </a:r>
          </a:p>
          <a:p>
            <a:r>
              <a:t>/Users/yinzh/PycharmProjects/EPUB_to_Audio_Converter-1/docs/项目进度与人工验收安排.md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汇报截止：2026-10-18。工程实现、局部人工验收与研究效果分开表述。</a:t>
            </a:r>
          </a:p>
          <a:p>
            <a:r>
              <a:t>本地来源：</a:t>
            </a:r>
          </a:p>
          <a:p>
            <a:r>
              <a:t>/Users/yinzh/PycharmProjects/EPUB_to_Audio_Converter-1/docs/项目进度与人工验收安排.md</a:t>
            </a:r>
          </a:p>
          <a:p>
            <a:r>
              <a:t>/Users/yinzh/PycharmProjects/EPUB_to_Audio_Converter-1/docs/validation/role_resplit_guard_20261018/README.md</a:t>
            </a:r>
          </a:p>
          <a:p>
            <a:r>
              <a:t>/Users/yinzh/PycharmProjects/EPUB_to_Audio_Converter-1/docs/MiMo统一核心使用与验收.md</a:t>
            </a:r>
          </a:p>
          <a:p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microsoft.com/office/2007/relationships/media" Target="../media/media2.mp3"/><Relationship Id="rId3" Type="http://schemas.openxmlformats.org/officeDocument/2006/relationships/image" Target="../media/image1.png"/><Relationship Id="rId2" Type="http://schemas.microsoft.com/office/2007/relationships/media" Target="../media/media1.mp3"/><Relationship Id="rId1" Type="http://schemas.openxmlformats.org/officeDocument/2006/relationships/audio" Target="NUL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把电子书变成多角色有声书</a:t>
            </a:r>
            <a:endParaRPr sz="3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275" b="0">
              <a:solidFill>
                <a:srgbClr val="C4D5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952625"/>
            <a:ext cx="10572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我们做了什么，怎样做</a:t>
            </a:r>
            <a:r>
              <a:rPr lang="zh-CN"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到</a:t>
            </a:r>
            <a:r>
              <a:rPr lang="zh-CN" sz="4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</a:t>
            </a:r>
            <a:endParaRPr lang="zh-CN" sz="4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3476625"/>
            <a:ext cx="10477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给不同人物安排声音</a:t>
            </a:r>
            <a:endParaRPr sz="2400" b="0">
              <a:solidFill>
                <a:srgbClr val="D2DF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0">
                <a:solidFill>
                  <a:srgbClr val="D2DF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找出读错的地方，尽量只修有问题的部分</a:t>
            </a:r>
            <a:endParaRPr sz="2400" b="0">
              <a:solidFill>
                <a:srgbClr val="D2DF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5419725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800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800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800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800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800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800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800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800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800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800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C4D5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项目进展与改进思路    2026 年 10 月 18 日</a:t>
            </a:r>
            <a:endParaRPr sz="1800" b="0">
              <a:solidFill>
                <a:srgbClr val="C4D5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911860" y="-5715"/>
            <a:ext cx="9780270" cy="3417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Flipped-</a:t>
            </a:r>
            <a:r>
              <a:rPr lang="zh-CN" altLang="en-US"/>
              <a:t>第二章</a:t>
            </a:r>
            <a:endParaRPr lang="en-US" altLang="zh-CN"/>
          </a:p>
          <a:p>
            <a:r>
              <a:rPr lang="en-US" altLang="zh-CN"/>
              <a:t>When the Loskis' moving van finally arrived, everyone in my family was happy. “Little Julianna” was finally going to have a playmate.</a:t>
            </a:r>
            <a:endParaRPr lang="en-US" altLang="zh-CN"/>
          </a:p>
          <a:p>
            <a:r>
              <a:rPr lang="en-US" altLang="zh-CN"/>
              <a:t>My mother, being the truly sensible adult that she is, made me wait more than an hour before going over to meet him.</a:t>
            </a:r>
            <a:r>
              <a:rPr lang="en-US" altLang="zh-CN">
                <a:highlight>
                  <a:srgbClr val="FFFF00"/>
                </a:highlight>
              </a:rPr>
              <a:t> “Give them a chance to stretch their legs, Julianna,”</a:t>
            </a:r>
            <a:r>
              <a:rPr lang="en-US" altLang="zh-CN"/>
              <a:t> she said. </a:t>
            </a:r>
            <a:r>
              <a:rPr lang="en-US" altLang="zh-CN">
                <a:highlight>
                  <a:srgbClr val="FFFF00"/>
                </a:highlight>
              </a:rPr>
              <a:t>“They'll want some time to adjust.”</a:t>
            </a:r>
            <a:r>
              <a:rPr lang="en-US" altLang="zh-CN"/>
              <a:t> She wouldn't even let me watch from the yard.</a:t>
            </a:r>
            <a:r>
              <a:rPr lang="en-US" altLang="zh-CN">
                <a:highlight>
                  <a:srgbClr val="FFFF00"/>
                </a:highlight>
              </a:rPr>
              <a:t> “I know you, sweetheart. Somehow that ball will wind up in their yard and you'll just have to go retrieve it.”</a:t>
            </a:r>
            <a:endParaRPr lang="en-US" altLang="zh-CN"/>
          </a:p>
          <a:p>
            <a:r>
              <a:rPr lang="en-US" altLang="zh-CN"/>
              <a:t>So I watched from the window, and every few minutes I'd ask, “Now?” and she'd say, </a:t>
            </a:r>
            <a:r>
              <a:rPr lang="en-US" altLang="zh-CN">
                <a:highlight>
                  <a:srgbClr val="FFFF00"/>
                </a:highlight>
              </a:rPr>
              <a:t>“Give them a little while longer, would you?”</a:t>
            </a:r>
            <a:endParaRPr lang="en-US" altLang="zh-CN">
              <a:highlight>
                <a:srgbClr val="FFFF00"/>
              </a:highlight>
            </a:endParaRPr>
          </a:p>
          <a:p>
            <a:endParaRPr lang="en-US" altLang="zh-CN">
              <a:highlight>
                <a:srgbClr val="FFFF00"/>
              </a:highlight>
            </a:endParaRPr>
          </a:p>
        </p:txBody>
      </p:sp>
      <p:pic>
        <p:nvPicPr>
          <p:cNvPr id="4" name="0006_Flipped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34680.000000" end="766184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848340" y="1557020"/>
            <a:ext cx="825500" cy="825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90905" y="3330575"/>
            <a:ext cx="9801225" cy="3452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第十一章</a:t>
            </a:r>
            <a:endParaRPr lang="en-US" altLang="zh-CN"/>
          </a:p>
          <a:p>
            <a:r>
              <a:rPr lang="en-US" altLang="zh-CN">
                <a:highlight>
                  <a:srgbClr val="FFFF00"/>
                </a:highlight>
              </a:rPr>
              <a:t>“Your mother pointed her out to me one time as we drove by. It scared me to see her up so high, but after I read the article I understood why she did it.”</a:t>
            </a:r>
            <a:r>
              <a:rPr lang="en-US" altLang="zh-CN"/>
              <a:t> He shook his head. </a:t>
            </a:r>
            <a:r>
              <a:rPr lang="en-US" altLang="zh-CN">
                <a:highlight>
                  <a:srgbClr val="FFFF00"/>
                </a:highlight>
              </a:rPr>
              <a:t>“The tree's gone, but she's still got the spark it gave her. Know what I mean?”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en-US" altLang="zh-CN"/>
              <a:t>Luckily I didn't have to answer. He just grinned and said, </a:t>
            </a:r>
            <a:r>
              <a:rPr lang="en-US" altLang="zh-CN">
                <a:highlight>
                  <a:srgbClr val="FFFF00"/>
                </a:highlight>
              </a:rPr>
              <a:t>“Some of us get dipped in flat, some in satin, some in gloss….” He turned to me. “But every once in a while you find someone who's iridescent, and when you do, nothing will ever compare.”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en-US" altLang="zh-CN"/>
              <a:t>As we walked up to our front porch, my grandfather put his arm around my shoulder and said, </a:t>
            </a:r>
            <a:r>
              <a:rPr lang="en-US" altLang="zh-CN">
                <a:highlight>
                  <a:srgbClr val="FFFF00"/>
                </a:highlight>
              </a:rPr>
              <a:t>“It was nice walking with you, Bryce. I enjoyed myself very much.”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en-US" altLang="zh-CN"/>
              <a:t>“Me too,” I told him, and we went inside.”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6" name="0011_Get_a_Grip_Man (1)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4">
                  <p14:trim st="1743342.000000" end="271229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848340" y="5301615"/>
            <a:ext cx="825500" cy="825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>
                <p:cTn id="3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8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目前已经做成了哪些功能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66875"/>
          <a:ext cx="10972800" cy="3810000"/>
        </p:xfrm>
        <a:graphic>
          <a:graphicData uri="http://schemas.openxmlformats.org/drawingml/2006/table">
            <a:tbl>
              <a:tblPr/>
              <a:tblGrid>
                <a:gridCol w="1714500"/>
                <a:gridCol w="5429250"/>
                <a:gridCol w="3829050"/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制作步骤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已经能做什么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目前的情况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读入书籍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提取章节，整理人物和人物别名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支持中英文，允许人工修改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安排声音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选现成声音、用文字描述、模仿参考音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已选好的声音可以锁定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lang="en-US"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*</a:t>
                      </a:r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生成音频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逐段生成，保存结果，按顺序拼起来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新的整套流程目前接入 MiMo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lang="en-US"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*</a:t>
                      </a:r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检查与修正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找读错、长停顿、换声等疑点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已完成部分实际问题的修正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网页操作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选章节、确认配置、查看和下载结果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后台流程已做测试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原来的转换器仍支持多种语音服务，本轮重点做好 MiMo 的整套制作流程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5" name="直接箭头连接符 24"/>
          <p:cNvCxnSpPr>
            <a:stCxn id="13" idx="3"/>
            <a:endCxn id="14" idx="1"/>
          </p:cNvCxnSpPr>
          <p:nvPr/>
        </p:nvCxnSpPr>
        <p:spPr>
          <a:xfrm>
            <a:off x="8686800" y="4953000"/>
            <a:ext cx="6096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24" name="直接箭头连接符 23"/>
          <p:cNvCxnSpPr>
            <a:stCxn id="12" idx="3"/>
            <a:endCxn id="13" idx="1"/>
          </p:cNvCxnSpPr>
          <p:nvPr/>
        </p:nvCxnSpPr>
        <p:spPr>
          <a:xfrm>
            <a:off x="5791200" y="4953000"/>
            <a:ext cx="6096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23" name="直接箭头连接符 22"/>
          <p:cNvCxnSpPr>
            <a:stCxn id="11" idx="3"/>
            <a:endCxn id="12" idx="1"/>
          </p:cNvCxnSpPr>
          <p:nvPr/>
        </p:nvCxnSpPr>
        <p:spPr>
          <a:xfrm>
            <a:off x="2895600" y="4953000"/>
            <a:ext cx="6096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22" name="直接箭头连接符 21"/>
          <p:cNvCxnSpPr>
            <a:stCxn id="10" idx="2"/>
            <a:endCxn id="11" idx="0"/>
          </p:cNvCxnSpPr>
          <p:nvPr/>
        </p:nvCxnSpPr>
        <p:spPr>
          <a:xfrm>
            <a:off x="1752600" y="4048125"/>
            <a:ext cx="0" cy="409575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21" name="直接箭头连接符 20"/>
          <p:cNvCxnSpPr>
            <a:stCxn id="9" idx="1"/>
            <a:endCxn id="10" idx="3"/>
          </p:cNvCxnSpPr>
          <p:nvPr/>
        </p:nvCxnSpPr>
        <p:spPr>
          <a:xfrm flipH="1">
            <a:off x="2895600" y="3552825"/>
            <a:ext cx="6096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20" name="直接箭头连接符 19"/>
          <p:cNvCxnSpPr>
            <a:stCxn id="8" idx="1"/>
            <a:endCxn id="9" idx="3"/>
          </p:cNvCxnSpPr>
          <p:nvPr/>
        </p:nvCxnSpPr>
        <p:spPr>
          <a:xfrm flipH="1">
            <a:off x="5791200" y="3552825"/>
            <a:ext cx="6096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19" name="直接箭头连接符 18"/>
          <p:cNvCxnSpPr>
            <a:stCxn id="7" idx="1"/>
            <a:endCxn id="8" idx="3"/>
          </p:cNvCxnSpPr>
          <p:nvPr/>
        </p:nvCxnSpPr>
        <p:spPr>
          <a:xfrm flipH="1">
            <a:off x="8686800" y="3552825"/>
            <a:ext cx="6096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18" name="直接箭头连接符 17"/>
          <p:cNvCxnSpPr>
            <a:stCxn id="6" idx="2"/>
            <a:endCxn id="7" idx="0"/>
          </p:cNvCxnSpPr>
          <p:nvPr/>
        </p:nvCxnSpPr>
        <p:spPr>
          <a:xfrm>
            <a:off x="10439400" y="2647950"/>
            <a:ext cx="0" cy="409575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17" name="直接箭头连接符 16"/>
          <p:cNvCxnSpPr>
            <a:stCxn id="5" idx="3"/>
            <a:endCxn id="6" idx="1"/>
          </p:cNvCxnSpPr>
          <p:nvPr/>
        </p:nvCxnSpPr>
        <p:spPr>
          <a:xfrm>
            <a:off x="8686800" y="2152650"/>
            <a:ext cx="6096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16" name="直接箭头连接符 15"/>
          <p:cNvCxnSpPr>
            <a:stCxn id="4" idx="3"/>
            <a:endCxn id="5" idx="1"/>
          </p:cNvCxnSpPr>
          <p:nvPr/>
        </p:nvCxnSpPr>
        <p:spPr>
          <a:xfrm>
            <a:off x="5791200" y="2152650"/>
            <a:ext cx="6096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15" name="直接箭头连接符 14"/>
          <p:cNvCxnSpPr>
            <a:stCxn id="3" idx="3"/>
            <a:endCxn id="4" idx="1"/>
          </p:cNvCxnSpPr>
          <p:nvPr/>
        </p:nvCxnSpPr>
        <p:spPr>
          <a:xfrm>
            <a:off x="2895600" y="2152650"/>
            <a:ext cx="6096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sp>
        <p:nvSpPr>
          <p:cNvPr id="27" name="矩形 26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从上传书籍到下载音频，具体怎么走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57350"/>
            <a:ext cx="2286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上传书籍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选择要朗读的章节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505200" y="1657350"/>
            <a:ext cx="2286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 </a:t>
            </a:r>
            <a:r>
              <a:rPr lang="en-US"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找出说话的人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谁在讲故事或说话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00800" y="1657350"/>
            <a:ext cx="2286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 对照书中原文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核对是否漏字、改字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296400" y="1657350"/>
            <a:ext cx="2286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 选声音并确认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试听声音，设置语速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296400" y="3057525"/>
            <a:ext cx="2286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 整理实际读法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处理数字、缩写读法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00800" y="3057525"/>
            <a:ext cx="2286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 按句分成小段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记录人物和停顿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505200" y="3057525"/>
            <a:ext cx="2286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 逐段生成并保存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MiMo 生成，可复用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3057525"/>
            <a:ext cx="2286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 找出可疑问题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查漏读、重复和停顿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4457700"/>
            <a:ext cx="2286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 只修有问题的段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剪多余内容或重读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05200" y="4457700"/>
            <a:ext cx="2286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 再查前后两句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更好才保留新版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00800" y="4457700"/>
            <a:ext cx="2286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 拼成整章音频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检查整章能否播放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296400" y="4457700"/>
            <a:ext cx="2286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 试听确认并下载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保留问题单和原音</a:t>
            </a:r>
            <a:endParaRPr sz="16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修复有次数和用时限制，拿不准的问题留给人工试听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23610" y="1340485"/>
            <a:ext cx="31534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送去朗读的剧本有没有把原文分全、分对？</a:t>
            </a:r>
            <a:endParaRPr lang="zh-CN" alt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谁讲故事，就用谁的声音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192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具体问题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08597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《Flipped》的两章分别由 Bryce 和 Juli 用“我”</a:t>
            </a:r>
            <a:r>
              <a:rPr lang="zh-CN"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</a:t>
            </a: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述。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早期拆分时，有些人物自述被当成了普通旁白。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429000"/>
            <a:ext cx="314325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6C5C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Bryce 讲故事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沿用 Bryce 的声音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572000" y="3429000"/>
            <a:ext cx="314325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6C5C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Juli 讲故事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沿用 Juli 的声音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477250" y="3590925"/>
            <a:ext cx="295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换一章，</a:t>
            </a:r>
            <a:endParaRPr sz="210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重新判断是谁在讲</a:t>
            </a:r>
            <a:endParaRPr sz="210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000625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已完成：两章的文字分配已修正，自述和本人对白共用声音配置。</a:t>
            </a:r>
            <a:endParaRPr sz="21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这次检查确认的是文字和声音的分配，没有为这两章重新生成语音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书上怎么写，实际怎么读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733550"/>
          <a:ext cx="10972800" cy="3305175"/>
        </p:xfrm>
        <a:graphic>
          <a:graphicData uri="http://schemas.openxmlformats.org/drawingml/2006/table">
            <a:tbl>
              <a:tblPr/>
              <a:tblGrid>
                <a:gridCol w="2857500"/>
                <a:gridCol w="4476750"/>
                <a:gridCol w="3638550"/>
              </a:tblGrid>
              <a:tr h="6610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书上写的内容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可以怎样处理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为什么这样做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增长 3.5%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读成“增长百分之三点五”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让朗读更自然，保留原文不动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20 books / twenty books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检查时允许这两种写法对应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避免把数字写法差异当成读错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C’mon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本次修复改用 Come on! 朗读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解决 R034 一个词开头反复读的问题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人名、编号、多音字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拿不准就保留，交给人试听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避免程序擅自改出新错误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362575"/>
            <a:ext cx="1090612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书籍原文和“发给语音服务的读法”分开保存，修改有记录。</a:t>
            </a:r>
            <a:endParaRPr sz="21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录音转成的文字相同，也不能证明多音字读对了，最终还要听声音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箭头连接符 6"/>
          <p:cNvCxnSpPr>
            <a:stCxn id="4" idx="3"/>
            <a:endCxn id="5" idx="1"/>
          </p:cNvCxnSpPr>
          <p:nvPr/>
        </p:nvCxnSpPr>
        <p:spPr>
          <a:xfrm>
            <a:off x="7477125" y="2305050"/>
            <a:ext cx="1343025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直接箭头连接符 5"/>
          <p:cNvCxnSpPr>
            <a:stCxn id="3" idx="3"/>
            <a:endCxn id="4" idx="1"/>
          </p:cNvCxnSpPr>
          <p:nvPr/>
        </p:nvCxnSpPr>
        <p:spPr>
          <a:xfrm>
            <a:off x="3371850" y="2305050"/>
            <a:ext cx="1343025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矩形 11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怎么做到：每一句都能回到书中核对</a:t>
            </a:r>
            <a:r>
              <a:rPr lang="zh-CN"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？</a:t>
            </a:r>
            <a:endParaRPr lang="zh-CN"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847850"/>
            <a:ext cx="276225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模型先判断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这句是谁在说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14875" y="1847850"/>
            <a:ext cx="276225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程序对照原文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检查有没有漏字或改字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820150" y="1847850"/>
            <a:ext cx="276225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找到人物后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使用已保存的声音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341947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每一段都记住它在原书中的位置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88620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把所有小段拼回去，要能对应完整章节。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判断讲述者时，还要留下书里的原句，让人能检查理由。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512445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找不到可靠依据时，先用旁白</a:t>
            </a:r>
            <a:r>
              <a:rPr lang="zh-CN"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音色</a:t>
            </a: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，并标出“需要复核”。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程序可以检查有没有漏字，但“到底是谁在说”仍可能需要人来确认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</a:t>
            </a: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个创新方向，分别解决什么问题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714500"/>
          <a:ext cx="10972800" cy="2894965"/>
        </p:xfrm>
        <a:graphic>
          <a:graphicData uri="http://schemas.openxmlformats.org/drawingml/2006/table">
            <a:tbl>
              <a:tblPr/>
              <a:tblGrid>
                <a:gridCol w="2571750"/>
                <a:gridCol w="4362450"/>
                <a:gridCol w="4038600"/>
              </a:tblGrid>
              <a:tr h="8429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方向</a:t>
                      </a:r>
                      <a:endParaRPr sz="1800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项目中遇到的具体问题</a:t>
                      </a:r>
                      <a:endParaRPr sz="1800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我们的做法</a:t>
                      </a:r>
                      <a:endParaRPr sz="1800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经常对话的人，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声音</a:t>
                      </a:r>
                      <a:r>
                        <a:rPr lang="zh-CN"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差异化</a:t>
                      </a:r>
                      <a:r>
                        <a:rPr lang="zh-CN"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设置</a:t>
                      </a:r>
                      <a:endParaRPr lang="zh-CN"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试用的合格英语声音只有两个，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给旁白留一个后，角色声音不够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常对话的人优先用不同声音，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不够时用固定描述补充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音频局部修正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0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哪里读错，</a:t>
                      </a:r>
                      <a:endParaRPr sz="10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0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就优先修哪里</a:t>
                      </a:r>
                      <a:endParaRPr sz="10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R039 读完又重复，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J076 两句话之间停得太久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只处理问题段，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再检查前后句有没有受影响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343525"/>
            <a:ext cx="10953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共同目标：少弄错说话的人，少重复生成，少让人反复试听</a:t>
            </a:r>
            <a:endParaRPr sz="21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已有文字归属修正和音频修复案例，声音分配是否更好认仍需听众比较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9" name="直接箭头连接符 8"/>
          <p:cNvCxnSpPr>
            <a:stCxn id="6" idx="3"/>
            <a:endCxn id="7" idx="1"/>
          </p:cNvCxnSpPr>
          <p:nvPr/>
        </p:nvCxnSpPr>
        <p:spPr>
          <a:xfrm>
            <a:off x="7620000" y="3962400"/>
            <a:ext cx="9144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直接箭头连接符 7"/>
          <p:cNvCxnSpPr>
            <a:stCxn id="5" idx="3"/>
            <a:endCxn id="6" idx="1"/>
          </p:cNvCxnSpPr>
          <p:nvPr/>
        </p:nvCxnSpPr>
        <p:spPr>
          <a:xfrm>
            <a:off x="3657600" y="3962400"/>
            <a:ext cx="9144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矩形 11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创新</a:t>
            </a:r>
            <a:r>
              <a:rPr lang="zh-CN"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</a:t>
            </a: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：经常对话的人，声音尽量不同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192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具体问题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08597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试用的英语声音库里，经过试听确认的现成声音只有 Mia 和 Chloe。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旁白占用一个后，就很难给其他人物各分一种声音。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476625"/>
            <a:ext cx="3048000" cy="97155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对白多的角色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优先选现成声音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572000" y="3476625"/>
            <a:ext cx="3048000" cy="97155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其他角色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用固定文字描述声音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34400" y="3476625"/>
            <a:ext cx="3048000" cy="971550"/>
          </a:xfrm>
          <a:prstGeom prst="rect">
            <a:avLst/>
          </a:prstGeom>
          <a:solidFill>
            <a:srgbClr val="FFFFFF"/>
          </a:solidFill>
          <a:ln w="19050">
            <a:solidFill>
              <a:srgbClr val="176C5C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经常互相说话的人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优先拉开声音差别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50387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实际试用：用文字设定两个角色的声音，六条录音经试听确认容易区分。</a:t>
            </a:r>
            <a:endParaRPr sz="21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这里只确认了这两个角色的录音，还不能说自动分配一定比随机分配更好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怎么做到：把声音优先分给最需要区分的人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4782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先看哪些人物经常一来一回地说话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1145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程序按原文统计两个人轮流说话的次数。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对话越频繁，越优先给他们安排差别较大的声音。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11467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同时保留用户的选择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358140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已经锁定的声音不会被自动改掉。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也可以要求旁白单独用一种声音，或不同人物不共用声音。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58152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方案少就逐个比较，方案多就先做好主要人物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0482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如果一本书篇幅较长，优先将说话最多的角色分配内置声音（且差异较大的内置声音）、对于说话较少（间隔好几章说一次话的角色）</a:t>
            </a:r>
            <a:r>
              <a:rPr lang="zh-CN" altLang="en-US"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自动使用音色描述生成功能</a:t>
            </a:r>
            <a:endParaRPr lang="zh-CN" altLang="en-US" sz="19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这是当前程序的分配方法，是否真的更好听、更好认，需要专门做试听比较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箭头连接符 7"/>
          <p:cNvCxnSpPr>
            <a:stCxn id="5" idx="3"/>
            <a:endCxn id="6" idx="1"/>
          </p:cNvCxnSpPr>
          <p:nvPr/>
        </p:nvCxnSpPr>
        <p:spPr>
          <a:xfrm>
            <a:off x="7524750" y="5500688"/>
            <a:ext cx="97155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直接箭头连接符 6"/>
          <p:cNvCxnSpPr>
            <a:stCxn id="4" idx="3"/>
            <a:endCxn id="5" idx="1"/>
          </p:cNvCxnSpPr>
          <p:nvPr/>
        </p:nvCxnSpPr>
        <p:spPr>
          <a:xfrm>
            <a:off x="3695700" y="5500688"/>
            <a:ext cx="97155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现在怎样给人物安排声音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771650"/>
          <a:ext cx="10972800" cy="2952752"/>
        </p:xfrm>
        <a:graphic>
          <a:graphicData uri="http://schemas.openxmlformats.org/drawingml/2006/table">
            <a:tbl>
              <a:tblPr/>
              <a:tblGrid>
                <a:gridCol w="2286000"/>
                <a:gridCol w="4286250"/>
                <a:gridCol w="4400550"/>
              </a:tblGrid>
              <a:tr h="73818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方法</a:t>
                      </a:r>
                      <a:endParaRPr sz="1950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如何做</a:t>
                      </a:r>
                      <a:endParaRPr lang="zh-CN" sz="1950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项目中的具体例子</a:t>
                      </a:r>
                      <a:endParaRPr sz="1950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选现成声音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直接选择服务里已有的声音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Juli 曾使用 Chloe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用文字描述声音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LLM</a:t>
                      </a:r>
                      <a:r>
                        <a:rPr lang="zh-CN" altLang="en-US"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根据文章内容给出</a:t>
                      </a:r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年龄感、音色和说话方式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同学群体使用固定的声音描述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模仿一段参考录音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用户</a:t>
                      </a:r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提供参考音，服务照着声音来读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可配置</a:t>
                      </a:r>
                      <a:r>
                        <a:rPr lang="zh-CN"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选项</a:t>
                      </a:r>
                      <a:endParaRPr lang="zh-CN"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838200" y="5191125"/>
            <a:ext cx="2857500" cy="61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每个人物保存一份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声音设置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667250" y="5191125"/>
            <a:ext cx="2857500" cy="61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换章时继续使用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同一份设置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496300" y="5191125"/>
            <a:ext cx="2857500" cy="61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声音换过之后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重新试听确认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模仿参考音通常称为“声音克隆”，换过声音后的录音不能沿用旧试听结论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457200"/>
            <a:ext cx="109728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人物声音：给 Juli 选择一个固定声音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0303" t="15152" r="12121" b="23197"/>
          <a:stretch>
            <a:fillRect/>
          </a:stretch>
        </p:blipFill>
        <p:spPr>
          <a:xfrm>
            <a:off x="609600" y="1476375"/>
            <a:ext cx="4953000" cy="4562475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6096000" y="1504950"/>
            <a:ext cx="5486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当前的设置</a:t>
            </a:r>
            <a:endParaRPr sz="21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0" y="1962150"/>
            <a:ext cx="54864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人物是 Juli Baker，朗读语言为英语，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使用预设声音 Chloe，语速为 1.0。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0" y="3067050"/>
            <a:ext cx="5486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同一句话比较不同声音</a:t>
            </a:r>
            <a:endParaRPr sz="21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0" y="3524250"/>
            <a:ext cx="54864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右侧可输入试听文本，再试听当前人物。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使用同样的句子，比较谁更容易听出差别。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0" y="4629150"/>
            <a:ext cx="5486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满意后保留参考录音</a:t>
            </a:r>
            <a:endParaRPr sz="21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0" y="5086350"/>
            <a:ext cx="54864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可固定一次满意的试听，供后续复用。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描述声音也能采用这种方式减少变化。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124575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对应“给人物安排声音”。当前截图展示配置，本轮没有重新合成试听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生成之后，重点检查哪几类问题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743075"/>
          <a:ext cx="10972800" cy="3524250"/>
        </p:xfrm>
        <a:graphic>
          <a:graphicData uri="http://schemas.openxmlformats.org/drawingml/2006/table">
            <a:tbl>
              <a:tblPr/>
              <a:tblGrid>
                <a:gridCol w="2286000"/>
                <a:gridCol w="4762500"/>
                <a:gridCol w="392430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要检查什么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程序怎样找疑点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人还需要注意什么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有没有读错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把录音转成文字，再与原文比较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文字可能识别错，不能直接删声音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两段连得顺不顺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查看句尾句首、音量和停顿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爆音、卡顿和长停顿需要试听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人物声音变没变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与该人物已确认的录音比较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情绪变化也会让声音听起来不同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文件是否正常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检查过响、长时间无声及能否播放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文件能播放，不等于每句话都合格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每项分别标记“通过”“有问题”或“还没查清”，没查清不会自动算通过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箭头连接符 9"/>
          <p:cNvCxnSpPr>
            <a:stCxn id="6" idx="3"/>
            <a:endCxn id="7" idx="1"/>
          </p:cNvCxnSpPr>
          <p:nvPr/>
        </p:nvCxnSpPr>
        <p:spPr>
          <a:xfrm>
            <a:off x="8686800" y="3190875"/>
            <a:ext cx="6096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9" name="直接箭头连接符 8"/>
          <p:cNvCxnSpPr>
            <a:stCxn id="5" idx="3"/>
            <a:endCxn id="6" idx="1"/>
          </p:cNvCxnSpPr>
          <p:nvPr/>
        </p:nvCxnSpPr>
        <p:spPr>
          <a:xfrm>
            <a:off x="5791200" y="3190875"/>
            <a:ext cx="6096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直接箭头连接符 7"/>
          <p:cNvCxnSpPr>
            <a:stCxn id="4" idx="3"/>
            <a:endCxn id="5" idx="1"/>
          </p:cNvCxnSpPr>
          <p:nvPr/>
        </p:nvCxnSpPr>
        <p:spPr>
          <a:xfrm>
            <a:off x="2895600" y="3190875"/>
            <a:ext cx="60960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矩形 13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音频检查的完整过程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52575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输入：每段的实际朗读文本、人物编号、音频，以及该人物的参考录音</a:t>
            </a:r>
            <a:endParaRPr sz="21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714625"/>
            <a:ext cx="228600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读取录音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先检查信号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505200" y="2714625"/>
            <a:ext cx="228600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检查这一段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内容、声音和语速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00800" y="2714625"/>
            <a:ext cx="228600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检查相邻两段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连接处和完整内容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296400" y="2714625"/>
            <a:ext cx="228600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6C5C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保存检查单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带上下文试听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41910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每一项留下自己的判断依据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4648200"/>
            <a:ext cx="105727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例如：多出了哪个词、声音差了多少、哪两段之间停得太久。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内容没有差异，也仍要检查人物声音和连接处。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“正确”分成多个维度，机器筛查和人工试听分别留记录，未查清的项目继续保留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箭头连接符 6"/>
          <p:cNvCxnSpPr>
            <a:stCxn id="4" idx="3"/>
            <a:endCxn id="5" idx="1"/>
          </p:cNvCxnSpPr>
          <p:nvPr/>
        </p:nvCxnSpPr>
        <p:spPr>
          <a:xfrm>
            <a:off x="7524750" y="2085975"/>
            <a:ext cx="120015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直接箭头连接符 5"/>
          <p:cNvCxnSpPr>
            <a:stCxn id="3" idx="3"/>
            <a:endCxn id="4" idx="1"/>
          </p:cNvCxnSpPr>
          <p:nvPr/>
        </p:nvCxnSpPr>
        <p:spPr>
          <a:xfrm>
            <a:off x="3467100" y="2085975"/>
            <a:ext cx="120015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内容检查：录音怎样变成可比较的文字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28775"/>
            <a:ext cx="28575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录音文件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 SenseVoice 识别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667250" y="1628775"/>
            <a:ext cx="28575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原文与转写各做整理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统一写法，再分字或分词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24900" y="1628775"/>
            <a:ext cx="28575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6C5C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逐项比较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保存差异和原始录音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3000375"/>
          <a:ext cx="10972800" cy="2628900"/>
        </p:xfrm>
        <a:graphic>
          <a:graphicData uri="http://schemas.openxmlformats.org/drawingml/2006/table">
            <a:tbl>
              <a:tblPr/>
              <a:tblGrid>
                <a:gridCol w="1762125"/>
                <a:gridCol w="5048250"/>
                <a:gridCol w="4162425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具体处理</a:t>
                      </a:r>
                      <a:endParaRPr sz="172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程序如何实现</a:t>
                      </a:r>
                      <a:endParaRPr sz="172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为什么需要这一步</a:t>
                      </a:r>
                      <a:endParaRPr sz="172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转成文字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开源</a:t>
                      </a:r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SenseVoiceSmall 在 CPU 上运行，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自动识别语言，取出纯文本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模型目录由本地配置指定，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缺模型或转写为空就保留未查清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整理比较文本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统一全角、半角、大小写和引号，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处理支持的数字、日期与显式词典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20 books 与 twenty books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可以按同样内容比较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确定比较单位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中文按字，英文按词，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保留英文词界和缩写内部撇号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避免把 don’t 的否定含义、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人名或编号随意抹掉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比较基准是实际发送给语音服务的 tts_text，书籍原文、朗读改写和比较结果分别保存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内容检查：怎样找出多读、漏读和错读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4305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程序寻找“最少需要改几处”，把两份文本</a:t>
            </a:r>
            <a:r>
              <a:rPr lang="zh-CN"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（发送给</a:t>
            </a:r>
            <a:r>
              <a:rPr lang="en-US" altLang="zh-CN"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tts</a:t>
            </a:r>
            <a:r>
              <a:rPr lang="zh-CN" altLang="en-US"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文本和语音识别文本</a:t>
            </a:r>
            <a:r>
              <a:rPr lang="zh-CN"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</a:t>
            </a: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对齐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0193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增加、删除、替换各记 1 次，相同内容记 0 次。编辑距离</a:t>
            </a:r>
            <a:r>
              <a:rPr lang="zh-CN"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法</a:t>
            </a:r>
            <a:endParaRPr lang="zh-CN"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52412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02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02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02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02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02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02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02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02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02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02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D(i,j) = min{ D(i−1,j)+1, D(i,j−1)+1, D(i−1,j−1)+[a[i]≠b[j]] }</a:t>
            </a:r>
            <a:endParaRPr sz="202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9622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7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7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7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7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7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7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7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7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7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7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D(i,j) 表示原文前 i 个字词与转写前 j 个字词的最少改动数</a:t>
            </a:r>
            <a:endParaRPr sz="17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3409950"/>
          <a:ext cx="10972800" cy="1828800"/>
        </p:xfrm>
        <a:graphic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示意输入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逐字比较的结果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应该读的内容，共 6 字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我　今　天　去　学　校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识别出的内容，共 8 字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我　今　天　今　天　去　学　校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找到的差异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多出“今天”两字，差异率 = 2 ÷ 6 ≈ 33.3%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609600" y="54673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9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9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9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9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9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9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9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9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9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9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差异率 =（替换数 + 漏读数 + 多读数）÷ 原文单位数</a:t>
            </a:r>
            <a:endParaRPr sz="19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1180" y="5949315"/>
            <a:ext cx="84975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bg1">
                    <a:lumMod val="65000"/>
                  </a:schemeClr>
                </a:solidFill>
                <a:latin typeface="PingFang SC" panose="020B0400000000000000" charset="-122"/>
                <a:ea typeface="PingFang SC" panose="020B0400000000000000" charset="-122"/>
              </a:rPr>
              <a:t>差异率仅用来衡量误差程度</a:t>
            </a:r>
            <a:endParaRPr lang="zh-CN" altLang="en-US" sz="1200">
              <a:solidFill>
                <a:schemeClr val="bg1">
                  <a:lumMod val="65000"/>
                </a:schemeClr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箭头连接符 6"/>
          <p:cNvCxnSpPr>
            <a:stCxn id="4" idx="3"/>
            <a:endCxn id="5" idx="1"/>
          </p:cNvCxnSpPr>
          <p:nvPr/>
        </p:nvCxnSpPr>
        <p:spPr>
          <a:xfrm>
            <a:off x="7524750" y="2028825"/>
            <a:ext cx="120015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直接箭头连接符 5"/>
          <p:cNvCxnSpPr>
            <a:stCxn id="3" idx="3"/>
            <a:endCxn id="4" idx="1"/>
          </p:cNvCxnSpPr>
          <p:nvPr/>
        </p:nvCxnSpPr>
        <p:spPr>
          <a:xfrm>
            <a:off x="3467100" y="2028825"/>
            <a:ext cx="120015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人物声音检查：与同一份参考录音比较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21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71625"/>
            <a:ext cx="28575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当前录音和人物参考音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分别提取声音特点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667250" y="1571625"/>
            <a:ext cx="28575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ECAPA 模型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各得到一组数字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24900" y="1571625"/>
            <a:ext cx="28575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比较两组数字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越不相似，距离越大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962275"/>
          <a:ext cx="10972800" cy="2619375"/>
        </p:xfrm>
        <a:graphic>
          <a:graphicData uri="http://schemas.openxmlformats.org/drawingml/2006/table">
            <a:tbl>
              <a:tblPr/>
              <a:tblGrid>
                <a:gridCol w="2000250"/>
                <a:gridCol w="897255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技术细节</a:t>
                      </a:r>
                      <a:endParaRPr sz="1800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当前实现</a:t>
                      </a:r>
                      <a:endParaRPr sz="1800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输入条件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转成单声道、16 kHz，每段至少 3 秒有效语音。太短就暂不判断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比较算法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向量先归一化，再算距离 d = 1 − cos(u,v)，也就是 1 − u·v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提示条件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 &gt; 0.35 时标记“疑似换声”。这个阈值尚未用独立数据校准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参考录音来源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使用固定参考音，或用内容与信号检查通过的首个合适片段建立参考</a:t>
                      </a:r>
                      <a:endParaRPr sz="180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例如 Bryce 始终对照同一份参考音。距离低也不会自动证明人物身份一致，还要试听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声音变化检查：语速和音调怎样计算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22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33525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语速：用字词数除以实际发声时间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990725"/>
            <a:ext cx="105727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 20 毫秒算一次声音强度，找出在发声的部分。也可启用 Silero 找人声。</a:t>
            </a:r>
            <a:endParaRPr sz="19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语速 = 规范化后的字词数 ÷ 发声秒数，英文再乘 60 得到每分钟词数。</a:t>
            </a:r>
            <a:endParaRPr sz="19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876550"/>
            <a:ext cx="1097280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当前提示线：中文超过 4.3 字/秒，英文超过 300 词/分。</a:t>
            </a:r>
            <a:endParaRPr sz="19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与参考音比较时，快慢倍数超过 1.3，也会提示复核。</a:t>
            </a:r>
            <a:endParaRPr sz="19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3857625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音调：估计每个短窗口的基频，再取中间值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314825"/>
            <a:ext cx="105727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录音转为 8 kHz，以 40 毫秒窗口、20 毫秒步长做自相关，估计声音周期。</a:t>
            </a:r>
            <a:endParaRPr sz="19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变化量 = 12 × log₂（当前基频 ÷ 参考基频），单位是半音。</a:t>
            </a:r>
            <a:endParaRPr sz="19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2387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相差超过 6 个半音，且两段各有至少 50 个有效音调窗口，才提示变化。</a:t>
            </a:r>
            <a:endParaRPr sz="195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057900"/>
            <a:ext cx="1084389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altLang="zh-CN"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Silero</a:t>
            </a:r>
            <a:r>
              <a:rPr lang="zh-CN" altLang="en-US"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适合在背景音乐、环境声或底噪较多，导致“声音够响就算发声”的简单算法不准时启用。</a:t>
            </a:r>
            <a:r>
              <a:rPr lang="en-US" altLang="zh-CN"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Silero </a:t>
            </a:r>
            <a:r>
              <a:rPr lang="zh-CN" altLang="en-US"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能帮助区分人声与非人声。</a:t>
            </a:r>
            <a:endParaRPr lang="zh-CN" altLang="en-US"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连接处检查：句尾和下一句怎样接起来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23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43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声音特征看左段末尾 2 秒、右段开头 2 秒，内容核对使用完整两段</a:t>
            </a:r>
            <a:endParaRPr sz="210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2428875"/>
          <a:ext cx="10972800" cy="3095625"/>
        </p:xfrm>
        <a:graphic>
          <a:graphicData uri="http://schemas.openxmlformats.org/drawingml/2006/table">
            <a:tbl>
              <a:tblPr/>
              <a:tblGrid>
                <a:gridCol w="2047875"/>
                <a:gridCol w="4619625"/>
                <a:gridCol w="43053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检查项</a:t>
                      </a:r>
                      <a:endParaRPr sz="172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计算方法</a:t>
                      </a:r>
                      <a:endParaRPr sz="172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当前怎样使用</a:t>
                      </a:r>
                      <a:endParaRPr sz="172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是否突然“</a:t>
                      </a:r>
                      <a:r>
                        <a:rPr lang="zh-CN"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跳</a:t>
                      </a:r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”一下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比较接点样本值，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有补入停顿时也检查两侧是否突变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跳变幅度 &gt; 0.15，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提示疑似爆音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音量、音色突变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比较两侧 20 毫秒的强度，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再比较 512 点频谱的差别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记录分贝差和频谱距离，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供复核或可选模型使用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是否停得太久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以 20 毫秒低能量帧，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统计左尾和右头的无声时长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两侧无声之和超过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max(1.5秒,计划停顿+0.8秒)就提示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内容是否完整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把完整左句和右句拼起来再转写，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与完整两句文字比较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有差异就保留内容疑点，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不拿短窗口去对齐整句</a:t>
                      </a:r>
                      <a:endParaRPr sz="172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09600" y="56578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8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8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8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8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8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8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8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8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8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8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实际 J076：约 2.04 秒停顿经试听确认后，才移除多余静音，调整为约 1 秒。</a:t>
            </a:r>
            <a:endParaRPr sz="18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默认先用规则筛查。可选连接处分类模型仍缺独立真实缺陷验收，不能替代人工确认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信号检查与最终判断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24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19250"/>
          <a:ext cx="10972800" cy="2476500"/>
        </p:xfrm>
        <a:graphic>
          <a:graphicData uri="http://schemas.openxmlformats.org/drawingml/2006/table">
            <a:tbl>
              <a:tblPr/>
              <a:tblGrid>
                <a:gridCol w="2476500"/>
                <a:gridCol w="4714875"/>
                <a:gridCol w="3781425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直接能计算的指标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当前检查条件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得到什么结果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空音频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采样点数量等于 0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记录已确认的严重错误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音量过小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归一化样本峰值 &lt; 0.003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记录已确认的信号错误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幅度顶到上限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|样本值| ≥ 0.999 的占比 &gt; 0.2%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提示削波，记录信号错误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4619625"/>
            <a:ext cx="314325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176C5C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通过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该维度检查已完成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24375" y="4619625"/>
            <a:ext cx="314325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未查清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有疑点或检查未完成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439150" y="4619625"/>
            <a:ext cx="314325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失败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已确认严重错误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5638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报告记录音频 SHA256、模型版本和具体差异，音频一变就不能沿用旧结论。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“信号通过”只代表这些指标正常。整体还有疑点或未完成维度时，就继续保留未查清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457200"/>
            <a:ext cx="109728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质量报告：哪里可疑，为什么要再听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1758" t="42842" r="13697" b="3866"/>
          <a:stretch>
            <a:fillRect/>
          </a:stretch>
        </p:blipFill>
        <p:spPr>
          <a:xfrm>
            <a:off x="609600" y="1476375"/>
            <a:ext cx="5429250" cy="4505325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6572250" y="1485900"/>
            <a:ext cx="50101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逐段列出问题</a:t>
            </a:r>
            <a:endParaRPr sz="21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572250" y="1943100"/>
            <a:ext cx="50101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每行记录章节、人物和片段位置。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可以从列表定位到需要复核的录音。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572250" y="3028950"/>
            <a:ext cx="50101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两个提示的含义</a:t>
            </a:r>
            <a:endParaRPr sz="21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572250" y="3486150"/>
            <a:ext cx="50101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asr_mismatch：转写与应读文字有差异。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pitch_drift：音调变化较大，建议再听。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572250" y="4572000"/>
            <a:ext cx="50101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未完成也单独保留</a:t>
            </a:r>
            <a:endParaRPr sz="21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72250" y="5029200"/>
            <a:ext cx="50101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incomplete 表示还没有查清。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音频可以已导出，但报告仍留有疑点。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124575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这里展示已有第 5 章报告。机器疑点需要核对，不能直接算作真实错误率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创新</a:t>
            </a:r>
            <a:r>
              <a:rPr lang="zh-CN"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二</a:t>
            </a: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：哪里读错，就优先修哪里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26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762125"/>
          <a:ext cx="10972800" cy="2952752"/>
        </p:xfrm>
        <a:graphic>
          <a:graphicData uri="http://schemas.openxmlformats.org/drawingml/2006/table">
            <a:tbl>
              <a:tblPr/>
              <a:tblGrid>
                <a:gridCol w="3333750"/>
                <a:gridCol w="4429125"/>
                <a:gridCol w="3209925"/>
              </a:tblGrid>
              <a:tr h="738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首章中的实际问题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这次怎样修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解决了什么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R039 正文读完后又重复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留下完整正文，去掉后面的重复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不用把整章再生成一遍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J076 两句之间停得太久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去掉已确认的多余无声部分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让连接处恢复到约 1 秒停顿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R034 一个词开头读了几遍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c'mon</a:t>
                      </a:r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改用 Come on! 的读法重新生成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只增加一次生成请求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17207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这几处都已做局部试听确认，原始录音仍然保留。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修复一个地方之后，还要听前后两句，防止修好这里、影响旁边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457200"/>
            <a:ext cx="109728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问题试听：直接听两句话的连接处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2121" t="32915" r="13939" b="32602"/>
          <a:stretch>
            <a:fillRect/>
          </a:stretch>
        </p:blipFill>
        <p:spPr>
          <a:xfrm>
            <a:off x="609600" y="1762125"/>
            <a:ext cx="7143750" cy="386715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8096250" y="1743075"/>
            <a:ext cx="34861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从编号找到对应录音</a:t>
            </a:r>
            <a:endParaRPr sz="21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96250" y="2200275"/>
            <a:ext cx="34861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选择问题片段或拼接处后，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下方加载相关的音频。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96250" y="3448050"/>
            <a:ext cx="34861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实际例子 J076</a:t>
            </a:r>
            <a:endParaRPr sz="21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96250" y="3905250"/>
            <a:ext cx="34861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同学的话接到下一段旁白。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听两侧声音，判断停顿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是否自然，再决定要不要改。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124575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可试听或下载问题上下文，也能下载完整报告，保留后续复核所需的依据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27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箭头连接符 7"/>
          <p:cNvCxnSpPr>
            <a:stCxn id="5" idx="3"/>
            <a:endCxn id="6" idx="1"/>
          </p:cNvCxnSpPr>
          <p:nvPr/>
        </p:nvCxnSpPr>
        <p:spPr>
          <a:xfrm>
            <a:off x="7477125" y="3171825"/>
            <a:ext cx="1343025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直接箭头连接符 6"/>
          <p:cNvCxnSpPr>
            <a:stCxn id="4" idx="3"/>
            <a:endCxn id="5" idx="1"/>
          </p:cNvCxnSpPr>
          <p:nvPr/>
        </p:nvCxnSpPr>
        <p:spPr>
          <a:xfrm>
            <a:off x="3371850" y="3171825"/>
            <a:ext cx="1343025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矩形 11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怎么控制重试：给制作过程设一个上限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28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47825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事先设好：最多请求几次、修几次、补读多少字、用多长时间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714625"/>
            <a:ext cx="276225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确实需要重新读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只发送问题段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14875" y="2714625"/>
            <a:ext cx="276225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先检查剩余额度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登记这次尝试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820150" y="2714625"/>
            <a:ext cx="276225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请求语音服务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记录成功或失败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4191000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失败的一次也记下来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4657725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避免网络或生成失败后反复重试，把次数悄悄用完。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上限到了就停止追加，把仍未解决的问题列出来。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目前按次数、文字量和时间控制，尚未直接计算花了多少元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箭头连接符 6"/>
          <p:cNvCxnSpPr>
            <a:stCxn id="4" idx="3"/>
            <a:endCxn id="5" idx="1"/>
          </p:cNvCxnSpPr>
          <p:nvPr/>
        </p:nvCxnSpPr>
        <p:spPr>
          <a:xfrm>
            <a:off x="6896100" y="2057400"/>
            <a:ext cx="1190625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直接箭头连接符 5"/>
          <p:cNvCxnSpPr>
            <a:stCxn id="3" idx="3"/>
            <a:endCxn id="4" idx="1"/>
          </p:cNvCxnSpPr>
          <p:nvPr/>
        </p:nvCxnSpPr>
        <p:spPr>
          <a:xfrm>
            <a:off x="2847975" y="2057400"/>
            <a:ext cx="1190625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矩形 12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怎么判断修好了：新旧版本一起比较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29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76400"/>
            <a:ext cx="2238375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前一句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38600" y="1676400"/>
            <a:ext cx="2857500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6C5C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修改后的这一句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86725" y="1676400"/>
            <a:ext cx="2238375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后一句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3048000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先看原来正确的部分有没有受影响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514725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内容不能少读或多读，原来通过的检查还要继续通过。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这一句和前后句的连接也要重新检查。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456247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再看这次修改有没有解决问题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502920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程序确认有改善，才采用新版本。没有改善就继续保留原件。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像“声音是否适合人物”这样的问题，仍要靠人试听。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只修一个问题段，也要一起检查它的前后两句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6" name="直接箭头连接符 5"/>
          <p:cNvCxnSpPr>
            <a:stCxn id="4" idx="3"/>
            <a:endCxn id="5" idx="1"/>
          </p:cNvCxnSpPr>
          <p:nvPr/>
        </p:nvCxnSpPr>
        <p:spPr>
          <a:xfrm>
            <a:off x="5524500" y="5229225"/>
            <a:ext cx="1381125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sp>
        <p:nvSpPr>
          <p:cNvPr id="9" name="矩形 8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具体例子：读完又重复，怎样安全去掉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743075"/>
          <a:ext cx="10972800" cy="2571752"/>
        </p:xfrm>
        <a:graphic>
          <a:graphicData uri="http://schemas.openxmlformats.org/drawingml/2006/table">
            <a:tbl>
              <a:tblPr/>
              <a:tblGrid>
                <a:gridCol w="5191125"/>
                <a:gridCol w="5781675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先确认什么</a:t>
                      </a:r>
                      <a:endParaRPr sz="1950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然后怎样处理</a:t>
                      </a:r>
                      <a:endParaRPr sz="1950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原文应该读的部分已经完整读完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找正文与多余重复之间的停顿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前半段内容完整，后半段只有多余重复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把两部分分别转成文字，再次核对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切的位置不会伤到正常发音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两边留出 0.1 秒保护，只去掉多余尾段</a:t>
                      </a:r>
                      <a:endParaRPr sz="1950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952500" y="4829175"/>
            <a:ext cx="45720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6C5C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原文该读的部分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完整保留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905625" y="4829175"/>
            <a:ext cx="333375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多出来的重复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确认后再去掉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638800" y="4438650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72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72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72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72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72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72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72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72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72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72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停顿处切开</a:t>
            </a:r>
            <a:endParaRPr sz="172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默认先让人复核，只有条件明确且用户开启自动处理时才自动采用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箭头连接符 6"/>
          <p:cNvCxnSpPr>
            <a:stCxn id="4" idx="3"/>
            <a:endCxn id="5" idx="1"/>
          </p:cNvCxnSpPr>
          <p:nvPr/>
        </p:nvCxnSpPr>
        <p:spPr>
          <a:xfrm>
            <a:off x="7524750" y="2286000"/>
            <a:ext cx="120015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直接箭头连接符 5"/>
          <p:cNvCxnSpPr>
            <a:stCxn id="3" idx="3"/>
            <a:endCxn id="4" idx="1"/>
          </p:cNvCxnSpPr>
          <p:nvPr/>
        </p:nvCxnSpPr>
        <p:spPr>
          <a:xfrm>
            <a:off x="3467100" y="2286000"/>
            <a:ext cx="1200150" cy="0"/>
          </a:xfrm>
          <a:prstGeom prst="straightConnector1">
            <a:avLst/>
          </a:prstGeom>
          <a:ln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矩形 11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原音和修改版都保存，随时能查清改了什么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31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838325"/>
            <a:ext cx="2857500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生成时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记下正文和声音设置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667250" y="1838325"/>
            <a:ext cx="2857500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生成后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保存原始录音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24900" y="1838325"/>
            <a:ext cx="2857500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45BDD"/>
            </a:solidFill>
          </a:ln>
        </p:spPr>
        <p:txBody>
          <a:bodyPr lIns="76200" tIns="76200" rIns="76200" bIns="76200" anchor="ctr"/>
          <a:lstStyle>
            <a:defPPr algn="ctr"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修改后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另存新版本和修改记录</a:t>
            </a:r>
            <a:endParaRPr sz="1875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341947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同样的内容和设置，可以复用已有录音</a:t>
            </a:r>
            <a:endParaRPr sz="225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88620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调语速、剪重复等处理另存文件，原来的录音不会被覆盖。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buNone/>
              <a:def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最后按顺序拼成整章，并检查音频和检查单是否对应。</a:t>
            </a:r>
            <a:endParaRPr sz="210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51816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例如：R039 去掉多余重复后，仍能找到修改前的录音进行比较。</a:t>
            </a:r>
            <a:endParaRPr sz="210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每份文件都有唯一校验记录，避免拿旧音频的试听结论套在新版本上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实际完成的案例：《Flipped》首章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32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819275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14,311</a:t>
            </a:r>
            <a:endParaRPr sz="45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38175" y="2800350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原文字符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467100" y="1819275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sz="45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495675" y="2800350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人物与角色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324600" y="1819275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</a:t>
            </a:r>
            <a:endParaRPr sz="45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353175" y="2800350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生成的小段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82100" y="1819275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575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99</a:t>
            </a:r>
            <a:endParaRPr sz="4575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210675" y="2800350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小段连接处</a:t>
            </a:r>
            <a:endParaRPr sz="202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3743325"/>
          <a:ext cx="10972800" cy="1952625"/>
        </p:xfrm>
        <a:graphic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4881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阶段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已经做了什么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首次生成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完成约 15 分 32 秒的原始版本，保留原音频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调整 Bryce 声音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根据已确认的参考音，增加 67 次生成请求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修正具体问题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处理重复和长停顿等问题，最新版本约 17 分 34 秒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矩形 11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版本时长不同，不能直接说明谁更好，已确认的局部也不代表整章全部通过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6243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现在做到哪一步，接下来先做什么</a:t>
            </a:r>
            <a:endParaRPr sz="3300" b="1">
              <a:solidFill>
                <a:srgbClr val="16243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72825" y="63722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37</a:t>
            </a:r>
            <a:endParaRPr sz="1275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95450"/>
          <a:ext cx="10972800" cy="3305175"/>
        </p:xfrm>
        <a:graphic>
          <a:graphicData uri="http://schemas.openxmlformats.org/drawingml/2006/table">
            <a:tbl>
              <a:tblPr/>
              <a:tblGrid>
                <a:gridCol w="2000250"/>
                <a:gridCol w="5048250"/>
                <a:gridCol w="3924300"/>
              </a:tblGrid>
              <a:tr h="6610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方面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目前已经做了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下一步</a:t>
                      </a:r>
                      <a:endParaRPr sz="1875" b="1">
                        <a:solidFill>
                          <a:srgbClr val="245BDD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整套制作流程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选章节、分人物、选声音、生成和查问题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先把 MiMo 网页使用流程做好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实际使用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完成首章生成，修过重复和长停顿等问题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完成这一版整章试听，再扩大使用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研究准备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继续扩展</a:t>
                      </a:r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修复案例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换更多书，听众比较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其他语音服务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支持</a:t>
                      </a:r>
                      <a:r>
                        <a:rPr lang="zh-CN"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本地部署模型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新的适配与</a:t>
                      </a:r>
                      <a:endParaRPr sz="1875" b="0">
                        <a:solidFill>
                          <a:srgbClr val="16243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314950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245B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最近保存的程序测试：674 项，644 项通过，30 项因环境跳过。</a:t>
            </a:r>
            <a:endParaRPr sz="2100" b="1">
              <a:solidFill>
                <a:srgbClr val="245B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0579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buNone/>
              <a:def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362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程序测试说明功能运行情况，实际听感和论文效果还需要另外验证</a:t>
            </a:r>
            <a:endParaRPr sz="1350" b="0">
              <a:solidFill>
                <a:srgbClr val="5362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7420</Words>
  <Application>WPS 文字</Application>
  <PresentationFormat>Converted Presentation</PresentationFormat>
  <Paragraphs>854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Arial</vt:lpstr>
      <vt:lpstr>宋体</vt:lpstr>
      <vt:lpstr>Wingdings</vt:lpstr>
      <vt:lpstr>PingFang SC</vt:lpstr>
      <vt:lpstr>微软雅黑</vt:lpstr>
      <vt:lpstr>方正雅意黑 GB18030L2</vt:lpstr>
      <vt:lpstr>宋体</vt:lpstr>
      <vt:lpstr>Arial Unicode MS</vt:lpstr>
      <vt:lpstr>汉仪书宋二KW</vt:lpstr>
      <vt:lpstr>Aptos</vt:lpstr>
      <vt:lpstr>Helvetica Neue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尹梓航</cp:lastModifiedBy>
  <cp:revision>2</cp:revision>
  <dcterms:created xsi:type="dcterms:W3CDTF">2026-10-20T05:06:15Z</dcterms:created>
  <dcterms:modified xsi:type="dcterms:W3CDTF">2026-10-20T05:06:15Z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2052-12.1.28492.28492</vt:lpwstr>
  </property>
  <property fmtid="{D5CDD505-2E9C-101B-9397-08002B2CF9AE}" pid="3" name="ICV">
    <vt:lpwstr>D1B956126D2A26CEBB2FD66A97E5805D_42</vt:lpwstr>
  </property>
</Properties>
</file>